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8288000" cy="10287000"/>
  <p:notesSz cx="6858000" cy="9144000"/>
  <p:embeddedFontLst>
    <p:embeddedFont>
      <p:font typeface="Cambria Math" panose="02040503050406030204" pitchFamily="18" charset="0"/>
      <p:regular r:id="rId31"/>
    </p:embeddedFont>
    <p:embeddedFont>
      <p:font typeface="DM Sans" pitchFamily="2" charset="0"/>
      <p:regular r:id="rId32"/>
      <p:bold r:id="rId33"/>
      <p:italic r:id="rId34"/>
      <p:boldItalic r:id="rId35"/>
    </p:embeddedFont>
    <p:embeddedFont>
      <p:font typeface="DM Sans Bold" charset="0"/>
      <p:regular r:id="rId36"/>
    </p:embeddedFont>
    <p:embeddedFont>
      <p:font typeface="Segoe UI" panose="020B0502040204020203" pitchFamily="34" charset="0"/>
      <p:regular r:id="rId37"/>
      <p:bold r:id="rId38"/>
      <p:italic r:id="rId39"/>
      <p:boldItalic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5" d="100"/>
          <a:sy n="35" d="100"/>
        </p:scale>
        <p:origin x="730" y="3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8788"/>
          </a:xfrm>
          <a:prstGeom prst="rect">
            <a:avLst/>
          </a:prstGeom>
        </p:spPr>
        <p:txBody>
          <a:bodyPr vert="horz" lIns="91440" tIns="45720" rIns="91440" bIns="45720" rtlCol="1"/>
          <a:lstStyle>
            <a:lvl1pPr algn="l">
              <a:defRPr sz="1200"/>
            </a:lvl1pPr>
          </a:lstStyle>
          <a:p>
            <a:endParaRPr lang="en-US"/>
          </a:p>
        </p:txBody>
      </p:sp>
      <p:sp>
        <p:nvSpPr>
          <p:cNvPr id="3" name="عنصر نائب للتاريخ 2"/>
          <p:cNvSpPr>
            <a:spLocks noGrp="1"/>
          </p:cNvSpPr>
          <p:nvPr>
            <p:ph type="dt" idx="1"/>
          </p:nvPr>
        </p:nvSpPr>
        <p:spPr>
          <a:xfrm>
            <a:off x="1588" y="0"/>
            <a:ext cx="2971800" cy="458788"/>
          </a:xfrm>
          <a:prstGeom prst="rect">
            <a:avLst/>
          </a:prstGeom>
        </p:spPr>
        <p:txBody>
          <a:bodyPr vert="horz" lIns="91440" tIns="45720" rIns="91440" bIns="45720" rtlCol="1"/>
          <a:lstStyle>
            <a:lvl1pPr algn="r">
              <a:defRPr sz="1200"/>
            </a:lvl1pPr>
          </a:lstStyle>
          <a:p>
            <a:fld id="{60B4BB59-7CE5-4F41-AF20-B813C7F8E2F4}" type="datetimeFigureOut">
              <a:rPr lang="en-US" smtClean="0"/>
              <a:t>11/18/2025</a:t>
            </a:fld>
            <a:endParaRPr lang="en-US"/>
          </a:p>
        </p:txBody>
      </p:sp>
      <p:sp>
        <p:nvSpPr>
          <p:cNvPr id="4" name="عنصر نائب لصورة الشريحة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en-US"/>
          </a:p>
        </p:txBody>
      </p:sp>
      <p:sp>
        <p:nvSpPr>
          <p:cNvPr id="5" name="عنصر نائب للملاحظا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6" name="عنصر نائب للتذييل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l">
              <a:defRPr sz="1200"/>
            </a:lvl1pPr>
          </a:lstStyle>
          <a:p>
            <a:endParaRPr lang="en-US"/>
          </a:p>
        </p:txBody>
      </p:sp>
      <p:sp>
        <p:nvSpPr>
          <p:cNvPr id="7" name="عنصر نائب لرقم الشريحة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r">
              <a:defRPr sz="1200"/>
            </a:lvl1pPr>
          </a:lstStyle>
          <a:p>
            <a:fld id="{1C8D420E-CB75-42A8-9C5F-A3464C011F4A}" type="slidenum">
              <a:rPr lang="en-US" smtClean="0"/>
              <a:t>‹#›</a:t>
            </a:fld>
            <a:endParaRPr lang="en-US"/>
          </a:p>
        </p:txBody>
      </p:sp>
    </p:spTree>
    <p:extLst>
      <p:ext uri="{BB962C8B-B14F-4D97-AF65-F5344CB8AC3E}">
        <p14:creationId xmlns:p14="http://schemas.microsoft.com/office/powerpoint/2010/main" val="136344106"/>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dirty="0"/>
          </a:p>
        </p:txBody>
      </p:sp>
      <p:sp>
        <p:nvSpPr>
          <p:cNvPr id="4" name="عنصر نائب لرقم الشريحة 3"/>
          <p:cNvSpPr>
            <a:spLocks noGrp="1"/>
          </p:cNvSpPr>
          <p:nvPr>
            <p:ph type="sldNum" sz="quarter" idx="5"/>
          </p:nvPr>
        </p:nvSpPr>
        <p:spPr/>
        <p:txBody>
          <a:bodyPr/>
          <a:lstStyle/>
          <a:p>
            <a:fld id="{1C8D420E-CB75-42A8-9C5F-A3464C011F4A}" type="slidenum">
              <a:rPr lang="en-US" smtClean="0"/>
              <a:t>5</a:t>
            </a:fld>
            <a:endParaRPr lang="en-US"/>
          </a:p>
        </p:txBody>
      </p:sp>
    </p:spTree>
    <p:extLst>
      <p:ext uri="{BB962C8B-B14F-4D97-AF65-F5344CB8AC3E}">
        <p14:creationId xmlns:p14="http://schemas.microsoft.com/office/powerpoint/2010/main" val="2904533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3" Type="http://schemas.openxmlformats.org/officeDocument/2006/relationships/image" Target="../media/image2.svg"/><Relationship Id="rId21" Type="http://schemas.openxmlformats.org/officeDocument/2006/relationships/image" Target="../media/image20.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s>
</file>

<file path=ppt/slides/_rels/slide2.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26.png"/><Relationship Id="rId3" Type="http://schemas.openxmlformats.org/officeDocument/2006/relationships/image" Target="../media/image24.png"/><Relationship Id="rId7" Type="http://schemas.openxmlformats.org/officeDocument/2006/relationships/image" Target="../media/image9.png"/><Relationship Id="rId12" Type="http://schemas.openxmlformats.org/officeDocument/2006/relationships/image" Target="../media/image18.sv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7.png"/><Relationship Id="rId5" Type="http://schemas.openxmlformats.org/officeDocument/2006/relationships/image" Target="../media/image7.png"/><Relationship Id="rId10" Type="http://schemas.openxmlformats.org/officeDocument/2006/relationships/image" Target="../media/image14.svg"/><Relationship Id="rId4" Type="http://schemas.openxmlformats.org/officeDocument/2006/relationships/image" Target="../media/image25.svg"/><Relationship Id="rId9" Type="http://schemas.openxmlformats.org/officeDocument/2006/relationships/image" Target="../media/image13.png"/><Relationship Id="rId14" Type="http://schemas.openxmlformats.org/officeDocument/2006/relationships/image" Target="../media/image27.svg"/></Relationships>
</file>

<file path=ppt/slides/_rels/slide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4.svg"/><Relationship Id="rId7" Type="http://schemas.openxmlformats.org/officeDocument/2006/relationships/image" Target="../media/image31.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33.svg"/><Relationship Id="rId5" Type="http://schemas.openxmlformats.org/officeDocument/2006/relationships/image" Target="../media/image29.svg"/><Relationship Id="rId10" Type="http://schemas.openxmlformats.org/officeDocument/2006/relationships/image" Target="../media/image32.png"/><Relationship Id="rId4" Type="http://schemas.openxmlformats.org/officeDocument/2006/relationships/image" Target="../media/image28.png"/><Relationship Id="rId9" Type="http://schemas.openxmlformats.org/officeDocument/2006/relationships/image" Target="../media/image22.sv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18" Type="http://schemas.openxmlformats.org/officeDocument/2006/relationships/image" Target="../media/image19.png"/><Relationship Id="rId3" Type="http://schemas.openxmlformats.org/officeDocument/2006/relationships/image" Target="../media/image2.svg"/><Relationship Id="rId21" Type="http://schemas.openxmlformats.org/officeDocument/2006/relationships/image" Target="../media/image22.svg"/><Relationship Id="rId7" Type="http://schemas.openxmlformats.org/officeDocument/2006/relationships/image" Target="../media/image8.svg"/><Relationship Id="rId12" Type="http://schemas.openxmlformats.org/officeDocument/2006/relationships/image" Target="../media/image13.png"/><Relationship Id="rId17" Type="http://schemas.openxmlformats.org/officeDocument/2006/relationships/image" Target="../media/image18.svg"/><Relationship Id="rId2" Type="http://schemas.openxmlformats.org/officeDocument/2006/relationships/image" Target="../media/image1.png"/><Relationship Id="rId16" Type="http://schemas.openxmlformats.org/officeDocument/2006/relationships/image" Target="../media/image17.png"/><Relationship Id="rId20"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4.svg"/><Relationship Id="rId15" Type="http://schemas.openxmlformats.org/officeDocument/2006/relationships/image" Target="../media/image16.svg"/><Relationship Id="rId10" Type="http://schemas.openxmlformats.org/officeDocument/2006/relationships/image" Target="../media/image11.png"/><Relationship Id="rId19" Type="http://schemas.openxmlformats.org/officeDocument/2006/relationships/image" Target="../media/image20.svg"/><Relationship Id="rId4" Type="http://schemas.openxmlformats.org/officeDocument/2006/relationships/image" Target="../media/image3.png"/><Relationship Id="rId9" Type="http://schemas.openxmlformats.org/officeDocument/2006/relationships/image" Target="../media/image10.sv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1.png"/><Relationship Id="rId7"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12.svg"/><Relationship Id="rId9" Type="http://schemas.openxmlformats.org/officeDocument/2006/relationships/image" Target="../media/image29.svg"/></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33.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22.sv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22.sv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8.sv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39.svg"/><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16.sv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2.svg"/><Relationship Id="rId7"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12.svg"/><Relationship Id="rId4" Type="http://schemas.openxmlformats.org/officeDocument/2006/relationships/image" Target="../media/image11.png"/><Relationship Id="rId9" Type="http://schemas.openxmlformats.org/officeDocument/2006/relationships/image" Target="../media/image46.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47.pn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49.png"/></Relationships>
</file>

<file path=ppt/slides/_rels/slide18.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2.svg"/><Relationship Id="rId3" Type="http://schemas.openxmlformats.org/officeDocument/2006/relationships/image" Target="../media/image2.svg"/><Relationship Id="rId7" Type="http://schemas.openxmlformats.org/officeDocument/2006/relationships/image" Target="../media/image29.svg"/><Relationship Id="rId12"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8.png"/><Relationship Id="rId11" Type="http://schemas.openxmlformats.org/officeDocument/2006/relationships/image" Target="../media/image18.svg"/><Relationship Id="rId5" Type="http://schemas.openxmlformats.org/officeDocument/2006/relationships/image" Target="../media/image12.sv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svg"/><Relationship Id="rId14" Type="http://schemas.openxmlformats.org/officeDocument/2006/relationships/image" Target="../media/image51.pn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2.pn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1.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2.svg"/><Relationship Id="rId7"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12.sv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3.svg"/><Relationship Id="rId7" Type="http://schemas.openxmlformats.org/officeDocument/2006/relationships/image" Target="../media/image22.sv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sv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8.png"/><Relationship Id="rId1" Type="http://schemas.openxmlformats.org/officeDocument/2006/relationships/slideLayout" Target="../slideLayouts/slideLayout7.xml"/><Relationship Id="rId5" Type="http://schemas.openxmlformats.org/officeDocument/2006/relationships/image" Target="../media/image59.png"/><Relationship Id="rId4" Type="http://schemas.openxmlformats.org/officeDocument/2006/relationships/image" Target="../media/image16.svg"/></Relationships>
</file>

<file path=ppt/slides/_rels/slide27.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2.svg"/><Relationship Id="rId3" Type="http://schemas.openxmlformats.org/officeDocument/2006/relationships/image" Target="../media/image2.svg"/><Relationship Id="rId7" Type="http://schemas.openxmlformats.org/officeDocument/2006/relationships/image" Target="../media/image14.svg"/><Relationship Id="rId12"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20.svg"/><Relationship Id="rId5" Type="http://schemas.openxmlformats.org/officeDocument/2006/relationships/image" Target="../media/image8.svg"/><Relationship Id="rId10" Type="http://schemas.openxmlformats.org/officeDocument/2006/relationships/image" Target="../media/image19.png"/><Relationship Id="rId4" Type="http://schemas.openxmlformats.org/officeDocument/2006/relationships/image" Target="../media/image7.png"/><Relationship Id="rId9" Type="http://schemas.openxmlformats.org/officeDocument/2006/relationships/image" Target="../media/image16.svg"/></Relationships>
</file>

<file path=ppt/slides/_rels/slide2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svg"/><Relationship Id="rId7"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 Id="rId9"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2329398" y="8614893"/>
            <a:ext cx="4899948" cy="3344214"/>
          </a:xfrm>
          <a:custGeom>
            <a:avLst/>
            <a:gdLst/>
            <a:ahLst/>
            <a:cxnLst/>
            <a:rect l="l" t="t" r="r" b="b"/>
            <a:pathLst>
              <a:path w="4899948" h="3344214">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4831481" y="9598371"/>
            <a:ext cx="3059829" cy="751049"/>
          </a:xfrm>
          <a:custGeom>
            <a:avLst/>
            <a:gdLst/>
            <a:ahLst/>
            <a:cxnLst/>
            <a:rect l="l" t="t" r="r" b="b"/>
            <a:pathLst>
              <a:path w="3059829" h="751049">
                <a:moveTo>
                  <a:pt x="0" y="0"/>
                </a:moveTo>
                <a:lnTo>
                  <a:pt x="3059829" y="0"/>
                </a:lnTo>
                <a:lnTo>
                  <a:pt x="3059829" y="751049"/>
                </a:lnTo>
                <a:lnTo>
                  <a:pt x="0" y="75104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a:off x="14236705" y="6409875"/>
            <a:ext cx="724985" cy="920616"/>
          </a:xfrm>
          <a:custGeom>
            <a:avLst/>
            <a:gdLst/>
            <a:ahLst/>
            <a:cxnLst/>
            <a:rect l="l" t="t" r="r" b="b"/>
            <a:pathLst>
              <a:path w="724985" h="920616">
                <a:moveTo>
                  <a:pt x="0" y="0"/>
                </a:moveTo>
                <a:lnTo>
                  <a:pt x="724986" y="0"/>
                </a:lnTo>
                <a:lnTo>
                  <a:pt x="724986" y="920616"/>
                </a:lnTo>
                <a:lnTo>
                  <a:pt x="0" y="92061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14958143" y="8164610"/>
            <a:ext cx="4602314" cy="3618569"/>
          </a:xfrm>
          <a:custGeom>
            <a:avLst/>
            <a:gdLst/>
            <a:ahLst/>
            <a:cxnLst/>
            <a:rect l="l" t="t" r="r" b="b"/>
            <a:pathLst>
              <a:path w="4602314" h="3618569">
                <a:moveTo>
                  <a:pt x="0" y="0"/>
                </a:moveTo>
                <a:lnTo>
                  <a:pt x="4602314" y="0"/>
                </a:lnTo>
                <a:lnTo>
                  <a:pt x="4602314" y="3618570"/>
                </a:lnTo>
                <a:lnTo>
                  <a:pt x="0" y="3618570"/>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n-US" dirty="0"/>
          </a:p>
        </p:txBody>
      </p:sp>
      <p:sp>
        <p:nvSpPr>
          <p:cNvPr id="7" name="Freeform 7"/>
          <p:cNvSpPr/>
          <p:nvPr/>
        </p:nvSpPr>
        <p:spPr>
          <a:xfrm>
            <a:off x="-674156" y="-1072630"/>
            <a:ext cx="4899948" cy="3068592"/>
          </a:xfrm>
          <a:custGeom>
            <a:avLst/>
            <a:gdLst/>
            <a:ahLst/>
            <a:cxnLst/>
            <a:rect l="l" t="t" r="r" b="b"/>
            <a:pathLst>
              <a:path w="4899948" h="3068592">
                <a:moveTo>
                  <a:pt x="0" y="0"/>
                </a:moveTo>
                <a:lnTo>
                  <a:pt x="4899948" y="0"/>
                </a:lnTo>
                <a:lnTo>
                  <a:pt x="4899948" y="3068592"/>
                </a:lnTo>
                <a:lnTo>
                  <a:pt x="0" y="3068592"/>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US"/>
          </a:p>
        </p:txBody>
      </p:sp>
      <p:sp>
        <p:nvSpPr>
          <p:cNvPr id="8" name="Freeform 8"/>
          <p:cNvSpPr/>
          <p:nvPr/>
        </p:nvSpPr>
        <p:spPr>
          <a:xfrm>
            <a:off x="12686214" y="-2578193"/>
            <a:ext cx="4292424" cy="3870986"/>
          </a:xfrm>
          <a:custGeom>
            <a:avLst/>
            <a:gdLst/>
            <a:ahLst/>
            <a:cxnLst/>
            <a:rect l="l" t="t" r="r" b="b"/>
            <a:pathLst>
              <a:path w="4292424" h="3870986">
                <a:moveTo>
                  <a:pt x="0" y="0"/>
                </a:moveTo>
                <a:lnTo>
                  <a:pt x="4292424" y="0"/>
                </a:lnTo>
                <a:lnTo>
                  <a:pt x="4292424" y="3870986"/>
                </a:lnTo>
                <a:lnTo>
                  <a:pt x="0" y="3870986"/>
                </a:lnTo>
                <a:lnTo>
                  <a:pt x="0" y="0"/>
                </a:lnTo>
                <a:close/>
              </a:path>
            </a:pathLst>
          </a:custGeom>
          <a:blipFill>
            <a:blip r:embed="rId12">
              <a:extLst>
                <a:ext uri="{96DAC541-7B7A-43D3-8B79-37D633B846F1}">
                  <asvg:svgBlip xmlns:asvg="http://schemas.microsoft.com/office/drawing/2016/SVG/main" r:embed="rId13"/>
                </a:ext>
              </a:extLst>
            </a:blip>
            <a:stretch>
              <a:fillRect/>
            </a:stretch>
          </a:blipFill>
          <a:ln cap="sq">
            <a:noFill/>
            <a:prstDash val="solid"/>
            <a:miter/>
          </a:ln>
        </p:spPr>
        <p:txBody>
          <a:bodyPr/>
          <a:lstStyle/>
          <a:p>
            <a:endParaRPr lang="en-US"/>
          </a:p>
        </p:txBody>
      </p:sp>
      <p:sp>
        <p:nvSpPr>
          <p:cNvPr id="9" name="Freeform 9"/>
          <p:cNvSpPr/>
          <p:nvPr/>
        </p:nvSpPr>
        <p:spPr>
          <a:xfrm>
            <a:off x="9321690" y="9598371"/>
            <a:ext cx="4076270" cy="2863579"/>
          </a:xfrm>
          <a:custGeom>
            <a:avLst/>
            <a:gdLst/>
            <a:ahLst/>
            <a:cxnLst/>
            <a:rect l="l" t="t" r="r" b="b"/>
            <a:pathLst>
              <a:path w="4076270" h="2863579">
                <a:moveTo>
                  <a:pt x="0" y="0"/>
                </a:moveTo>
                <a:lnTo>
                  <a:pt x="4076270" y="0"/>
                </a:lnTo>
                <a:lnTo>
                  <a:pt x="4076270" y="2863579"/>
                </a:lnTo>
                <a:lnTo>
                  <a:pt x="0" y="2863579"/>
                </a:lnTo>
                <a:lnTo>
                  <a:pt x="0" y="0"/>
                </a:lnTo>
                <a:close/>
              </a:path>
            </a:pathLst>
          </a:custGeom>
          <a:blipFill>
            <a:blip r:embed="rId14">
              <a:extLst>
                <a:ext uri="{96DAC541-7B7A-43D3-8B79-37D633B846F1}">
                  <asvg:svgBlip xmlns:asvg="http://schemas.microsoft.com/office/drawing/2016/SVG/main" r:embed="rId15"/>
                </a:ext>
              </a:extLst>
            </a:blip>
            <a:stretch>
              <a:fillRect/>
            </a:stretch>
          </a:blipFill>
          <a:ln cap="sq">
            <a:noFill/>
            <a:prstDash val="solid"/>
            <a:miter/>
          </a:ln>
        </p:spPr>
        <p:txBody>
          <a:bodyPr/>
          <a:lstStyle/>
          <a:p>
            <a:endParaRPr lang="en-US"/>
          </a:p>
        </p:txBody>
      </p:sp>
      <p:sp>
        <p:nvSpPr>
          <p:cNvPr id="11" name="Freeform 11"/>
          <p:cNvSpPr/>
          <p:nvPr/>
        </p:nvSpPr>
        <p:spPr>
          <a:xfrm rot="4747568">
            <a:off x="-2972342" y="3665317"/>
            <a:ext cx="4896097" cy="2735694"/>
          </a:xfrm>
          <a:custGeom>
            <a:avLst/>
            <a:gdLst/>
            <a:ahLst/>
            <a:cxnLst/>
            <a:rect l="l" t="t" r="r" b="b"/>
            <a:pathLst>
              <a:path w="4896097" h="2735694">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a:stretch>
          </a:blipFill>
          <a:ln cap="sq">
            <a:noFill/>
            <a:prstDash val="solid"/>
            <a:miter/>
          </a:ln>
        </p:spPr>
        <p:txBody>
          <a:bodyPr/>
          <a:lstStyle/>
          <a:p>
            <a:endParaRPr lang="en-US"/>
          </a:p>
        </p:txBody>
      </p:sp>
      <p:sp>
        <p:nvSpPr>
          <p:cNvPr id="12" name="Freeform 12"/>
          <p:cNvSpPr/>
          <p:nvPr/>
        </p:nvSpPr>
        <p:spPr>
          <a:xfrm>
            <a:off x="4831481" y="-1626507"/>
            <a:ext cx="2892762" cy="2919301"/>
          </a:xfrm>
          <a:custGeom>
            <a:avLst/>
            <a:gdLst/>
            <a:ahLst/>
            <a:cxnLst/>
            <a:rect l="l" t="t" r="r" b="b"/>
            <a:pathLst>
              <a:path w="2892762" h="2919301">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a:stretch>
          </a:blipFill>
          <a:ln cap="sq">
            <a:noFill/>
            <a:prstDash val="solid"/>
            <a:miter/>
          </a:ln>
        </p:spPr>
        <p:txBody>
          <a:bodyPr/>
          <a:lstStyle/>
          <a:p>
            <a:endParaRPr lang="en-US"/>
          </a:p>
        </p:txBody>
      </p:sp>
      <p:sp>
        <p:nvSpPr>
          <p:cNvPr id="13" name="Freeform 13"/>
          <p:cNvSpPr/>
          <p:nvPr/>
        </p:nvSpPr>
        <p:spPr>
          <a:xfrm>
            <a:off x="17259300" y="3786459"/>
            <a:ext cx="3575541" cy="3575541"/>
          </a:xfrm>
          <a:custGeom>
            <a:avLst/>
            <a:gdLst/>
            <a:ahLst/>
            <a:cxnLst/>
            <a:rect l="l" t="t" r="r" b="b"/>
            <a:pathLst>
              <a:path w="3575541" h="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a:stretch>
          </a:blipFill>
          <a:ln cap="sq">
            <a:noFill/>
            <a:prstDash val="solid"/>
            <a:miter/>
          </a:ln>
        </p:spPr>
        <p:txBody>
          <a:bodyPr/>
          <a:lstStyle/>
          <a:p>
            <a:endParaRPr lang="en-US"/>
          </a:p>
        </p:txBody>
      </p:sp>
      <p:sp>
        <p:nvSpPr>
          <p:cNvPr id="16" name="Freeform 16"/>
          <p:cNvSpPr/>
          <p:nvPr/>
        </p:nvSpPr>
        <p:spPr>
          <a:xfrm>
            <a:off x="16978638" y="-642644"/>
            <a:ext cx="3104522" cy="3342688"/>
          </a:xfrm>
          <a:custGeom>
            <a:avLst/>
            <a:gdLst/>
            <a:ahLst/>
            <a:cxnLst/>
            <a:rect l="l" t="t" r="r" b="b"/>
            <a:pathLst>
              <a:path w="3104522" h="3342688">
                <a:moveTo>
                  <a:pt x="0" y="0"/>
                </a:moveTo>
                <a:lnTo>
                  <a:pt x="3104522" y="0"/>
                </a:lnTo>
                <a:lnTo>
                  <a:pt x="3104522" y="3342688"/>
                </a:lnTo>
                <a:lnTo>
                  <a:pt x="0" y="3342688"/>
                </a:lnTo>
                <a:lnTo>
                  <a:pt x="0" y="0"/>
                </a:lnTo>
                <a:close/>
              </a:path>
            </a:pathLst>
          </a:custGeom>
          <a:blipFill>
            <a:blip r:embed="rId22">
              <a:extLst>
                <a:ext uri="{96DAC541-7B7A-43D3-8B79-37D633B846F1}">
                  <asvg:svgBlip xmlns:asvg="http://schemas.microsoft.com/office/drawing/2016/SVG/main" r:embed="rId23"/>
                </a:ext>
              </a:extLst>
            </a:blip>
            <a:stretch>
              <a:fillRect/>
            </a:stretch>
          </a:blipFill>
          <a:ln cap="sq">
            <a:noFill/>
            <a:prstDash val="solid"/>
            <a:miter/>
          </a:ln>
        </p:spPr>
        <p:txBody>
          <a:bodyPr/>
          <a:lstStyle/>
          <a:p>
            <a:endParaRPr lang="en-US"/>
          </a:p>
        </p:txBody>
      </p:sp>
      <p:sp>
        <p:nvSpPr>
          <p:cNvPr id="17" name="TextBox 17"/>
          <p:cNvSpPr txBox="1"/>
          <p:nvPr/>
        </p:nvSpPr>
        <p:spPr>
          <a:xfrm>
            <a:off x="2480607" y="2599630"/>
            <a:ext cx="13326787" cy="3396084"/>
          </a:xfrm>
          <a:prstGeom prst="rect">
            <a:avLst/>
          </a:prstGeom>
        </p:spPr>
        <p:txBody>
          <a:bodyPr lIns="0" tIns="0" rIns="0" bIns="0" rtlCol="0" anchor="t">
            <a:spAutoFit/>
          </a:bodyPr>
          <a:lstStyle/>
          <a:p>
            <a:pPr algn="ctr">
              <a:lnSpc>
                <a:spcPts val="8755"/>
              </a:lnSpc>
            </a:pPr>
            <a:r>
              <a:rPr lang="en-US" sz="9314" dirty="0">
                <a:solidFill>
                  <a:srgbClr val="000000"/>
                </a:solidFill>
                <a:latin typeface="DM Sans Bold"/>
              </a:rPr>
              <a:t>Student Performance Predictor Project</a:t>
            </a:r>
          </a:p>
          <a:p>
            <a:pPr algn="ctr">
              <a:lnSpc>
                <a:spcPts val="8755"/>
              </a:lnSpc>
            </a:pPr>
            <a:endParaRPr lang="en-US" sz="9314" dirty="0">
              <a:solidFill>
                <a:srgbClr val="000000"/>
              </a:solidFill>
              <a:latin typeface="DM Sans Bold"/>
            </a:endParaRPr>
          </a:p>
        </p:txBody>
      </p:sp>
      <p:sp>
        <p:nvSpPr>
          <p:cNvPr id="18" name="TextBox 18"/>
          <p:cNvSpPr txBox="1"/>
          <p:nvPr/>
        </p:nvSpPr>
        <p:spPr>
          <a:xfrm>
            <a:off x="4914102" y="6342295"/>
            <a:ext cx="8459795" cy="1682926"/>
          </a:xfrm>
          <a:prstGeom prst="rect">
            <a:avLst/>
          </a:prstGeom>
        </p:spPr>
        <p:txBody>
          <a:bodyPr lIns="0" tIns="0" rIns="0" bIns="0" rtlCol="0" anchor="t">
            <a:spAutoFit/>
          </a:bodyPr>
          <a:lstStyle/>
          <a:p>
            <a:pPr algn="ctr">
              <a:lnSpc>
                <a:spcPts val="4381"/>
              </a:lnSpc>
            </a:pPr>
            <a:r>
              <a:rPr lang="en-US" sz="4381" spc="-87">
                <a:solidFill>
                  <a:srgbClr val="000000"/>
                </a:solidFill>
                <a:latin typeface="DM Sans Bold"/>
              </a:rPr>
              <a:t>Predicting Student Performance Using Machine Learning</a:t>
            </a:r>
          </a:p>
          <a:p>
            <a:pPr algn="ctr">
              <a:lnSpc>
                <a:spcPts val="4381"/>
              </a:lnSpc>
            </a:pPr>
            <a:endParaRPr lang="en-US" sz="4381" spc="-87">
              <a:solidFill>
                <a:srgbClr val="000000"/>
              </a:solidFill>
              <a:latin typeface="DM Sans Bold"/>
            </a:endParaRPr>
          </a:p>
        </p:txBody>
      </p:sp>
      <p:sp>
        <p:nvSpPr>
          <p:cNvPr id="19" name="Freeform 19"/>
          <p:cNvSpPr/>
          <p:nvPr/>
        </p:nvSpPr>
        <p:spPr>
          <a:xfrm>
            <a:off x="1413325" y="3129497"/>
            <a:ext cx="724985" cy="920616"/>
          </a:xfrm>
          <a:custGeom>
            <a:avLst/>
            <a:gdLst/>
            <a:ahLst/>
            <a:cxnLst/>
            <a:rect l="l" t="t" r="r" b="b"/>
            <a:pathLst>
              <a:path w="724985" h="920616">
                <a:moveTo>
                  <a:pt x="0" y="0"/>
                </a:moveTo>
                <a:lnTo>
                  <a:pt x="724985" y="0"/>
                </a:lnTo>
                <a:lnTo>
                  <a:pt x="724985" y="920616"/>
                </a:lnTo>
                <a:lnTo>
                  <a:pt x="0" y="92061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txBody>
          <a:bodyPr/>
          <a:lstStyle/>
          <a:p>
            <a:endParaRPr lang="en-US"/>
          </a:p>
        </p:txBody>
      </p:sp>
      <p:sp>
        <p:nvSpPr>
          <p:cNvPr id="3" name="Freeform 3"/>
          <p:cNvSpPr/>
          <p:nvPr/>
        </p:nvSpPr>
        <p:spPr>
          <a:xfrm>
            <a:off x="10994934" y="2091045"/>
            <a:ext cx="6264366" cy="6104909"/>
          </a:xfrm>
          <a:custGeom>
            <a:avLst/>
            <a:gdLst/>
            <a:ahLst/>
            <a:cxnLst/>
            <a:rect l="l" t="t" r="r" b="b"/>
            <a:pathLst>
              <a:path w="6264366" h="6104909">
                <a:moveTo>
                  <a:pt x="0" y="0"/>
                </a:moveTo>
                <a:lnTo>
                  <a:pt x="6264366" y="0"/>
                </a:lnTo>
                <a:lnTo>
                  <a:pt x="6264366" y="6104910"/>
                </a:lnTo>
                <a:lnTo>
                  <a:pt x="0" y="61049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p:cNvSpPr txBox="1"/>
          <p:nvPr/>
        </p:nvSpPr>
        <p:spPr>
          <a:xfrm>
            <a:off x="1474367" y="1927497"/>
            <a:ext cx="7848753" cy="2282190"/>
          </a:xfrm>
          <a:prstGeom prst="rect">
            <a:avLst/>
          </a:prstGeom>
        </p:spPr>
        <p:txBody>
          <a:bodyPr lIns="0" tIns="0" rIns="0" bIns="0" rtlCol="0" anchor="t">
            <a:spAutoFit/>
          </a:bodyPr>
          <a:lstStyle/>
          <a:p>
            <a:pPr algn="l">
              <a:lnSpc>
                <a:spcPts val="8730"/>
              </a:lnSpc>
            </a:pPr>
            <a:r>
              <a:rPr lang="en-US" sz="8800" dirty="0">
                <a:solidFill>
                  <a:srgbClr val="000000"/>
                </a:solidFill>
                <a:latin typeface="DM Sans Bold"/>
              </a:rPr>
              <a:t>Introduction</a:t>
            </a:r>
            <a:endParaRPr lang="en-US" sz="9000" dirty="0">
              <a:solidFill>
                <a:srgbClr val="000000"/>
              </a:solidFill>
              <a:latin typeface="DM Sans Bold"/>
            </a:endParaRPr>
          </a:p>
          <a:p>
            <a:pPr algn="l">
              <a:lnSpc>
                <a:spcPts val="8730"/>
              </a:lnSpc>
            </a:pPr>
            <a:endParaRPr lang="en-US" sz="9000" dirty="0">
              <a:solidFill>
                <a:srgbClr val="000000"/>
              </a:solidFill>
              <a:latin typeface="DM Sans Bold"/>
            </a:endParaRPr>
          </a:p>
        </p:txBody>
      </p:sp>
      <p:sp>
        <p:nvSpPr>
          <p:cNvPr id="5" name="TextBox 5"/>
          <p:cNvSpPr txBox="1"/>
          <p:nvPr/>
        </p:nvSpPr>
        <p:spPr>
          <a:xfrm>
            <a:off x="-36095" y="3424353"/>
            <a:ext cx="11198318" cy="6728350"/>
          </a:xfrm>
          <a:prstGeom prst="rect">
            <a:avLst/>
          </a:prstGeom>
        </p:spPr>
        <p:txBody>
          <a:bodyPr lIns="0" tIns="0" rIns="0" bIns="0" rtlCol="0" anchor="t">
            <a:spAutoFit/>
          </a:bodyPr>
          <a:lstStyle/>
          <a:p>
            <a:pPr marL="713718" lvl="1" indent="-356859" algn="l">
              <a:lnSpc>
                <a:spcPts val="4462"/>
              </a:lnSpc>
              <a:buFont typeface="Arial"/>
              <a:buChar char="•"/>
            </a:pPr>
            <a:r>
              <a:rPr lang="en-US" sz="3305" spc="198" dirty="0">
                <a:solidFill>
                  <a:srgbClr val="000000"/>
                </a:solidFill>
                <a:latin typeface="DM Sans Bold"/>
              </a:rPr>
              <a:t>P</a:t>
            </a:r>
            <a:r>
              <a:rPr lang="en-US" sz="3305" u="none" spc="198" dirty="0">
                <a:solidFill>
                  <a:srgbClr val="000000"/>
                </a:solidFill>
                <a:latin typeface="DM Sans Bold"/>
              </a:rPr>
              <a:t>roject Background: </a:t>
            </a:r>
            <a:r>
              <a:rPr lang="en-US" sz="3305" u="none" spc="198" dirty="0">
                <a:solidFill>
                  <a:srgbClr val="000000"/>
                </a:solidFill>
                <a:latin typeface="DM Sans"/>
              </a:rPr>
              <a:t>the Student Performance Predictor project aims to forecast academic success using machine learning techniques.</a:t>
            </a:r>
          </a:p>
          <a:p>
            <a:pPr algn="l">
              <a:lnSpc>
                <a:spcPts val="4462"/>
              </a:lnSpc>
            </a:pPr>
            <a:endParaRPr lang="en-US" sz="3305" u="none" spc="198" dirty="0">
              <a:solidFill>
                <a:srgbClr val="000000"/>
              </a:solidFill>
              <a:latin typeface="DM Sans"/>
            </a:endParaRPr>
          </a:p>
          <a:p>
            <a:pPr marL="713718" lvl="1" indent="-356859" algn="l">
              <a:lnSpc>
                <a:spcPts val="4462"/>
              </a:lnSpc>
              <a:spcBef>
                <a:spcPct val="0"/>
              </a:spcBef>
              <a:buFont typeface="Arial"/>
              <a:buChar char="•"/>
            </a:pPr>
            <a:r>
              <a:rPr lang="en-US" sz="3305" u="none" spc="198" dirty="0">
                <a:solidFill>
                  <a:srgbClr val="000000"/>
                </a:solidFill>
                <a:latin typeface="DM Sans Bold"/>
              </a:rPr>
              <a:t>Importance:</a:t>
            </a:r>
            <a:r>
              <a:rPr lang="en-US" sz="3305" u="none" spc="198" dirty="0">
                <a:solidFill>
                  <a:srgbClr val="000000"/>
                </a:solidFill>
                <a:latin typeface="DM Sans"/>
              </a:rPr>
              <a:t> Early identification of at-risk students allows for timely interventions to enhance educational outcomes.</a:t>
            </a:r>
          </a:p>
          <a:p>
            <a:pPr algn="l">
              <a:lnSpc>
                <a:spcPts val="4462"/>
              </a:lnSpc>
              <a:spcBef>
                <a:spcPct val="0"/>
              </a:spcBef>
            </a:pPr>
            <a:endParaRPr lang="en-US" sz="3305" u="none" spc="198" dirty="0">
              <a:solidFill>
                <a:srgbClr val="000000"/>
              </a:solidFill>
              <a:latin typeface="DM Sans"/>
            </a:endParaRPr>
          </a:p>
          <a:p>
            <a:pPr marL="713718" lvl="1" indent="-356859" algn="l">
              <a:lnSpc>
                <a:spcPts val="4462"/>
              </a:lnSpc>
              <a:spcBef>
                <a:spcPct val="0"/>
              </a:spcBef>
              <a:buFont typeface="Arial"/>
              <a:buChar char="•"/>
            </a:pPr>
            <a:r>
              <a:rPr lang="en-US" sz="3305" u="none" spc="198" dirty="0">
                <a:solidFill>
                  <a:srgbClr val="000000"/>
                </a:solidFill>
                <a:latin typeface="DM Sans Bold"/>
              </a:rPr>
              <a:t>Goals:</a:t>
            </a:r>
            <a:r>
              <a:rPr lang="en-US" sz="3305" u="none" spc="198" dirty="0">
                <a:solidFill>
                  <a:srgbClr val="000000"/>
                </a:solidFill>
                <a:latin typeface="DM Sans"/>
              </a:rPr>
              <a:t> Develop a predictive model to identify students likely to pass or fail based on their academic and demographic data.</a:t>
            </a:r>
          </a:p>
          <a:p>
            <a:pPr marL="0" lvl="0" indent="0" algn="l">
              <a:lnSpc>
                <a:spcPts val="4462"/>
              </a:lnSpc>
              <a:spcBef>
                <a:spcPct val="0"/>
              </a:spcBef>
            </a:pPr>
            <a:endParaRPr lang="en-US" sz="3305" u="none" spc="198" dirty="0">
              <a:solidFill>
                <a:srgbClr val="000000"/>
              </a:solidFill>
              <a:latin typeface="DM Sans"/>
            </a:endParaRPr>
          </a:p>
        </p:txBody>
      </p:sp>
      <p:sp>
        <p:nvSpPr>
          <p:cNvPr id="6" name="Freeform 6"/>
          <p:cNvSpPr/>
          <p:nvPr/>
        </p:nvSpPr>
        <p:spPr>
          <a:xfrm>
            <a:off x="15353489" y="8540136"/>
            <a:ext cx="4602314" cy="3618569"/>
          </a:xfrm>
          <a:custGeom>
            <a:avLst/>
            <a:gdLst/>
            <a:ahLst/>
            <a:cxnLst/>
            <a:rect l="l" t="t" r="r" b="b"/>
            <a:pathLst>
              <a:path w="4602314" h="3618569">
                <a:moveTo>
                  <a:pt x="0" y="0"/>
                </a:moveTo>
                <a:lnTo>
                  <a:pt x="4602314" y="0"/>
                </a:lnTo>
                <a:lnTo>
                  <a:pt x="4602314" y="3618570"/>
                </a:lnTo>
                <a:lnTo>
                  <a:pt x="0" y="3618570"/>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7" name="Freeform 7"/>
          <p:cNvSpPr/>
          <p:nvPr/>
        </p:nvSpPr>
        <p:spPr>
          <a:xfrm>
            <a:off x="-674156" y="-1072630"/>
            <a:ext cx="4899948" cy="3068592"/>
          </a:xfrm>
          <a:custGeom>
            <a:avLst/>
            <a:gdLst/>
            <a:ahLst/>
            <a:cxnLst/>
            <a:rect l="l" t="t" r="r" b="b"/>
            <a:pathLst>
              <a:path w="4899948" h="3068592">
                <a:moveTo>
                  <a:pt x="0" y="0"/>
                </a:moveTo>
                <a:lnTo>
                  <a:pt x="4899948" y="0"/>
                </a:lnTo>
                <a:lnTo>
                  <a:pt x="4899948" y="3068592"/>
                </a:lnTo>
                <a:lnTo>
                  <a:pt x="0" y="3068592"/>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n-US"/>
          </a:p>
        </p:txBody>
      </p:sp>
      <p:sp>
        <p:nvSpPr>
          <p:cNvPr id="8" name="Freeform 8"/>
          <p:cNvSpPr/>
          <p:nvPr/>
        </p:nvSpPr>
        <p:spPr>
          <a:xfrm>
            <a:off x="9144000" y="9258300"/>
            <a:ext cx="4076270" cy="2863579"/>
          </a:xfrm>
          <a:custGeom>
            <a:avLst/>
            <a:gdLst/>
            <a:ahLst/>
            <a:cxnLst/>
            <a:rect l="l" t="t" r="r" b="b"/>
            <a:pathLst>
              <a:path w="4076270" h="2863579">
                <a:moveTo>
                  <a:pt x="0" y="0"/>
                </a:moveTo>
                <a:lnTo>
                  <a:pt x="4076270" y="0"/>
                </a:lnTo>
                <a:lnTo>
                  <a:pt x="4076270" y="2863579"/>
                </a:lnTo>
                <a:lnTo>
                  <a:pt x="0" y="2863579"/>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txBody>
          <a:bodyPr/>
          <a:lstStyle/>
          <a:p>
            <a:endParaRPr lang="en-US"/>
          </a:p>
        </p:txBody>
      </p:sp>
      <p:sp>
        <p:nvSpPr>
          <p:cNvPr id="9" name="Freeform 9"/>
          <p:cNvSpPr/>
          <p:nvPr/>
        </p:nvSpPr>
        <p:spPr>
          <a:xfrm>
            <a:off x="5003948" y="-1890601"/>
            <a:ext cx="2892762" cy="2919301"/>
          </a:xfrm>
          <a:custGeom>
            <a:avLst/>
            <a:gdLst/>
            <a:ahLst/>
            <a:cxnLst/>
            <a:rect l="l" t="t" r="r" b="b"/>
            <a:pathLst>
              <a:path w="2892762" h="2919301">
                <a:moveTo>
                  <a:pt x="0" y="0"/>
                </a:moveTo>
                <a:lnTo>
                  <a:pt x="2892762" y="0"/>
                </a:lnTo>
                <a:lnTo>
                  <a:pt x="2892762" y="2919301"/>
                </a:lnTo>
                <a:lnTo>
                  <a:pt x="0" y="2919301"/>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txBody>
          <a:bodyPr/>
          <a:lstStyle/>
          <a:p>
            <a:endParaRPr lang="en-US"/>
          </a:p>
        </p:txBody>
      </p:sp>
      <p:sp>
        <p:nvSpPr>
          <p:cNvPr id="10" name="Freeform 10"/>
          <p:cNvSpPr/>
          <p:nvPr/>
        </p:nvSpPr>
        <p:spPr>
          <a:xfrm rot="-5282649">
            <a:off x="16004285" y="265374"/>
            <a:ext cx="4017207" cy="1370872"/>
          </a:xfrm>
          <a:custGeom>
            <a:avLst/>
            <a:gdLst/>
            <a:ahLst/>
            <a:cxnLst/>
            <a:rect l="l" t="t" r="r" b="b"/>
            <a:pathLst>
              <a:path w="4017207" h="1370872">
                <a:moveTo>
                  <a:pt x="0" y="0"/>
                </a:moveTo>
                <a:lnTo>
                  <a:pt x="4017207" y="0"/>
                </a:lnTo>
                <a:lnTo>
                  <a:pt x="4017207" y="1370872"/>
                </a:lnTo>
                <a:lnTo>
                  <a:pt x="0" y="1370872"/>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424009" y="9516858"/>
            <a:ext cx="3870946" cy="950141"/>
          </a:xfrm>
          <a:custGeom>
            <a:avLst/>
            <a:gdLst/>
            <a:ahLst/>
            <a:cxnLst/>
            <a:rect l="l" t="t" r="r" b="b"/>
            <a:pathLst>
              <a:path w="3870946" h="950141">
                <a:moveTo>
                  <a:pt x="0" y="0"/>
                </a:moveTo>
                <a:lnTo>
                  <a:pt x="3870946" y="0"/>
                </a:lnTo>
                <a:lnTo>
                  <a:pt x="3870946" y="950141"/>
                </a:lnTo>
                <a:lnTo>
                  <a:pt x="0" y="9501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9989109" y="-1582727"/>
            <a:ext cx="4980952" cy="3731186"/>
          </a:xfrm>
          <a:custGeom>
            <a:avLst/>
            <a:gdLst/>
            <a:ahLst/>
            <a:cxnLst/>
            <a:rect l="l" t="t" r="r" b="b"/>
            <a:pathLst>
              <a:path w="4980952" h="3731186">
                <a:moveTo>
                  <a:pt x="0" y="0"/>
                </a:moveTo>
                <a:lnTo>
                  <a:pt x="4980952" y="0"/>
                </a:lnTo>
                <a:lnTo>
                  <a:pt x="4980952" y="3731185"/>
                </a:lnTo>
                <a:lnTo>
                  <a:pt x="0" y="3731185"/>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5" name="Freeform 5"/>
          <p:cNvSpPr/>
          <p:nvPr/>
        </p:nvSpPr>
        <p:spPr>
          <a:xfrm>
            <a:off x="3747614" y="8932738"/>
            <a:ext cx="2587020" cy="2386526"/>
          </a:xfrm>
          <a:custGeom>
            <a:avLst/>
            <a:gdLst/>
            <a:ahLst/>
            <a:cxnLst/>
            <a:rect l="l" t="t" r="r" b="b"/>
            <a:pathLst>
              <a:path w="2587020" h="2386526">
                <a:moveTo>
                  <a:pt x="0" y="0"/>
                </a:moveTo>
                <a:lnTo>
                  <a:pt x="2587020" y="0"/>
                </a:lnTo>
                <a:lnTo>
                  <a:pt x="2587020" y="2386525"/>
                </a:lnTo>
                <a:lnTo>
                  <a:pt x="0" y="2386525"/>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US"/>
          </a:p>
        </p:txBody>
      </p:sp>
      <p:sp>
        <p:nvSpPr>
          <p:cNvPr id="6" name="Freeform 6"/>
          <p:cNvSpPr/>
          <p:nvPr/>
        </p:nvSpPr>
        <p:spPr>
          <a:xfrm>
            <a:off x="15422529" y="750167"/>
            <a:ext cx="2597326" cy="2796583"/>
          </a:xfrm>
          <a:custGeom>
            <a:avLst/>
            <a:gdLst/>
            <a:ahLst/>
            <a:cxnLst/>
            <a:rect l="l" t="t" r="r" b="b"/>
            <a:pathLst>
              <a:path w="2597326" h="2796583">
                <a:moveTo>
                  <a:pt x="0" y="0"/>
                </a:moveTo>
                <a:lnTo>
                  <a:pt x="2597327" y="0"/>
                </a:lnTo>
                <a:lnTo>
                  <a:pt x="2597327" y="2796583"/>
                </a:lnTo>
                <a:lnTo>
                  <a:pt x="0" y="2796583"/>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n-US"/>
          </a:p>
        </p:txBody>
      </p:sp>
      <p:sp>
        <p:nvSpPr>
          <p:cNvPr id="7" name="Freeform 7"/>
          <p:cNvSpPr/>
          <p:nvPr/>
        </p:nvSpPr>
        <p:spPr>
          <a:xfrm>
            <a:off x="12877074" y="4887851"/>
            <a:ext cx="4382226" cy="4801244"/>
          </a:xfrm>
          <a:custGeom>
            <a:avLst/>
            <a:gdLst/>
            <a:ahLst/>
            <a:cxnLst/>
            <a:rect l="l" t="t" r="r" b="b"/>
            <a:pathLst>
              <a:path w="4382226" h="4801244">
                <a:moveTo>
                  <a:pt x="0" y="0"/>
                </a:moveTo>
                <a:lnTo>
                  <a:pt x="4382226" y="0"/>
                </a:lnTo>
                <a:lnTo>
                  <a:pt x="4382226" y="4801244"/>
                </a:lnTo>
                <a:lnTo>
                  <a:pt x="0" y="480124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8" name="TextBox 8"/>
          <p:cNvSpPr txBox="1"/>
          <p:nvPr/>
        </p:nvSpPr>
        <p:spPr>
          <a:xfrm>
            <a:off x="1028700" y="473366"/>
            <a:ext cx="8834322" cy="2282190"/>
          </a:xfrm>
          <a:prstGeom prst="rect">
            <a:avLst/>
          </a:prstGeom>
        </p:spPr>
        <p:txBody>
          <a:bodyPr lIns="0" tIns="0" rIns="0" bIns="0" rtlCol="0" anchor="t">
            <a:spAutoFit/>
          </a:bodyPr>
          <a:lstStyle/>
          <a:p>
            <a:pPr algn="l">
              <a:lnSpc>
                <a:spcPts val="8730"/>
              </a:lnSpc>
            </a:pPr>
            <a:r>
              <a:rPr lang="en-US" sz="9000" dirty="0">
                <a:solidFill>
                  <a:srgbClr val="000000"/>
                </a:solidFill>
                <a:latin typeface="DM Sans Bold"/>
              </a:rPr>
              <a:t>Project Scope</a:t>
            </a:r>
          </a:p>
          <a:p>
            <a:pPr algn="l">
              <a:lnSpc>
                <a:spcPts val="8730"/>
              </a:lnSpc>
            </a:pPr>
            <a:endParaRPr lang="en-US" sz="9000" dirty="0">
              <a:solidFill>
                <a:srgbClr val="000000"/>
              </a:solidFill>
              <a:latin typeface="DM Sans Bold"/>
            </a:endParaRPr>
          </a:p>
        </p:txBody>
      </p:sp>
      <p:grpSp>
        <p:nvGrpSpPr>
          <p:cNvPr id="9" name="Group 9"/>
          <p:cNvGrpSpPr/>
          <p:nvPr/>
        </p:nvGrpSpPr>
        <p:grpSpPr>
          <a:xfrm>
            <a:off x="1028700" y="2490893"/>
            <a:ext cx="5305934" cy="1373744"/>
            <a:chOff x="0" y="0"/>
            <a:chExt cx="2342659" cy="857492"/>
          </a:xfrm>
        </p:grpSpPr>
        <p:sp>
          <p:nvSpPr>
            <p:cNvPr id="10" name="Freeform 10"/>
            <p:cNvSpPr/>
            <p:nvPr/>
          </p:nvSpPr>
          <p:spPr>
            <a:xfrm>
              <a:off x="0" y="0"/>
              <a:ext cx="2342659" cy="857492"/>
            </a:xfrm>
            <a:custGeom>
              <a:avLst/>
              <a:gdLst/>
              <a:ahLst/>
              <a:cxnLst/>
              <a:rect l="l" t="t" r="r" b="b"/>
              <a:pathLst>
                <a:path w="2342659" h="857492">
                  <a:moveTo>
                    <a:pt x="30943" y="0"/>
                  </a:moveTo>
                  <a:lnTo>
                    <a:pt x="2311716" y="0"/>
                  </a:lnTo>
                  <a:cubicBezTo>
                    <a:pt x="2328805" y="0"/>
                    <a:pt x="2342659" y="13853"/>
                    <a:pt x="2342659" y="30943"/>
                  </a:cubicBezTo>
                  <a:lnTo>
                    <a:pt x="2342659" y="826550"/>
                  </a:lnTo>
                  <a:cubicBezTo>
                    <a:pt x="2342659" y="834756"/>
                    <a:pt x="2339398" y="842627"/>
                    <a:pt x="2333596" y="848430"/>
                  </a:cubicBezTo>
                  <a:cubicBezTo>
                    <a:pt x="2327793" y="854232"/>
                    <a:pt x="2319923" y="857492"/>
                    <a:pt x="2311716" y="857492"/>
                  </a:cubicBezTo>
                  <a:lnTo>
                    <a:pt x="30943" y="857492"/>
                  </a:lnTo>
                  <a:cubicBezTo>
                    <a:pt x="13853" y="857492"/>
                    <a:pt x="0" y="843639"/>
                    <a:pt x="0" y="826550"/>
                  </a:cubicBezTo>
                  <a:lnTo>
                    <a:pt x="0" y="30943"/>
                  </a:lnTo>
                  <a:cubicBezTo>
                    <a:pt x="0" y="13853"/>
                    <a:pt x="13853" y="0"/>
                    <a:pt x="30943" y="0"/>
                  </a:cubicBezTo>
                  <a:close/>
                </a:path>
              </a:pathLst>
            </a:custGeom>
            <a:solidFill>
              <a:srgbClr val="8AB7E2"/>
            </a:solidFill>
          </p:spPr>
          <p:txBody>
            <a:bodyPr/>
            <a:lstStyle/>
            <a:p>
              <a:endParaRPr lang="en-US" sz="3200"/>
            </a:p>
          </p:txBody>
        </p:sp>
        <p:sp>
          <p:nvSpPr>
            <p:cNvPr id="11" name="TextBox 11"/>
            <p:cNvSpPr txBox="1"/>
            <p:nvPr/>
          </p:nvSpPr>
          <p:spPr>
            <a:xfrm>
              <a:off x="0" y="85725"/>
              <a:ext cx="2342659" cy="771767"/>
            </a:xfrm>
            <a:prstGeom prst="rect">
              <a:avLst/>
            </a:prstGeom>
          </p:spPr>
          <p:txBody>
            <a:bodyPr lIns="27244" tIns="27244" rIns="27244" bIns="27244" rtlCol="0" anchor="ctr"/>
            <a:lstStyle/>
            <a:p>
              <a:pPr algn="ctr">
                <a:lnSpc>
                  <a:spcPts val="1925"/>
                </a:lnSpc>
              </a:pPr>
              <a:endParaRPr sz="3200"/>
            </a:p>
          </p:txBody>
        </p:sp>
      </p:grpSp>
      <p:sp>
        <p:nvSpPr>
          <p:cNvPr id="12" name="TextBox 12"/>
          <p:cNvSpPr txBox="1"/>
          <p:nvPr/>
        </p:nvSpPr>
        <p:spPr>
          <a:xfrm>
            <a:off x="1305529" y="2947107"/>
            <a:ext cx="846790" cy="511615"/>
          </a:xfrm>
          <a:prstGeom prst="rect">
            <a:avLst/>
          </a:prstGeom>
        </p:spPr>
        <p:txBody>
          <a:bodyPr lIns="0" tIns="0" rIns="0" bIns="0" rtlCol="0" anchor="t">
            <a:spAutoFit/>
          </a:bodyPr>
          <a:lstStyle/>
          <a:p>
            <a:pPr algn="l">
              <a:lnSpc>
                <a:spcPts val="4118"/>
              </a:lnSpc>
            </a:pPr>
            <a:r>
              <a:rPr lang="en-US" sz="3200" spc="-351">
                <a:solidFill>
                  <a:srgbClr val="000000"/>
                </a:solidFill>
                <a:latin typeface="DM Sans"/>
              </a:rPr>
              <a:t>01.</a:t>
            </a:r>
          </a:p>
        </p:txBody>
      </p:sp>
      <p:sp>
        <p:nvSpPr>
          <p:cNvPr id="13" name="TextBox 13"/>
          <p:cNvSpPr txBox="1"/>
          <p:nvPr/>
        </p:nvSpPr>
        <p:spPr>
          <a:xfrm>
            <a:off x="2152319" y="2924938"/>
            <a:ext cx="3395068" cy="572529"/>
          </a:xfrm>
          <a:prstGeom prst="rect">
            <a:avLst/>
          </a:prstGeom>
        </p:spPr>
        <p:txBody>
          <a:bodyPr wrap="square" lIns="0" tIns="0" rIns="0" bIns="0" rtlCol="0" anchor="t">
            <a:spAutoFit/>
          </a:bodyPr>
          <a:lstStyle/>
          <a:p>
            <a:pPr algn="just">
              <a:lnSpc>
                <a:spcPts val="2751"/>
              </a:lnSpc>
            </a:pPr>
            <a:r>
              <a:rPr lang="en-US" sz="3200" spc="32" dirty="0">
                <a:solidFill>
                  <a:srgbClr val="000000"/>
                </a:solidFill>
                <a:latin typeface="DM Sans Bold"/>
              </a:rPr>
              <a:t>Topic Selection</a:t>
            </a:r>
          </a:p>
          <a:p>
            <a:pPr marL="0" lvl="0" indent="0" algn="just">
              <a:lnSpc>
                <a:spcPts val="1013"/>
              </a:lnSpc>
              <a:spcBef>
                <a:spcPct val="0"/>
              </a:spcBef>
            </a:pPr>
            <a:endParaRPr lang="en-US" sz="3200" spc="32" dirty="0">
              <a:solidFill>
                <a:srgbClr val="000000"/>
              </a:solidFill>
              <a:latin typeface="DM Sans Bold"/>
            </a:endParaRPr>
          </a:p>
        </p:txBody>
      </p:sp>
      <p:grpSp>
        <p:nvGrpSpPr>
          <p:cNvPr id="14" name="Group 14"/>
          <p:cNvGrpSpPr/>
          <p:nvPr/>
        </p:nvGrpSpPr>
        <p:grpSpPr>
          <a:xfrm>
            <a:off x="1038221" y="4049494"/>
            <a:ext cx="5348284" cy="1373700"/>
            <a:chOff x="0" y="0"/>
            <a:chExt cx="2278598" cy="836139"/>
          </a:xfrm>
        </p:grpSpPr>
        <p:sp>
          <p:nvSpPr>
            <p:cNvPr id="15" name="Freeform 15"/>
            <p:cNvSpPr/>
            <p:nvPr/>
          </p:nvSpPr>
          <p:spPr>
            <a:xfrm>
              <a:off x="0" y="0"/>
              <a:ext cx="2278598" cy="836139"/>
            </a:xfrm>
            <a:custGeom>
              <a:avLst/>
              <a:gdLst/>
              <a:ahLst/>
              <a:cxnLst/>
              <a:rect l="l" t="t" r="r" b="b"/>
              <a:pathLst>
                <a:path w="2278598" h="836139">
                  <a:moveTo>
                    <a:pt x="31021" y="0"/>
                  </a:moveTo>
                  <a:lnTo>
                    <a:pt x="2247577" y="0"/>
                  </a:lnTo>
                  <a:cubicBezTo>
                    <a:pt x="2255804" y="0"/>
                    <a:pt x="2263694" y="3268"/>
                    <a:pt x="2269512" y="9086"/>
                  </a:cubicBezTo>
                  <a:cubicBezTo>
                    <a:pt x="2275330" y="14904"/>
                    <a:pt x="2278598" y="22794"/>
                    <a:pt x="2278598" y="31021"/>
                  </a:cubicBezTo>
                  <a:lnTo>
                    <a:pt x="2278598" y="805118"/>
                  </a:lnTo>
                  <a:cubicBezTo>
                    <a:pt x="2278598" y="813345"/>
                    <a:pt x="2275330" y="821235"/>
                    <a:pt x="2269512" y="827053"/>
                  </a:cubicBezTo>
                  <a:cubicBezTo>
                    <a:pt x="2263694" y="832870"/>
                    <a:pt x="2255804" y="836139"/>
                    <a:pt x="2247577" y="836139"/>
                  </a:cubicBezTo>
                  <a:lnTo>
                    <a:pt x="31021" y="836139"/>
                  </a:lnTo>
                  <a:cubicBezTo>
                    <a:pt x="22794" y="836139"/>
                    <a:pt x="14904" y="832870"/>
                    <a:pt x="9086" y="827053"/>
                  </a:cubicBezTo>
                  <a:cubicBezTo>
                    <a:pt x="3268" y="821235"/>
                    <a:pt x="0" y="813345"/>
                    <a:pt x="0" y="805118"/>
                  </a:cubicBezTo>
                  <a:lnTo>
                    <a:pt x="0" y="31021"/>
                  </a:lnTo>
                  <a:cubicBezTo>
                    <a:pt x="0" y="22794"/>
                    <a:pt x="3268" y="14904"/>
                    <a:pt x="9086" y="9086"/>
                  </a:cubicBezTo>
                  <a:cubicBezTo>
                    <a:pt x="14904" y="3268"/>
                    <a:pt x="22794" y="0"/>
                    <a:pt x="31021" y="0"/>
                  </a:cubicBezTo>
                  <a:close/>
                </a:path>
              </a:pathLst>
            </a:custGeom>
            <a:solidFill>
              <a:srgbClr val="8AB7E2"/>
            </a:solidFill>
          </p:spPr>
          <p:txBody>
            <a:bodyPr/>
            <a:lstStyle/>
            <a:p>
              <a:endParaRPr lang="en-US" sz="3200"/>
            </a:p>
          </p:txBody>
        </p:sp>
        <p:sp>
          <p:nvSpPr>
            <p:cNvPr id="16" name="TextBox 16"/>
            <p:cNvSpPr txBox="1"/>
            <p:nvPr/>
          </p:nvSpPr>
          <p:spPr>
            <a:xfrm>
              <a:off x="0" y="85725"/>
              <a:ext cx="2278598" cy="750414"/>
            </a:xfrm>
            <a:prstGeom prst="rect">
              <a:avLst/>
            </a:prstGeom>
          </p:spPr>
          <p:txBody>
            <a:bodyPr lIns="27939" tIns="27939" rIns="27939" bIns="27939" rtlCol="0" anchor="ctr"/>
            <a:lstStyle/>
            <a:p>
              <a:pPr algn="ctr">
                <a:lnSpc>
                  <a:spcPts val="1925"/>
                </a:lnSpc>
              </a:pPr>
              <a:endParaRPr sz="3200"/>
            </a:p>
          </p:txBody>
        </p:sp>
      </p:grpSp>
      <p:sp>
        <p:nvSpPr>
          <p:cNvPr id="17" name="TextBox 17"/>
          <p:cNvSpPr txBox="1"/>
          <p:nvPr/>
        </p:nvSpPr>
        <p:spPr>
          <a:xfrm>
            <a:off x="1374733" y="4514586"/>
            <a:ext cx="868388" cy="521233"/>
          </a:xfrm>
          <a:prstGeom prst="rect">
            <a:avLst/>
          </a:prstGeom>
        </p:spPr>
        <p:txBody>
          <a:bodyPr lIns="0" tIns="0" rIns="0" bIns="0" rtlCol="0" anchor="t">
            <a:spAutoFit/>
          </a:bodyPr>
          <a:lstStyle/>
          <a:p>
            <a:pPr algn="l">
              <a:lnSpc>
                <a:spcPts val="4223"/>
              </a:lnSpc>
            </a:pPr>
            <a:r>
              <a:rPr lang="en-US" sz="3200" spc="-360">
                <a:solidFill>
                  <a:srgbClr val="000000"/>
                </a:solidFill>
                <a:latin typeface="DM Sans"/>
              </a:rPr>
              <a:t>02.</a:t>
            </a:r>
          </a:p>
        </p:txBody>
      </p:sp>
      <p:sp>
        <p:nvSpPr>
          <p:cNvPr id="18" name="TextBox 18"/>
          <p:cNvSpPr txBox="1"/>
          <p:nvPr/>
        </p:nvSpPr>
        <p:spPr>
          <a:xfrm>
            <a:off x="2324674" y="4538560"/>
            <a:ext cx="3222713" cy="745653"/>
          </a:xfrm>
          <a:prstGeom prst="rect">
            <a:avLst/>
          </a:prstGeom>
        </p:spPr>
        <p:txBody>
          <a:bodyPr wrap="square" lIns="0" tIns="0" rIns="0" bIns="0" rtlCol="0" anchor="t">
            <a:spAutoFit/>
          </a:bodyPr>
          <a:lstStyle/>
          <a:p>
            <a:pPr algn="just">
              <a:lnSpc>
                <a:spcPts val="2821"/>
              </a:lnSpc>
            </a:pPr>
            <a:r>
              <a:rPr lang="en-US" sz="3200" spc="33" dirty="0">
                <a:solidFill>
                  <a:srgbClr val="000000"/>
                </a:solidFill>
                <a:latin typeface="DM Sans Bold"/>
              </a:rPr>
              <a:t>Data Collection</a:t>
            </a:r>
          </a:p>
          <a:p>
            <a:pPr marL="0" lvl="0" indent="0" algn="just">
              <a:lnSpc>
                <a:spcPts val="2821"/>
              </a:lnSpc>
              <a:spcBef>
                <a:spcPct val="0"/>
              </a:spcBef>
            </a:pPr>
            <a:endParaRPr lang="en-US" sz="3200" spc="33" dirty="0">
              <a:solidFill>
                <a:srgbClr val="000000"/>
              </a:solidFill>
              <a:latin typeface="DM Sans Bold"/>
            </a:endParaRPr>
          </a:p>
        </p:txBody>
      </p:sp>
      <p:grpSp>
        <p:nvGrpSpPr>
          <p:cNvPr id="19" name="Group 19"/>
          <p:cNvGrpSpPr/>
          <p:nvPr/>
        </p:nvGrpSpPr>
        <p:grpSpPr>
          <a:xfrm>
            <a:off x="6705600" y="2490893"/>
            <a:ext cx="5201034" cy="1341872"/>
            <a:chOff x="0" y="0"/>
            <a:chExt cx="2498436" cy="857492"/>
          </a:xfrm>
        </p:grpSpPr>
        <p:sp>
          <p:nvSpPr>
            <p:cNvPr id="20" name="Freeform 20"/>
            <p:cNvSpPr/>
            <p:nvPr/>
          </p:nvSpPr>
          <p:spPr>
            <a:xfrm>
              <a:off x="0" y="0"/>
              <a:ext cx="2498436" cy="857492"/>
            </a:xfrm>
            <a:custGeom>
              <a:avLst/>
              <a:gdLst/>
              <a:ahLst/>
              <a:cxnLst/>
              <a:rect l="l" t="t" r="r" b="b"/>
              <a:pathLst>
                <a:path w="2498436" h="857492">
                  <a:moveTo>
                    <a:pt x="29702" y="0"/>
                  </a:moveTo>
                  <a:lnTo>
                    <a:pt x="2468733" y="0"/>
                  </a:lnTo>
                  <a:cubicBezTo>
                    <a:pt x="2476611" y="0"/>
                    <a:pt x="2484166" y="3129"/>
                    <a:pt x="2489736" y="8700"/>
                  </a:cubicBezTo>
                  <a:cubicBezTo>
                    <a:pt x="2495307" y="14270"/>
                    <a:pt x="2498436" y="21825"/>
                    <a:pt x="2498436" y="29702"/>
                  </a:cubicBezTo>
                  <a:lnTo>
                    <a:pt x="2498436" y="827790"/>
                  </a:lnTo>
                  <a:cubicBezTo>
                    <a:pt x="2498436" y="835668"/>
                    <a:pt x="2495307" y="843223"/>
                    <a:pt x="2489736" y="848793"/>
                  </a:cubicBezTo>
                  <a:cubicBezTo>
                    <a:pt x="2484166" y="854363"/>
                    <a:pt x="2476611" y="857492"/>
                    <a:pt x="2468733" y="857492"/>
                  </a:cubicBezTo>
                  <a:lnTo>
                    <a:pt x="29702" y="857492"/>
                  </a:lnTo>
                  <a:cubicBezTo>
                    <a:pt x="21825" y="857492"/>
                    <a:pt x="14270" y="854363"/>
                    <a:pt x="8700" y="848793"/>
                  </a:cubicBezTo>
                  <a:cubicBezTo>
                    <a:pt x="3129" y="843223"/>
                    <a:pt x="0" y="835668"/>
                    <a:pt x="0" y="827790"/>
                  </a:cubicBezTo>
                  <a:lnTo>
                    <a:pt x="0" y="29702"/>
                  </a:lnTo>
                  <a:cubicBezTo>
                    <a:pt x="0" y="21825"/>
                    <a:pt x="3129" y="14270"/>
                    <a:pt x="8700" y="8700"/>
                  </a:cubicBezTo>
                  <a:cubicBezTo>
                    <a:pt x="14270" y="3129"/>
                    <a:pt x="21825" y="0"/>
                    <a:pt x="29702" y="0"/>
                  </a:cubicBezTo>
                  <a:close/>
                </a:path>
              </a:pathLst>
            </a:custGeom>
            <a:solidFill>
              <a:srgbClr val="8AB7E2"/>
            </a:solidFill>
          </p:spPr>
          <p:txBody>
            <a:bodyPr/>
            <a:lstStyle/>
            <a:p>
              <a:endParaRPr lang="en-US" sz="3200"/>
            </a:p>
          </p:txBody>
        </p:sp>
        <p:sp>
          <p:nvSpPr>
            <p:cNvPr id="21" name="TextBox 21"/>
            <p:cNvSpPr txBox="1"/>
            <p:nvPr/>
          </p:nvSpPr>
          <p:spPr>
            <a:xfrm>
              <a:off x="0" y="104775"/>
              <a:ext cx="2498436" cy="752717"/>
            </a:xfrm>
            <a:prstGeom prst="rect">
              <a:avLst/>
            </a:prstGeom>
          </p:spPr>
          <p:txBody>
            <a:bodyPr lIns="26612" tIns="26612" rIns="26612" bIns="26612" rtlCol="0" anchor="ctr"/>
            <a:lstStyle/>
            <a:p>
              <a:pPr algn="ctr">
                <a:lnSpc>
                  <a:spcPts val="2079"/>
                </a:lnSpc>
              </a:pPr>
              <a:endParaRPr sz="3200"/>
            </a:p>
          </p:txBody>
        </p:sp>
      </p:grpSp>
      <p:sp>
        <p:nvSpPr>
          <p:cNvPr id="22" name="TextBox 22"/>
          <p:cNvSpPr txBox="1"/>
          <p:nvPr/>
        </p:nvSpPr>
        <p:spPr>
          <a:xfrm>
            <a:off x="6976006" y="2929938"/>
            <a:ext cx="827144" cy="501997"/>
          </a:xfrm>
          <a:prstGeom prst="rect">
            <a:avLst/>
          </a:prstGeom>
        </p:spPr>
        <p:txBody>
          <a:bodyPr lIns="0" tIns="0" rIns="0" bIns="0" rtlCol="0" anchor="t">
            <a:spAutoFit/>
          </a:bodyPr>
          <a:lstStyle/>
          <a:p>
            <a:pPr algn="l">
              <a:lnSpc>
                <a:spcPts val="4023"/>
              </a:lnSpc>
            </a:pPr>
            <a:r>
              <a:rPr lang="en-US" sz="3200" spc="-343">
                <a:solidFill>
                  <a:srgbClr val="000000"/>
                </a:solidFill>
                <a:latin typeface="DM Sans"/>
              </a:rPr>
              <a:t>05.</a:t>
            </a:r>
          </a:p>
        </p:txBody>
      </p:sp>
      <p:sp>
        <p:nvSpPr>
          <p:cNvPr id="23" name="TextBox 23"/>
          <p:cNvSpPr txBox="1"/>
          <p:nvPr/>
        </p:nvSpPr>
        <p:spPr>
          <a:xfrm>
            <a:off x="7722300" y="2944923"/>
            <a:ext cx="4165568" cy="623825"/>
          </a:xfrm>
          <a:prstGeom prst="rect">
            <a:avLst/>
          </a:prstGeom>
        </p:spPr>
        <p:txBody>
          <a:bodyPr wrap="square" lIns="0" tIns="0" rIns="0" bIns="0" rtlCol="0" anchor="t">
            <a:spAutoFit/>
          </a:bodyPr>
          <a:lstStyle/>
          <a:p>
            <a:pPr algn="just">
              <a:lnSpc>
                <a:spcPts val="2890"/>
              </a:lnSpc>
            </a:pPr>
            <a:r>
              <a:rPr lang="en-US" sz="3200" spc="34" dirty="0">
                <a:solidFill>
                  <a:srgbClr val="000000"/>
                </a:solidFill>
                <a:latin typeface="DM Sans Bold"/>
              </a:rPr>
              <a:t>Algorithm Selection</a:t>
            </a:r>
          </a:p>
          <a:p>
            <a:pPr marL="0" lvl="0" indent="0" algn="just">
              <a:lnSpc>
                <a:spcPts val="1370"/>
              </a:lnSpc>
              <a:spcBef>
                <a:spcPct val="0"/>
              </a:spcBef>
            </a:pPr>
            <a:endParaRPr lang="en-US" sz="3200" spc="34" dirty="0">
              <a:solidFill>
                <a:srgbClr val="000000"/>
              </a:solidFill>
              <a:latin typeface="DM Sans Bold"/>
            </a:endParaRPr>
          </a:p>
        </p:txBody>
      </p:sp>
      <p:grpSp>
        <p:nvGrpSpPr>
          <p:cNvPr id="24" name="Group 24"/>
          <p:cNvGrpSpPr/>
          <p:nvPr/>
        </p:nvGrpSpPr>
        <p:grpSpPr>
          <a:xfrm>
            <a:off x="1051463" y="5568212"/>
            <a:ext cx="5348284" cy="1365412"/>
            <a:chOff x="0" y="0"/>
            <a:chExt cx="2342659" cy="857492"/>
          </a:xfrm>
        </p:grpSpPr>
        <p:sp>
          <p:nvSpPr>
            <p:cNvPr id="25" name="Freeform 25"/>
            <p:cNvSpPr/>
            <p:nvPr/>
          </p:nvSpPr>
          <p:spPr>
            <a:xfrm>
              <a:off x="0" y="0"/>
              <a:ext cx="2342659" cy="857492"/>
            </a:xfrm>
            <a:custGeom>
              <a:avLst/>
              <a:gdLst/>
              <a:ahLst/>
              <a:cxnLst/>
              <a:rect l="l" t="t" r="r" b="b"/>
              <a:pathLst>
                <a:path w="2342659" h="857492">
                  <a:moveTo>
                    <a:pt x="31131" y="0"/>
                  </a:moveTo>
                  <a:lnTo>
                    <a:pt x="2311527" y="0"/>
                  </a:lnTo>
                  <a:cubicBezTo>
                    <a:pt x="2319784" y="0"/>
                    <a:pt x="2327702" y="3280"/>
                    <a:pt x="2333540" y="9118"/>
                  </a:cubicBezTo>
                  <a:cubicBezTo>
                    <a:pt x="2339379" y="14956"/>
                    <a:pt x="2342659" y="22875"/>
                    <a:pt x="2342659" y="31131"/>
                  </a:cubicBezTo>
                  <a:lnTo>
                    <a:pt x="2342659" y="826361"/>
                  </a:lnTo>
                  <a:cubicBezTo>
                    <a:pt x="2342659" y="834618"/>
                    <a:pt x="2339379" y="842536"/>
                    <a:pt x="2333540" y="848374"/>
                  </a:cubicBezTo>
                  <a:cubicBezTo>
                    <a:pt x="2327702" y="854212"/>
                    <a:pt x="2319784" y="857492"/>
                    <a:pt x="2311527" y="857492"/>
                  </a:cubicBezTo>
                  <a:lnTo>
                    <a:pt x="31131" y="857492"/>
                  </a:lnTo>
                  <a:cubicBezTo>
                    <a:pt x="22875" y="857492"/>
                    <a:pt x="14956" y="854212"/>
                    <a:pt x="9118" y="848374"/>
                  </a:cubicBezTo>
                  <a:cubicBezTo>
                    <a:pt x="3280" y="842536"/>
                    <a:pt x="0" y="834618"/>
                    <a:pt x="0" y="826361"/>
                  </a:cubicBezTo>
                  <a:lnTo>
                    <a:pt x="0" y="31131"/>
                  </a:lnTo>
                  <a:cubicBezTo>
                    <a:pt x="0" y="22875"/>
                    <a:pt x="3280" y="14956"/>
                    <a:pt x="9118" y="9118"/>
                  </a:cubicBezTo>
                  <a:cubicBezTo>
                    <a:pt x="14956" y="3280"/>
                    <a:pt x="22875" y="0"/>
                    <a:pt x="31131" y="0"/>
                  </a:cubicBezTo>
                  <a:close/>
                </a:path>
              </a:pathLst>
            </a:custGeom>
            <a:solidFill>
              <a:srgbClr val="8AB7E2"/>
            </a:solidFill>
          </p:spPr>
          <p:txBody>
            <a:bodyPr/>
            <a:lstStyle/>
            <a:p>
              <a:endParaRPr lang="en-US" sz="3200"/>
            </a:p>
          </p:txBody>
        </p:sp>
        <p:sp>
          <p:nvSpPr>
            <p:cNvPr id="26" name="TextBox 26"/>
            <p:cNvSpPr txBox="1"/>
            <p:nvPr/>
          </p:nvSpPr>
          <p:spPr>
            <a:xfrm>
              <a:off x="0" y="85725"/>
              <a:ext cx="2342659" cy="771767"/>
            </a:xfrm>
            <a:prstGeom prst="rect">
              <a:avLst/>
            </a:prstGeom>
          </p:spPr>
          <p:txBody>
            <a:bodyPr lIns="27079" tIns="27079" rIns="27079" bIns="27079" rtlCol="0" anchor="ctr"/>
            <a:lstStyle/>
            <a:p>
              <a:pPr algn="ctr">
                <a:lnSpc>
                  <a:spcPts val="1925"/>
                </a:lnSpc>
              </a:pPr>
              <a:endParaRPr sz="3200"/>
            </a:p>
          </p:txBody>
        </p:sp>
      </p:grpSp>
      <p:sp>
        <p:nvSpPr>
          <p:cNvPr id="27" name="TextBox 27"/>
          <p:cNvSpPr txBox="1"/>
          <p:nvPr/>
        </p:nvSpPr>
        <p:spPr>
          <a:xfrm>
            <a:off x="1326612" y="6031762"/>
            <a:ext cx="841654" cy="511615"/>
          </a:xfrm>
          <a:prstGeom prst="rect">
            <a:avLst/>
          </a:prstGeom>
        </p:spPr>
        <p:txBody>
          <a:bodyPr lIns="0" tIns="0" rIns="0" bIns="0" rtlCol="0" anchor="t">
            <a:spAutoFit/>
          </a:bodyPr>
          <a:lstStyle/>
          <a:p>
            <a:pPr algn="l">
              <a:lnSpc>
                <a:spcPts val="4093"/>
              </a:lnSpc>
            </a:pPr>
            <a:r>
              <a:rPr lang="en-US" sz="3200" spc="-349">
                <a:solidFill>
                  <a:srgbClr val="000000"/>
                </a:solidFill>
                <a:latin typeface="DM Sans"/>
              </a:rPr>
              <a:t>03.</a:t>
            </a:r>
          </a:p>
        </p:txBody>
      </p:sp>
      <p:sp>
        <p:nvSpPr>
          <p:cNvPr id="28" name="TextBox 28"/>
          <p:cNvSpPr txBox="1"/>
          <p:nvPr/>
        </p:nvSpPr>
        <p:spPr>
          <a:xfrm>
            <a:off x="2247308" y="5996591"/>
            <a:ext cx="3848692" cy="800155"/>
          </a:xfrm>
          <a:prstGeom prst="rect">
            <a:avLst/>
          </a:prstGeom>
        </p:spPr>
        <p:txBody>
          <a:bodyPr wrap="square" lIns="0" tIns="0" rIns="0" bIns="0" rtlCol="0" anchor="t">
            <a:spAutoFit/>
          </a:bodyPr>
          <a:lstStyle/>
          <a:p>
            <a:pPr algn="just">
              <a:lnSpc>
                <a:spcPts val="2734"/>
              </a:lnSpc>
            </a:pPr>
            <a:r>
              <a:rPr lang="en-US" sz="3200" spc="32" dirty="0">
                <a:solidFill>
                  <a:srgbClr val="000000"/>
                </a:solidFill>
                <a:latin typeface="DM Sans Bold"/>
              </a:rPr>
              <a:t>Data processing</a:t>
            </a:r>
          </a:p>
          <a:p>
            <a:pPr marL="0" lvl="0" indent="0" algn="just">
              <a:lnSpc>
                <a:spcPts val="3454"/>
              </a:lnSpc>
              <a:spcBef>
                <a:spcPct val="0"/>
              </a:spcBef>
            </a:pPr>
            <a:endParaRPr lang="en-US" sz="3200" spc="32" dirty="0">
              <a:solidFill>
                <a:srgbClr val="000000"/>
              </a:solidFill>
              <a:latin typeface="DM Sans Bold"/>
            </a:endParaRPr>
          </a:p>
        </p:txBody>
      </p:sp>
      <p:grpSp>
        <p:nvGrpSpPr>
          <p:cNvPr id="29" name="Group 29"/>
          <p:cNvGrpSpPr/>
          <p:nvPr/>
        </p:nvGrpSpPr>
        <p:grpSpPr>
          <a:xfrm>
            <a:off x="6692506" y="4049494"/>
            <a:ext cx="5214127" cy="1337743"/>
            <a:chOff x="0" y="0"/>
            <a:chExt cx="2514539" cy="857492"/>
          </a:xfrm>
        </p:grpSpPr>
        <p:sp>
          <p:nvSpPr>
            <p:cNvPr id="30" name="Freeform 30"/>
            <p:cNvSpPr/>
            <p:nvPr/>
          </p:nvSpPr>
          <p:spPr>
            <a:xfrm>
              <a:off x="0" y="0"/>
              <a:ext cx="2514539" cy="857492"/>
            </a:xfrm>
            <a:custGeom>
              <a:avLst/>
              <a:gdLst/>
              <a:ahLst/>
              <a:cxnLst/>
              <a:rect l="l" t="t" r="r" b="b"/>
              <a:pathLst>
                <a:path w="2514539" h="857492">
                  <a:moveTo>
                    <a:pt x="29603" y="0"/>
                  </a:moveTo>
                  <a:lnTo>
                    <a:pt x="2484936" y="0"/>
                  </a:lnTo>
                  <a:cubicBezTo>
                    <a:pt x="2501285" y="0"/>
                    <a:pt x="2514539" y="13254"/>
                    <a:pt x="2514539" y="29603"/>
                  </a:cubicBezTo>
                  <a:lnTo>
                    <a:pt x="2514539" y="827889"/>
                  </a:lnTo>
                  <a:cubicBezTo>
                    <a:pt x="2514539" y="835740"/>
                    <a:pt x="2511420" y="843270"/>
                    <a:pt x="2505868" y="848822"/>
                  </a:cubicBezTo>
                  <a:cubicBezTo>
                    <a:pt x="2500317" y="854374"/>
                    <a:pt x="2492787" y="857492"/>
                    <a:pt x="2484936" y="857492"/>
                  </a:cubicBezTo>
                  <a:lnTo>
                    <a:pt x="29603" y="857492"/>
                  </a:lnTo>
                  <a:cubicBezTo>
                    <a:pt x="13254" y="857492"/>
                    <a:pt x="0" y="844239"/>
                    <a:pt x="0" y="827889"/>
                  </a:cubicBezTo>
                  <a:lnTo>
                    <a:pt x="0" y="29603"/>
                  </a:lnTo>
                  <a:cubicBezTo>
                    <a:pt x="0" y="21752"/>
                    <a:pt x="3119" y="14222"/>
                    <a:pt x="8671" y="8671"/>
                  </a:cubicBezTo>
                  <a:cubicBezTo>
                    <a:pt x="14222" y="3119"/>
                    <a:pt x="21752" y="0"/>
                    <a:pt x="29603" y="0"/>
                  </a:cubicBezTo>
                  <a:close/>
                </a:path>
              </a:pathLst>
            </a:custGeom>
            <a:solidFill>
              <a:srgbClr val="8AB7E2"/>
            </a:solidFill>
          </p:spPr>
          <p:txBody>
            <a:bodyPr/>
            <a:lstStyle/>
            <a:p>
              <a:endParaRPr lang="en-US" sz="3200"/>
            </a:p>
          </p:txBody>
        </p:sp>
        <p:sp>
          <p:nvSpPr>
            <p:cNvPr id="31" name="TextBox 31"/>
            <p:cNvSpPr txBox="1"/>
            <p:nvPr/>
          </p:nvSpPr>
          <p:spPr>
            <a:xfrm>
              <a:off x="0" y="85725"/>
              <a:ext cx="2514539" cy="771767"/>
            </a:xfrm>
            <a:prstGeom prst="rect">
              <a:avLst/>
            </a:prstGeom>
          </p:spPr>
          <p:txBody>
            <a:bodyPr lIns="26530" tIns="26530" rIns="26530" bIns="26530" rtlCol="0" anchor="ctr"/>
            <a:lstStyle/>
            <a:p>
              <a:pPr algn="ctr">
                <a:lnSpc>
                  <a:spcPts val="1925"/>
                </a:lnSpc>
              </a:pPr>
              <a:endParaRPr sz="3200"/>
            </a:p>
          </p:txBody>
        </p:sp>
      </p:grpSp>
      <p:sp>
        <p:nvSpPr>
          <p:cNvPr id="32" name="TextBox 32"/>
          <p:cNvSpPr txBox="1"/>
          <p:nvPr/>
        </p:nvSpPr>
        <p:spPr>
          <a:xfrm>
            <a:off x="6962081" y="4486723"/>
            <a:ext cx="824599" cy="501997"/>
          </a:xfrm>
          <a:prstGeom prst="rect">
            <a:avLst/>
          </a:prstGeom>
        </p:spPr>
        <p:txBody>
          <a:bodyPr lIns="0" tIns="0" rIns="0" bIns="0" rtlCol="0" anchor="t">
            <a:spAutoFit/>
          </a:bodyPr>
          <a:lstStyle/>
          <a:p>
            <a:pPr algn="l">
              <a:lnSpc>
                <a:spcPts val="4010"/>
              </a:lnSpc>
            </a:pPr>
            <a:r>
              <a:rPr lang="en-US" sz="3200" spc="-342">
                <a:solidFill>
                  <a:srgbClr val="000000"/>
                </a:solidFill>
                <a:latin typeface="DM Sans"/>
              </a:rPr>
              <a:t>06.</a:t>
            </a:r>
          </a:p>
        </p:txBody>
      </p:sp>
      <p:sp>
        <p:nvSpPr>
          <p:cNvPr id="33" name="TextBox 33"/>
          <p:cNvSpPr txBox="1"/>
          <p:nvPr/>
        </p:nvSpPr>
        <p:spPr>
          <a:xfrm>
            <a:off x="7869869" y="4232150"/>
            <a:ext cx="3461188" cy="1198341"/>
          </a:xfrm>
          <a:prstGeom prst="rect">
            <a:avLst/>
          </a:prstGeom>
        </p:spPr>
        <p:txBody>
          <a:bodyPr wrap="square" lIns="0" tIns="0" rIns="0" bIns="0" rtlCol="0" anchor="t">
            <a:spAutoFit/>
          </a:bodyPr>
          <a:lstStyle/>
          <a:p>
            <a:pPr algn="l"/>
            <a:r>
              <a:rPr lang="en-US" sz="3200" spc="31" dirty="0">
                <a:solidFill>
                  <a:srgbClr val="000000"/>
                </a:solidFill>
                <a:latin typeface="DM Sans Bold"/>
              </a:rPr>
              <a:t>Model </a:t>
            </a:r>
            <a:r>
              <a:rPr lang="en-US" sz="3200" spc="31" dirty="0" err="1">
                <a:solidFill>
                  <a:srgbClr val="000000"/>
                </a:solidFill>
                <a:latin typeface="DM Sans Bold"/>
              </a:rPr>
              <a:t>traning</a:t>
            </a:r>
            <a:r>
              <a:rPr lang="en-US" sz="3200" spc="31" dirty="0">
                <a:solidFill>
                  <a:srgbClr val="000000"/>
                </a:solidFill>
                <a:latin typeface="DM Sans Bold"/>
              </a:rPr>
              <a:t> and Evaluation </a:t>
            </a:r>
          </a:p>
          <a:p>
            <a:pPr marL="0" lvl="0" indent="0" algn="just">
              <a:lnSpc>
                <a:spcPts val="987"/>
              </a:lnSpc>
              <a:spcBef>
                <a:spcPct val="0"/>
              </a:spcBef>
            </a:pPr>
            <a:endParaRPr lang="en-US" sz="3200" spc="31" dirty="0">
              <a:solidFill>
                <a:srgbClr val="000000"/>
              </a:solidFill>
              <a:latin typeface="DM Sans Bold"/>
            </a:endParaRPr>
          </a:p>
        </p:txBody>
      </p:sp>
      <p:grpSp>
        <p:nvGrpSpPr>
          <p:cNvPr id="34" name="Group 34"/>
          <p:cNvGrpSpPr/>
          <p:nvPr/>
        </p:nvGrpSpPr>
        <p:grpSpPr>
          <a:xfrm>
            <a:off x="1027480" y="7114599"/>
            <a:ext cx="5372267" cy="1353265"/>
            <a:chOff x="0" y="0"/>
            <a:chExt cx="2342659" cy="857492"/>
          </a:xfrm>
        </p:grpSpPr>
        <p:sp>
          <p:nvSpPr>
            <p:cNvPr id="35" name="Freeform 35"/>
            <p:cNvSpPr/>
            <p:nvPr/>
          </p:nvSpPr>
          <p:spPr>
            <a:xfrm>
              <a:off x="0" y="0"/>
              <a:ext cx="2342659" cy="857492"/>
            </a:xfrm>
            <a:custGeom>
              <a:avLst/>
              <a:gdLst/>
              <a:ahLst/>
              <a:cxnLst/>
              <a:rect l="l" t="t" r="r" b="b"/>
              <a:pathLst>
                <a:path w="2342659" h="857492">
                  <a:moveTo>
                    <a:pt x="31411" y="0"/>
                  </a:moveTo>
                  <a:lnTo>
                    <a:pt x="2311248" y="0"/>
                  </a:lnTo>
                  <a:cubicBezTo>
                    <a:pt x="2319578" y="0"/>
                    <a:pt x="2327568" y="3309"/>
                    <a:pt x="2333459" y="9200"/>
                  </a:cubicBezTo>
                  <a:cubicBezTo>
                    <a:pt x="2339349" y="15091"/>
                    <a:pt x="2342659" y="23080"/>
                    <a:pt x="2342659" y="31411"/>
                  </a:cubicBezTo>
                  <a:lnTo>
                    <a:pt x="2342659" y="826082"/>
                  </a:lnTo>
                  <a:cubicBezTo>
                    <a:pt x="2342659" y="834412"/>
                    <a:pt x="2339349" y="842402"/>
                    <a:pt x="2333459" y="848292"/>
                  </a:cubicBezTo>
                  <a:cubicBezTo>
                    <a:pt x="2327568" y="854183"/>
                    <a:pt x="2319578" y="857492"/>
                    <a:pt x="2311248" y="857492"/>
                  </a:cubicBezTo>
                  <a:lnTo>
                    <a:pt x="31411" y="857492"/>
                  </a:lnTo>
                  <a:cubicBezTo>
                    <a:pt x="23080" y="857492"/>
                    <a:pt x="15091" y="854183"/>
                    <a:pt x="9200" y="848292"/>
                  </a:cubicBezTo>
                  <a:cubicBezTo>
                    <a:pt x="3309" y="842402"/>
                    <a:pt x="0" y="834412"/>
                    <a:pt x="0" y="826082"/>
                  </a:cubicBezTo>
                  <a:lnTo>
                    <a:pt x="0" y="31411"/>
                  </a:lnTo>
                  <a:cubicBezTo>
                    <a:pt x="0" y="23080"/>
                    <a:pt x="3309" y="15091"/>
                    <a:pt x="9200" y="9200"/>
                  </a:cubicBezTo>
                  <a:cubicBezTo>
                    <a:pt x="15091" y="3309"/>
                    <a:pt x="23080" y="0"/>
                    <a:pt x="31411" y="0"/>
                  </a:cubicBezTo>
                  <a:close/>
                </a:path>
              </a:pathLst>
            </a:custGeom>
            <a:solidFill>
              <a:srgbClr val="8AB7E2"/>
            </a:solidFill>
          </p:spPr>
          <p:txBody>
            <a:bodyPr/>
            <a:lstStyle/>
            <a:p>
              <a:endParaRPr lang="en-US" sz="3200"/>
            </a:p>
          </p:txBody>
        </p:sp>
        <p:sp>
          <p:nvSpPr>
            <p:cNvPr id="36" name="TextBox 36"/>
            <p:cNvSpPr txBox="1"/>
            <p:nvPr/>
          </p:nvSpPr>
          <p:spPr>
            <a:xfrm>
              <a:off x="0" y="123825"/>
              <a:ext cx="2342659" cy="733667"/>
            </a:xfrm>
            <a:prstGeom prst="rect">
              <a:avLst/>
            </a:prstGeom>
          </p:spPr>
          <p:txBody>
            <a:bodyPr lIns="26838" tIns="26838" rIns="26838" bIns="26838" rtlCol="0" anchor="ctr"/>
            <a:lstStyle/>
            <a:p>
              <a:pPr algn="ctr">
                <a:lnSpc>
                  <a:spcPts val="2617"/>
                </a:lnSpc>
              </a:pPr>
              <a:endParaRPr sz="3200"/>
            </a:p>
          </p:txBody>
        </p:sp>
      </p:grpSp>
      <p:sp>
        <p:nvSpPr>
          <p:cNvPr id="37" name="TextBox 37"/>
          <p:cNvSpPr txBox="1"/>
          <p:nvPr/>
        </p:nvSpPr>
        <p:spPr>
          <a:xfrm>
            <a:off x="1300182" y="7565432"/>
            <a:ext cx="834167" cy="511615"/>
          </a:xfrm>
          <a:prstGeom prst="rect">
            <a:avLst/>
          </a:prstGeom>
        </p:spPr>
        <p:txBody>
          <a:bodyPr lIns="0" tIns="0" rIns="0" bIns="0" rtlCol="0" anchor="t">
            <a:spAutoFit/>
          </a:bodyPr>
          <a:lstStyle/>
          <a:p>
            <a:pPr algn="l">
              <a:lnSpc>
                <a:spcPts val="4057"/>
              </a:lnSpc>
            </a:pPr>
            <a:r>
              <a:rPr lang="en-US" sz="3200" spc="-346">
                <a:solidFill>
                  <a:srgbClr val="000000"/>
                </a:solidFill>
                <a:latin typeface="DM Sans"/>
              </a:rPr>
              <a:t>04.</a:t>
            </a:r>
          </a:p>
        </p:txBody>
      </p:sp>
      <p:sp>
        <p:nvSpPr>
          <p:cNvPr id="38" name="TextBox 38"/>
          <p:cNvSpPr txBox="1"/>
          <p:nvPr/>
        </p:nvSpPr>
        <p:spPr>
          <a:xfrm>
            <a:off x="1944612" y="7597940"/>
            <a:ext cx="3602775" cy="386581"/>
          </a:xfrm>
          <a:prstGeom prst="rect">
            <a:avLst/>
          </a:prstGeom>
        </p:spPr>
        <p:txBody>
          <a:bodyPr wrap="square" lIns="0" tIns="0" rIns="0" bIns="0" rtlCol="0" anchor="t">
            <a:spAutoFit/>
          </a:bodyPr>
          <a:lstStyle/>
          <a:p>
            <a:pPr algn="ctr">
              <a:lnSpc>
                <a:spcPts val="2813"/>
              </a:lnSpc>
              <a:spcBef>
                <a:spcPct val="0"/>
              </a:spcBef>
            </a:pPr>
            <a:r>
              <a:rPr lang="en-US" sz="3200" spc="-164" dirty="0">
                <a:solidFill>
                  <a:srgbClr val="000000"/>
                </a:solidFill>
                <a:latin typeface="DM Sans Bold"/>
              </a:rPr>
              <a:t>Data </a:t>
            </a:r>
            <a:r>
              <a:rPr lang="en-US" sz="3200" spc="-164" dirty="0" err="1">
                <a:solidFill>
                  <a:srgbClr val="000000"/>
                </a:solidFill>
                <a:latin typeface="DM Sans Bold"/>
              </a:rPr>
              <a:t>visualisation</a:t>
            </a:r>
            <a:endParaRPr lang="en-US" sz="3200" spc="-164" dirty="0">
              <a:solidFill>
                <a:srgbClr val="000000"/>
              </a:solidFill>
              <a:latin typeface="DM Sans Bold"/>
            </a:endParaRPr>
          </a:p>
        </p:txBody>
      </p:sp>
      <p:grpSp>
        <p:nvGrpSpPr>
          <p:cNvPr id="39" name="Group 39"/>
          <p:cNvGrpSpPr/>
          <p:nvPr/>
        </p:nvGrpSpPr>
        <p:grpSpPr>
          <a:xfrm>
            <a:off x="6705600" y="5568212"/>
            <a:ext cx="5182268" cy="1332951"/>
            <a:chOff x="0" y="0"/>
            <a:chExt cx="2515157" cy="857492"/>
          </a:xfrm>
        </p:grpSpPr>
        <p:sp>
          <p:nvSpPr>
            <p:cNvPr id="40" name="Freeform 40"/>
            <p:cNvSpPr/>
            <p:nvPr/>
          </p:nvSpPr>
          <p:spPr>
            <a:xfrm>
              <a:off x="0" y="0"/>
              <a:ext cx="2515157" cy="857492"/>
            </a:xfrm>
            <a:custGeom>
              <a:avLst/>
              <a:gdLst/>
              <a:ahLst/>
              <a:cxnLst/>
              <a:rect l="l" t="t" r="r" b="b"/>
              <a:pathLst>
                <a:path w="2515157" h="857492">
                  <a:moveTo>
                    <a:pt x="29702" y="0"/>
                  </a:moveTo>
                  <a:lnTo>
                    <a:pt x="2485454" y="0"/>
                  </a:lnTo>
                  <a:cubicBezTo>
                    <a:pt x="2493332" y="0"/>
                    <a:pt x="2500887" y="3129"/>
                    <a:pt x="2506457" y="8700"/>
                  </a:cubicBezTo>
                  <a:cubicBezTo>
                    <a:pt x="2512027" y="14270"/>
                    <a:pt x="2515157" y="21825"/>
                    <a:pt x="2515157" y="29702"/>
                  </a:cubicBezTo>
                  <a:lnTo>
                    <a:pt x="2515157" y="827790"/>
                  </a:lnTo>
                  <a:cubicBezTo>
                    <a:pt x="2515157" y="835668"/>
                    <a:pt x="2512027" y="843223"/>
                    <a:pt x="2506457" y="848793"/>
                  </a:cubicBezTo>
                  <a:cubicBezTo>
                    <a:pt x="2500887" y="854363"/>
                    <a:pt x="2493332" y="857492"/>
                    <a:pt x="2485454" y="857492"/>
                  </a:cubicBezTo>
                  <a:lnTo>
                    <a:pt x="29702" y="857492"/>
                  </a:lnTo>
                  <a:cubicBezTo>
                    <a:pt x="21825" y="857492"/>
                    <a:pt x="14270" y="854363"/>
                    <a:pt x="8700" y="848793"/>
                  </a:cubicBezTo>
                  <a:cubicBezTo>
                    <a:pt x="3129" y="843223"/>
                    <a:pt x="0" y="835668"/>
                    <a:pt x="0" y="827790"/>
                  </a:cubicBezTo>
                  <a:lnTo>
                    <a:pt x="0" y="29702"/>
                  </a:lnTo>
                  <a:cubicBezTo>
                    <a:pt x="0" y="21825"/>
                    <a:pt x="3129" y="14270"/>
                    <a:pt x="8700" y="8700"/>
                  </a:cubicBezTo>
                  <a:cubicBezTo>
                    <a:pt x="14270" y="3129"/>
                    <a:pt x="21825" y="0"/>
                    <a:pt x="29702" y="0"/>
                  </a:cubicBezTo>
                  <a:close/>
                </a:path>
              </a:pathLst>
            </a:custGeom>
            <a:solidFill>
              <a:srgbClr val="8AB7E2"/>
            </a:solidFill>
          </p:spPr>
          <p:txBody>
            <a:bodyPr/>
            <a:lstStyle/>
            <a:p>
              <a:endParaRPr lang="en-US" sz="3200"/>
            </a:p>
          </p:txBody>
        </p:sp>
        <p:sp>
          <p:nvSpPr>
            <p:cNvPr id="41" name="TextBox 41"/>
            <p:cNvSpPr txBox="1"/>
            <p:nvPr/>
          </p:nvSpPr>
          <p:spPr>
            <a:xfrm>
              <a:off x="0" y="85725"/>
              <a:ext cx="2515157" cy="771767"/>
            </a:xfrm>
            <a:prstGeom prst="rect">
              <a:avLst/>
            </a:prstGeom>
          </p:spPr>
          <p:txBody>
            <a:bodyPr lIns="26435" tIns="26435" rIns="26435" bIns="26435" rtlCol="0" anchor="ctr"/>
            <a:lstStyle/>
            <a:p>
              <a:pPr algn="ctr">
                <a:lnSpc>
                  <a:spcPts val="1925"/>
                </a:lnSpc>
              </a:pPr>
              <a:endParaRPr sz="3200"/>
            </a:p>
          </p:txBody>
        </p:sp>
      </p:grpSp>
      <p:sp>
        <p:nvSpPr>
          <p:cNvPr id="42" name="TextBox 42"/>
          <p:cNvSpPr txBox="1"/>
          <p:nvPr/>
        </p:nvSpPr>
        <p:spPr>
          <a:xfrm>
            <a:off x="6881022" y="5980231"/>
            <a:ext cx="821645" cy="501997"/>
          </a:xfrm>
          <a:prstGeom prst="rect">
            <a:avLst/>
          </a:prstGeom>
        </p:spPr>
        <p:txBody>
          <a:bodyPr lIns="0" tIns="0" rIns="0" bIns="0" rtlCol="0" anchor="t">
            <a:spAutoFit/>
          </a:bodyPr>
          <a:lstStyle/>
          <a:p>
            <a:pPr algn="l">
              <a:lnSpc>
                <a:spcPts val="3996"/>
              </a:lnSpc>
            </a:pPr>
            <a:r>
              <a:rPr lang="en-US" sz="3200" spc="-341" dirty="0">
                <a:solidFill>
                  <a:srgbClr val="000000"/>
                </a:solidFill>
                <a:latin typeface="DM Sans"/>
              </a:rPr>
              <a:t>07.</a:t>
            </a:r>
          </a:p>
        </p:txBody>
      </p:sp>
      <p:sp>
        <p:nvSpPr>
          <p:cNvPr id="43" name="TextBox 43"/>
          <p:cNvSpPr txBox="1"/>
          <p:nvPr/>
        </p:nvSpPr>
        <p:spPr>
          <a:xfrm>
            <a:off x="7434132" y="6130361"/>
            <a:ext cx="5690584" cy="559705"/>
          </a:xfrm>
          <a:prstGeom prst="rect">
            <a:avLst/>
          </a:prstGeom>
        </p:spPr>
        <p:txBody>
          <a:bodyPr wrap="square" lIns="0" tIns="0" rIns="0" bIns="0" rtlCol="0" anchor="t">
            <a:spAutoFit/>
          </a:bodyPr>
          <a:lstStyle/>
          <a:p>
            <a:pPr algn="just">
              <a:lnSpc>
                <a:spcPts val="2669"/>
              </a:lnSpc>
            </a:pPr>
            <a:r>
              <a:rPr lang="en-US" sz="3200" spc="31" dirty="0">
                <a:solidFill>
                  <a:srgbClr val="000000"/>
                </a:solidFill>
                <a:latin typeface="DM Sans Bold"/>
              </a:rPr>
              <a:t>Model improvements</a:t>
            </a:r>
          </a:p>
          <a:p>
            <a:pPr marL="0" lvl="0" indent="0" algn="just">
              <a:lnSpc>
                <a:spcPts val="983"/>
              </a:lnSpc>
              <a:spcBef>
                <a:spcPct val="0"/>
              </a:spcBef>
            </a:pPr>
            <a:endParaRPr lang="en-US" sz="3200" spc="31" dirty="0">
              <a:solidFill>
                <a:srgbClr val="000000"/>
              </a:solidFill>
              <a:latin typeface="DM Sans Bold"/>
            </a:endParaRPr>
          </a:p>
        </p:txBody>
      </p:sp>
      <p:grpSp>
        <p:nvGrpSpPr>
          <p:cNvPr id="44" name="Group 44"/>
          <p:cNvGrpSpPr/>
          <p:nvPr/>
        </p:nvGrpSpPr>
        <p:grpSpPr>
          <a:xfrm>
            <a:off x="6692506" y="7114599"/>
            <a:ext cx="5182267" cy="1353265"/>
            <a:chOff x="0" y="0"/>
            <a:chExt cx="2485697" cy="857492"/>
          </a:xfrm>
        </p:grpSpPr>
        <p:sp>
          <p:nvSpPr>
            <p:cNvPr id="45" name="Freeform 45"/>
            <p:cNvSpPr/>
            <p:nvPr/>
          </p:nvSpPr>
          <p:spPr>
            <a:xfrm>
              <a:off x="0" y="0"/>
              <a:ext cx="2485697" cy="857492"/>
            </a:xfrm>
            <a:custGeom>
              <a:avLst/>
              <a:gdLst/>
              <a:ahLst/>
              <a:cxnLst/>
              <a:rect l="l" t="t" r="r" b="b"/>
              <a:pathLst>
                <a:path w="2485697" h="857492">
                  <a:moveTo>
                    <a:pt x="29603" y="0"/>
                  </a:moveTo>
                  <a:lnTo>
                    <a:pt x="2456094" y="0"/>
                  </a:lnTo>
                  <a:cubicBezTo>
                    <a:pt x="2463945" y="0"/>
                    <a:pt x="2471475" y="3119"/>
                    <a:pt x="2477027" y="8671"/>
                  </a:cubicBezTo>
                  <a:cubicBezTo>
                    <a:pt x="2482579" y="14222"/>
                    <a:pt x="2485697" y="21752"/>
                    <a:pt x="2485697" y="29603"/>
                  </a:cubicBezTo>
                  <a:lnTo>
                    <a:pt x="2485697" y="827889"/>
                  </a:lnTo>
                  <a:cubicBezTo>
                    <a:pt x="2485697" y="835740"/>
                    <a:pt x="2482579" y="843270"/>
                    <a:pt x="2477027" y="848822"/>
                  </a:cubicBezTo>
                  <a:cubicBezTo>
                    <a:pt x="2471475" y="854374"/>
                    <a:pt x="2463945" y="857492"/>
                    <a:pt x="2456094" y="857492"/>
                  </a:cubicBezTo>
                  <a:lnTo>
                    <a:pt x="29603" y="857492"/>
                  </a:lnTo>
                  <a:cubicBezTo>
                    <a:pt x="13254" y="857492"/>
                    <a:pt x="0" y="844239"/>
                    <a:pt x="0" y="827889"/>
                  </a:cubicBezTo>
                  <a:lnTo>
                    <a:pt x="0" y="29603"/>
                  </a:lnTo>
                  <a:cubicBezTo>
                    <a:pt x="0" y="21752"/>
                    <a:pt x="3119" y="14222"/>
                    <a:pt x="8671" y="8671"/>
                  </a:cubicBezTo>
                  <a:cubicBezTo>
                    <a:pt x="14222" y="3119"/>
                    <a:pt x="21752" y="0"/>
                    <a:pt x="29603" y="0"/>
                  </a:cubicBezTo>
                  <a:close/>
                </a:path>
              </a:pathLst>
            </a:custGeom>
            <a:solidFill>
              <a:srgbClr val="8AB7E2"/>
            </a:solidFill>
          </p:spPr>
          <p:txBody>
            <a:bodyPr/>
            <a:lstStyle/>
            <a:p>
              <a:endParaRPr lang="en-US" sz="3200"/>
            </a:p>
          </p:txBody>
        </p:sp>
        <p:sp>
          <p:nvSpPr>
            <p:cNvPr id="46" name="TextBox 46"/>
            <p:cNvSpPr txBox="1"/>
            <p:nvPr/>
          </p:nvSpPr>
          <p:spPr>
            <a:xfrm>
              <a:off x="0" y="85725"/>
              <a:ext cx="2485697" cy="771767"/>
            </a:xfrm>
            <a:prstGeom prst="rect">
              <a:avLst/>
            </a:prstGeom>
          </p:spPr>
          <p:txBody>
            <a:bodyPr lIns="26838" tIns="26838" rIns="26838" bIns="26838" rtlCol="0" anchor="ctr"/>
            <a:lstStyle/>
            <a:p>
              <a:pPr algn="ctr">
                <a:lnSpc>
                  <a:spcPts val="1925"/>
                </a:lnSpc>
              </a:pPr>
              <a:endParaRPr sz="3200"/>
            </a:p>
          </p:txBody>
        </p:sp>
      </p:grpSp>
      <p:sp>
        <p:nvSpPr>
          <p:cNvPr id="47" name="TextBox 47"/>
          <p:cNvSpPr txBox="1"/>
          <p:nvPr/>
        </p:nvSpPr>
        <p:spPr>
          <a:xfrm>
            <a:off x="6965209" y="7566169"/>
            <a:ext cx="834167" cy="511615"/>
          </a:xfrm>
          <a:prstGeom prst="rect">
            <a:avLst/>
          </a:prstGeom>
        </p:spPr>
        <p:txBody>
          <a:bodyPr lIns="0" tIns="0" rIns="0" bIns="0" rtlCol="0" anchor="t">
            <a:spAutoFit/>
          </a:bodyPr>
          <a:lstStyle/>
          <a:p>
            <a:pPr algn="l">
              <a:lnSpc>
                <a:spcPts val="4057"/>
              </a:lnSpc>
            </a:pPr>
            <a:r>
              <a:rPr lang="en-US" sz="3200" spc="-346">
                <a:solidFill>
                  <a:srgbClr val="000000"/>
                </a:solidFill>
                <a:latin typeface="DM Sans"/>
              </a:rPr>
              <a:t>08.</a:t>
            </a:r>
          </a:p>
        </p:txBody>
      </p:sp>
      <p:sp>
        <p:nvSpPr>
          <p:cNvPr id="48" name="TextBox 48"/>
          <p:cNvSpPr txBox="1"/>
          <p:nvPr/>
        </p:nvSpPr>
        <p:spPr>
          <a:xfrm>
            <a:off x="7885911" y="7573845"/>
            <a:ext cx="3620289" cy="559705"/>
          </a:xfrm>
          <a:prstGeom prst="rect">
            <a:avLst/>
          </a:prstGeom>
        </p:spPr>
        <p:txBody>
          <a:bodyPr wrap="square" lIns="0" tIns="0" rIns="0" bIns="0" rtlCol="0" anchor="t">
            <a:spAutoFit/>
          </a:bodyPr>
          <a:lstStyle/>
          <a:p>
            <a:pPr algn="just">
              <a:lnSpc>
                <a:spcPts val="2710"/>
              </a:lnSpc>
            </a:pPr>
            <a:r>
              <a:rPr lang="en-US" sz="3200" spc="32" dirty="0">
                <a:solidFill>
                  <a:srgbClr val="000000"/>
                </a:solidFill>
                <a:latin typeface="DM Sans Bold"/>
              </a:rPr>
              <a:t>Data prediction</a:t>
            </a:r>
          </a:p>
          <a:p>
            <a:pPr marL="0" lvl="0" indent="0" algn="just">
              <a:lnSpc>
                <a:spcPts val="998"/>
              </a:lnSpc>
              <a:spcBef>
                <a:spcPct val="0"/>
              </a:spcBef>
            </a:pPr>
            <a:endParaRPr lang="en-US" sz="3200" spc="32" dirty="0">
              <a:solidFill>
                <a:srgbClr val="000000"/>
              </a:solidFill>
              <a:latin typeface="DM Sans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946085" y="2856980"/>
            <a:ext cx="9337203" cy="496483"/>
          </a:xfrm>
          <a:prstGeom prst="rect">
            <a:avLst/>
          </a:prstGeom>
        </p:spPr>
        <p:txBody>
          <a:bodyPr wrap="square" lIns="0" tIns="0" rIns="0" bIns="0" rtlCol="0" anchor="t">
            <a:spAutoFit/>
          </a:bodyPr>
          <a:lstStyle/>
          <a:p>
            <a:pPr algn="ctr">
              <a:lnSpc>
                <a:spcPts val="3722"/>
              </a:lnSpc>
            </a:pPr>
            <a:r>
              <a:rPr lang="en-US" sz="3837" dirty="0">
                <a:solidFill>
                  <a:srgbClr val="000000"/>
                </a:solidFill>
                <a:latin typeface="DM Sans Bold"/>
              </a:rPr>
              <a:t>Student Performance Predictor</a:t>
            </a:r>
          </a:p>
        </p:txBody>
      </p:sp>
      <p:sp>
        <p:nvSpPr>
          <p:cNvPr id="4" name="TextBox 4"/>
          <p:cNvSpPr txBox="1"/>
          <p:nvPr/>
        </p:nvSpPr>
        <p:spPr>
          <a:xfrm>
            <a:off x="924749" y="4083651"/>
            <a:ext cx="14996713" cy="3772058"/>
          </a:xfrm>
          <a:prstGeom prst="rect">
            <a:avLst/>
          </a:prstGeom>
        </p:spPr>
        <p:txBody>
          <a:bodyPr wrap="square" lIns="0" tIns="0" rIns="0" bIns="0" rtlCol="0" anchor="t">
            <a:spAutoFit/>
          </a:bodyPr>
          <a:lstStyle/>
          <a:p>
            <a:pPr marL="457200" lvl="0" indent="-457200">
              <a:spcBef>
                <a:spcPct val="0"/>
              </a:spcBef>
              <a:buFont typeface="Arial" panose="020B0604020202020204" pitchFamily="34" charset="0"/>
              <a:buChar char="•"/>
            </a:pPr>
            <a:r>
              <a:rPr lang="en-US" sz="3600" b="1" spc="163" dirty="0">
                <a:solidFill>
                  <a:srgbClr val="000000"/>
                </a:solidFill>
              </a:rPr>
              <a:t>Problem </a:t>
            </a:r>
            <a:r>
              <a:rPr lang="en-US" sz="3600" b="1" spc="163" dirty="0" err="1">
                <a:solidFill>
                  <a:srgbClr val="000000"/>
                </a:solidFill>
              </a:rPr>
              <a:t>Statement:</a:t>
            </a:r>
            <a:r>
              <a:rPr lang="en-US" sz="3600" u="none" spc="163" dirty="0" err="1">
                <a:solidFill>
                  <a:srgbClr val="000000"/>
                </a:solidFill>
              </a:rPr>
              <a:t>The</a:t>
            </a:r>
            <a:r>
              <a:rPr lang="en-US" sz="3600" u="none" spc="163" dirty="0">
                <a:solidFill>
                  <a:srgbClr val="000000"/>
                </a:solidFill>
              </a:rPr>
              <a:t> goal is to develop a model that predicts student performance based on various factors such as demographics, study habits, attendance, and past academic records.</a:t>
            </a:r>
          </a:p>
          <a:p>
            <a:pPr marL="457200" lvl="0" indent="-457200">
              <a:spcBef>
                <a:spcPct val="0"/>
              </a:spcBef>
              <a:buFont typeface="Arial" panose="020B0604020202020204" pitchFamily="34" charset="0"/>
              <a:buChar char="•"/>
            </a:pPr>
            <a:endParaRPr lang="en-US" sz="3600" u="none" spc="163" dirty="0">
              <a:solidFill>
                <a:srgbClr val="000000"/>
              </a:solidFill>
            </a:endParaRPr>
          </a:p>
          <a:p>
            <a:pPr marL="457200" lvl="0" indent="-457200">
              <a:spcBef>
                <a:spcPct val="0"/>
              </a:spcBef>
              <a:buFont typeface="Arial" panose="020B0604020202020204" pitchFamily="34" charset="0"/>
              <a:buChar char="•"/>
            </a:pPr>
            <a:r>
              <a:rPr lang="en-US" sz="3600" b="1" spc="163" dirty="0">
                <a:solidFill>
                  <a:srgbClr val="000000"/>
                </a:solidFill>
              </a:rPr>
              <a:t>Impact:</a:t>
            </a:r>
            <a:r>
              <a:rPr lang="en-US" sz="3600" u="none" spc="163" dirty="0">
                <a:solidFill>
                  <a:srgbClr val="000000"/>
                </a:solidFill>
              </a:rPr>
              <a:t> Early identification of at-risk students enables targeted educational interventions to support those students.</a:t>
            </a:r>
          </a:p>
          <a:p>
            <a:pPr marL="0" lvl="0" indent="0" algn="ctr">
              <a:lnSpc>
                <a:spcPts val="3678"/>
              </a:lnSpc>
              <a:spcBef>
                <a:spcPct val="0"/>
              </a:spcBef>
            </a:pPr>
            <a:endParaRPr lang="en-US" sz="2724" u="none" spc="163" dirty="0">
              <a:solidFill>
                <a:srgbClr val="000000"/>
              </a:solidFill>
            </a:endParaRPr>
          </a:p>
        </p:txBody>
      </p:sp>
      <p:sp>
        <p:nvSpPr>
          <p:cNvPr id="5" name="TextBox 5"/>
          <p:cNvSpPr txBox="1"/>
          <p:nvPr/>
        </p:nvSpPr>
        <p:spPr>
          <a:xfrm>
            <a:off x="-241859" y="954704"/>
            <a:ext cx="13067931" cy="2910605"/>
          </a:xfrm>
          <a:prstGeom prst="rect">
            <a:avLst/>
          </a:prstGeom>
        </p:spPr>
        <p:txBody>
          <a:bodyPr wrap="square" lIns="0" tIns="0" rIns="0" bIns="0" rtlCol="0" anchor="t">
            <a:spAutoFit/>
          </a:bodyPr>
          <a:lstStyle/>
          <a:p>
            <a:pPr algn="l">
              <a:lnSpc>
                <a:spcPts val="11107"/>
              </a:lnSpc>
            </a:pPr>
            <a:r>
              <a:rPr lang="en-US" sz="8000" dirty="0">
                <a:solidFill>
                  <a:srgbClr val="000000"/>
                </a:solidFill>
                <a:latin typeface="DM Sans Bold"/>
              </a:rPr>
              <a:t>     </a:t>
            </a:r>
            <a:r>
              <a:rPr lang="en-US" sz="6600" dirty="0">
                <a:solidFill>
                  <a:srgbClr val="000000"/>
                </a:solidFill>
                <a:latin typeface="DM Sans Bold"/>
              </a:rPr>
              <a:t>1. Topic Selection:</a:t>
            </a:r>
          </a:p>
          <a:p>
            <a:pPr algn="l">
              <a:lnSpc>
                <a:spcPts val="11107"/>
              </a:lnSpc>
            </a:pPr>
            <a:endParaRPr lang="en-US" sz="9600" dirty="0">
              <a:solidFill>
                <a:srgbClr val="000000"/>
              </a:solidFill>
              <a:latin typeface="DM Sans Bold"/>
            </a:endParaRPr>
          </a:p>
        </p:txBody>
      </p:sp>
      <p:sp>
        <p:nvSpPr>
          <p:cNvPr id="6" name="Freeform 6"/>
          <p:cNvSpPr/>
          <p:nvPr/>
        </p:nvSpPr>
        <p:spPr>
          <a:xfrm>
            <a:off x="-2329398" y="9017983"/>
            <a:ext cx="4899948" cy="3344214"/>
          </a:xfrm>
          <a:custGeom>
            <a:avLst/>
            <a:gdLst/>
            <a:ahLst/>
            <a:cxnLst/>
            <a:rect l="l" t="t" r="r" b="b"/>
            <a:pathLst>
              <a:path w="4899948" h="3344214">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4144571" y="9769672"/>
            <a:ext cx="3296956" cy="809253"/>
          </a:xfrm>
          <a:custGeom>
            <a:avLst/>
            <a:gdLst/>
            <a:ahLst/>
            <a:cxnLst/>
            <a:rect l="l" t="t" r="r" b="b"/>
            <a:pathLst>
              <a:path w="3296956" h="809253">
                <a:moveTo>
                  <a:pt x="0" y="0"/>
                </a:moveTo>
                <a:lnTo>
                  <a:pt x="3296956" y="0"/>
                </a:lnTo>
                <a:lnTo>
                  <a:pt x="3296956" y="809252"/>
                </a:lnTo>
                <a:lnTo>
                  <a:pt x="0" y="80925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p:cNvSpPr/>
          <p:nvPr/>
        </p:nvSpPr>
        <p:spPr>
          <a:xfrm>
            <a:off x="14494772" y="9017983"/>
            <a:ext cx="4427843" cy="3481392"/>
          </a:xfrm>
          <a:custGeom>
            <a:avLst/>
            <a:gdLst/>
            <a:ahLst/>
            <a:cxnLst/>
            <a:rect l="l" t="t" r="r" b="b"/>
            <a:pathLst>
              <a:path w="4427843" h="3481392">
                <a:moveTo>
                  <a:pt x="0" y="0"/>
                </a:moveTo>
                <a:lnTo>
                  <a:pt x="4427843" y="0"/>
                </a:lnTo>
                <a:lnTo>
                  <a:pt x="4427843" y="3481391"/>
                </a:lnTo>
                <a:lnTo>
                  <a:pt x="0" y="3481391"/>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US"/>
          </a:p>
        </p:txBody>
      </p:sp>
      <p:sp>
        <p:nvSpPr>
          <p:cNvPr id="9" name="Freeform 9"/>
          <p:cNvSpPr/>
          <p:nvPr/>
        </p:nvSpPr>
        <p:spPr>
          <a:xfrm>
            <a:off x="-763398" y="-1534296"/>
            <a:ext cx="4899948" cy="3068592"/>
          </a:xfrm>
          <a:custGeom>
            <a:avLst/>
            <a:gdLst/>
            <a:ahLst/>
            <a:cxnLst/>
            <a:rect l="l" t="t" r="r" b="b"/>
            <a:pathLst>
              <a:path w="4899948" h="3068592">
                <a:moveTo>
                  <a:pt x="0" y="0"/>
                </a:moveTo>
                <a:lnTo>
                  <a:pt x="4899947" y="0"/>
                </a:lnTo>
                <a:lnTo>
                  <a:pt x="4899947"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n-US"/>
          </a:p>
        </p:txBody>
      </p:sp>
      <p:sp>
        <p:nvSpPr>
          <p:cNvPr id="10" name="Freeform 10"/>
          <p:cNvSpPr/>
          <p:nvPr/>
        </p:nvSpPr>
        <p:spPr>
          <a:xfrm>
            <a:off x="12801533" y="-3053980"/>
            <a:ext cx="4292424" cy="3870986"/>
          </a:xfrm>
          <a:custGeom>
            <a:avLst/>
            <a:gdLst/>
            <a:ahLst/>
            <a:cxnLst/>
            <a:rect l="l" t="t" r="r" b="b"/>
            <a:pathLst>
              <a:path w="4292424" h="3870986">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US"/>
          </a:p>
        </p:txBody>
      </p:sp>
      <p:sp>
        <p:nvSpPr>
          <p:cNvPr id="11" name="Freeform 11"/>
          <p:cNvSpPr/>
          <p:nvPr/>
        </p:nvSpPr>
        <p:spPr>
          <a:xfrm>
            <a:off x="10138935" y="9258300"/>
            <a:ext cx="4076270" cy="2863579"/>
          </a:xfrm>
          <a:custGeom>
            <a:avLst/>
            <a:gdLst/>
            <a:ahLst/>
            <a:cxnLst/>
            <a:rect l="l" t="t" r="r" b="b"/>
            <a:pathLst>
              <a:path w="4076270" h="2863579">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a:stretch>
          </a:blipFill>
          <a:ln cap="sq">
            <a:noFill/>
            <a:prstDash val="solid"/>
            <a:miter/>
          </a:ln>
        </p:spPr>
        <p:txBody>
          <a:bodyPr/>
          <a:lstStyle/>
          <a:p>
            <a:endParaRPr lang="en-US"/>
          </a:p>
        </p:txBody>
      </p:sp>
      <p:sp>
        <p:nvSpPr>
          <p:cNvPr id="13" name="Freeform 13"/>
          <p:cNvSpPr/>
          <p:nvPr/>
        </p:nvSpPr>
        <p:spPr>
          <a:xfrm rot="4747568">
            <a:off x="-2972342" y="3665317"/>
            <a:ext cx="4896097" cy="2735694"/>
          </a:xfrm>
          <a:custGeom>
            <a:avLst/>
            <a:gdLst/>
            <a:ahLst/>
            <a:cxnLst/>
            <a:rect l="l" t="t" r="r" b="b"/>
            <a:pathLst>
              <a:path w="4896097" h="2735694">
                <a:moveTo>
                  <a:pt x="0" y="0"/>
                </a:moveTo>
                <a:lnTo>
                  <a:pt x="4896097" y="0"/>
                </a:lnTo>
                <a:lnTo>
                  <a:pt x="4896097" y="2735694"/>
                </a:lnTo>
                <a:lnTo>
                  <a:pt x="0" y="2735694"/>
                </a:lnTo>
                <a:lnTo>
                  <a:pt x="0" y="0"/>
                </a:lnTo>
                <a:close/>
              </a:path>
            </a:pathLst>
          </a:custGeom>
          <a:blipFill>
            <a:blip r:embed="rId14">
              <a:extLst>
                <a:ext uri="{96DAC541-7B7A-43D3-8B79-37D633B846F1}">
                  <asvg:svgBlip xmlns:asvg="http://schemas.microsoft.com/office/drawing/2016/SVG/main" r:embed="rId15"/>
                </a:ext>
              </a:extLst>
            </a:blip>
            <a:stretch>
              <a:fillRect/>
            </a:stretch>
          </a:blipFill>
          <a:ln cap="sq">
            <a:noFill/>
            <a:prstDash val="solid"/>
            <a:miter/>
          </a:ln>
        </p:spPr>
        <p:txBody>
          <a:bodyPr/>
          <a:lstStyle/>
          <a:p>
            <a:endParaRPr lang="en-US"/>
          </a:p>
        </p:txBody>
      </p:sp>
      <p:sp>
        <p:nvSpPr>
          <p:cNvPr id="14" name="Freeform 14"/>
          <p:cNvSpPr/>
          <p:nvPr/>
        </p:nvSpPr>
        <p:spPr>
          <a:xfrm>
            <a:off x="7469601" y="-2230894"/>
            <a:ext cx="2892762" cy="2919301"/>
          </a:xfrm>
          <a:custGeom>
            <a:avLst/>
            <a:gdLst/>
            <a:ahLst/>
            <a:cxnLst/>
            <a:rect l="l" t="t" r="r" b="b"/>
            <a:pathLst>
              <a:path w="2892762" h="2919301">
                <a:moveTo>
                  <a:pt x="0" y="0"/>
                </a:moveTo>
                <a:lnTo>
                  <a:pt x="2892761" y="0"/>
                </a:lnTo>
                <a:lnTo>
                  <a:pt x="2892761" y="2919300"/>
                </a:lnTo>
                <a:lnTo>
                  <a:pt x="0" y="2919300"/>
                </a:lnTo>
                <a:lnTo>
                  <a:pt x="0" y="0"/>
                </a:lnTo>
                <a:close/>
              </a:path>
            </a:pathLst>
          </a:custGeom>
          <a:blipFill>
            <a:blip r:embed="rId16">
              <a:extLst>
                <a:ext uri="{96DAC541-7B7A-43D3-8B79-37D633B846F1}">
                  <asvg:svgBlip xmlns:asvg="http://schemas.microsoft.com/office/drawing/2016/SVG/main" r:embed="rId17"/>
                </a:ext>
              </a:extLst>
            </a:blip>
            <a:stretch>
              <a:fillRect/>
            </a:stretch>
          </a:blipFill>
          <a:ln cap="sq">
            <a:noFill/>
            <a:prstDash val="solid"/>
            <a:miter/>
          </a:ln>
        </p:spPr>
        <p:txBody>
          <a:bodyPr/>
          <a:lstStyle/>
          <a:p>
            <a:endParaRPr lang="en-US"/>
          </a:p>
        </p:txBody>
      </p:sp>
      <p:sp>
        <p:nvSpPr>
          <p:cNvPr id="15" name="Freeform 15"/>
          <p:cNvSpPr/>
          <p:nvPr/>
        </p:nvSpPr>
        <p:spPr>
          <a:xfrm>
            <a:off x="17168339" y="3592812"/>
            <a:ext cx="3575541" cy="3575541"/>
          </a:xfrm>
          <a:custGeom>
            <a:avLst/>
            <a:gdLst/>
            <a:ahLst/>
            <a:cxnLst/>
            <a:rect l="l" t="t" r="r" b="b"/>
            <a:pathLst>
              <a:path w="3575541" h="3575541">
                <a:moveTo>
                  <a:pt x="0" y="0"/>
                </a:moveTo>
                <a:lnTo>
                  <a:pt x="3575541" y="0"/>
                </a:lnTo>
                <a:lnTo>
                  <a:pt x="3575541" y="3575541"/>
                </a:lnTo>
                <a:lnTo>
                  <a:pt x="0" y="3575541"/>
                </a:lnTo>
                <a:lnTo>
                  <a:pt x="0" y="0"/>
                </a:lnTo>
                <a:close/>
              </a:path>
            </a:pathLst>
          </a:custGeom>
          <a:blipFill>
            <a:blip r:embed="rId18">
              <a:extLst>
                <a:ext uri="{96DAC541-7B7A-43D3-8B79-37D633B846F1}">
                  <asvg:svgBlip xmlns:asvg="http://schemas.microsoft.com/office/drawing/2016/SVG/main" r:embed="rId19"/>
                </a:ext>
              </a:extLst>
            </a:blip>
            <a:stretch>
              <a:fillRect/>
            </a:stretch>
          </a:blipFill>
          <a:ln cap="sq">
            <a:noFill/>
            <a:prstDash val="solid"/>
            <a:miter/>
          </a:ln>
        </p:spPr>
        <p:txBody>
          <a:bodyPr/>
          <a:lstStyle/>
          <a:p>
            <a:endParaRPr lang="en-US"/>
          </a:p>
        </p:txBody>
      </p:sp>
      <p:sp>
        <p:nvSpPr>
          <p:cNvPr id="18" name="Freeform 18"/>
          <p:cNvSpPr/>
          <p:nvPr/>
        </p:nvSpPr>
        <p:spPr>
          <a:xfrm>
            <a:off x="16916400" y="-137048"/>
            <a:ext cx="3104522" cy="3342688"/>
          </a:xfrm>
          <a:custGeom>
            <a:avLst/>
            <a:gdLst/>
            <a:ahLst/>
            <a:cxnLst/>
            <a:rect l="l" t="t" r="r" b="b"/>
            <a:pathLst>
              <a:path w="3104522" h="3342688">
                <a:moveTo>
                  <a:pt x="0" y="0"/>
                </a:moveTo>
                <a:lnTo>
                  <a:pt x="3104522" y="0"/>
                </a:lnTo>
                <a:lnTo>
                  <a:pt x="3104522" y="3342689"/>
                </a:lnTo>
                <a:lnTo>
                  <a:pt x="0" y="3342689"/>
                </a:lnTo>
                <a:lnTo>
                  <a:pt x="0" y="0"/>
                </a:lnTo>
                <a:close/>
              </a:path>
            </a:pathLst>
          </a:custGeom>
          <a:blipFill>
            <a:blip r:embed="rId20">
              <a:extLst>
                <a:ext uri="{96DAC541-7B7A-43D3-8B79-37D633B846F1}">
                  <asvg:svgBlip xmlns:asvg="http://schemas.microsoft.com/office/drawing/2016/SVG/main" r:embed="rId21"/>
                </a:ext>
              </a:extLst>
            </a:blip>
            <a:stretch>
              <a:fillRect/>
            </a:stretch>
          </a:blipFill>
          <a:ln cap="sq">
            <a:noFill/>
            <a:prstDash val="solid"/>
            <a:miter/>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2133600" y="1272224"/>
            <a:ext cx="10014901" cy="1766570"/>
          </a:xfrm>
          <a:prstGeom prst="rect">
            <a:avLst/>
          </a:prstGeom>
        </p:spPr>
        <p:txBody>
          <a:bodyPr lIns="0" tIns="0" rIns="0" bIns="0" rtlCol="0" anchor="t">
            <a:spAutoFit/>
          </a:bodyPr>
          <a:lstStyle/>
          <a:p>
            <a:pPr algn="ctr">
              <a:lnSpc>
                <a:spcPts val="6789"/>
              </a:lnSpc>
            </a:pPr>
            <a:r>
              <a:rPr lang="en-US" sz="4800" dirty="0">
                <a:solidFill>
                  <a:srgbClr val="000000"/>
                </a:solidFill>
                <a:latin typeface="DM Sans Bold"/>
              </a:rPr>
              <a:t>Dataset </a:t>
            </a:r>
          </a:p>
          <a:p>
            <a:pPr algn="ctr">
              <a:lnSpc>
                <a:spcPts val="6789"/>
              </a:lnSpc>
            </a:pPr>
            <a:endParaRPr lang="en-US" sz="6999" dirty="0">
              <a:solidFill>
                <a:srgbClr val="000000"/>
              </a:solidFill>
              <a:latin typeface="DM Sans Bold"/>
            </a:endParaRPr>
          </a:p>
        </p:txBody>
      </p:sp>
      <p:sp>
        <p:nvSpPr>
          <p:cNvPr id="4" name="TextBox 4"/>
          <p:cNvSpPr txBox="1"/>
          <p:nvPr/>
        </p:nvSpPr>
        <p:spPr>
          <a:xfrm>
            <a:off x="228600" y="2155509"/>
            <a:ext cx="18897599" cy="4431983"/>
          </a:xfrm>
          <a:prstGeom prst="rect">
            <a:avLst/>
          </a:prstGeom>
        </p:spPr>
        <p:txBody>
          <a:bodyPr wrap="square" lIns="0" tIns="0" rIns="0" bIns="0" numCol="2" rtlCol="0" anchor="t">
            <a:spAutoFit/>
          </a:bodyPr>
          <a:lstStyle/>
          <a:p>
            <a:pPr marL="571500" indent="-571500">
              <a:lnSpc>
                <a:spcPct val="150000"/>
              </a:lnSpc>
              <a:buFont typeface="Arial" panose="020B0604020202020204" pitchFamily="34" charset="0"/>
              <a:buChar char="•"/>
            </a:pPr>
            <a:r>
              <a:rPr lang="en-US" sz="3200" b="1" spc="193" dirty="0">
                <a:solidFill>
                  <a:srgbClr val="000000"/>
                </a:solidFill>
              </a:rPr>
              <a:t>Records: </a:t>
            </a:r>
            <a:r>
              <a:rPr lang="en-US" sz="3200" spc="193" dirty="0">
                <a:solidFill>
                  <a:srgbClr val="000000"/>
                </a:solidFill>
              </a:rPr>
              <a:t>395 student records.</a:t>
            </a:r>
          </a:p>
          <a:p>
            <a:pPr marL="571500" indent="-571500">
              <a:lnSpc>
                <a:spcPct val="150000"/>
              </a:lnSpc>
              <a:buFont typeface="Arial" panose="020B0604020202020204" pitchFamily="34" charset="0"/>
              <a:buChar char="•"/>
            </a:pPr>
            <a:r>
              <a:rPr lang="en-US" sz="3200" b="1" spc="193" dirty="0">
                <a:solidFill>
                  <a:srgbClr val="000000"/>
                </a:solidFill>
              </a:rPr>
              <a:t>Features: </a:t>
            </a:r>
            <a:r>
              <a:rPr lang="en-US" sz="3200" spc="193" dirty="0">
                <a:solidFill>
                  <a:srgbClr val="000000"/>
                </a:solidFill>
              </a:rPr>
              <a:t>Demographics, parental education, study habits, historical academic performance.</a:t>
            </a:r>
          </a:p>
          <a:p>
            <a:pPr marL="571500" indent="-571500">
              <a:lnSpc>
                <a:spcPct val="150000"/>
              </a:lnSpc>
              <a:buFont typeface="Arial" panose="020B0604020202020204" pitchFamily="34" charset="0"/>
              <a:buChar char="•"/>
            </a:pPr>
            <a:endParaRPr lang="en-US" sz="3200" spc="193" dirty="0">
              <a:solidFill>
                <a:srgbClr val="000000"/>
              </a:solidFill>
            </a:endParaRPr>
          </a:p>
          <a:p>
            <a:pPr marL="571500" indent="-571500">
              <a:lnSpc>
                <a:spcPct val="150000"/>
              </a:lnSpc>
              <a:buFont typeface="Arial" panose="020B0604020202020204" pitchFamily="34" charset="0"/>
              <a:buChar char="•"/>
            </a:pPr>
            <a:endParaRPr lang="en-US" sz="3200" spc="193" dirty="0">
              <a:solidFill>
                <a:srgbClr val="000000"/>
              </a:solidFill>
            </a:endParaRPr>
          </a:p>
          <a:p>
            <a:pPr>
              <a:lnSpc>
                <a:spcPct val="150000"/>
              </a:lnSpc>
            </a:pPr>
            <a:endParaRPr lang="en-US" sz="3200" spc="193" dirty="0">
              <a:solidFill>
                <a:srgbClr val="000000"/>
              </a:solidFill>
            </a:endParaRPr>
          </a:p>
          <a:p>
            <a:pPr marL="571500" indent="-571500">
              <a:lnSpc>
                <a:spcPct val="150000"/>
              </a:lnSpc>
              <a:buFont typeface="Arial" panose="020B0604020202020204" pitchFamily="34" charset="0"/>
              <a:buChar char="•"/>
            </a:pPr>
            <a:r>
              <a:rPr lang="en-US" sz="3200" b="1" spc="193" dirty="0">
                <a:solidFill>
                  <a:srgbClr val="000000"/>
                </a:solidFill>
              </a:rPr>
              <a:t>Source: </a:t>
            </a:r>
            <a:r>
              <a:rPr lang="en-US" sz="3200" spc="193" dirty="0">
                <a:solidFill>
                  <a:srgbClr val="000000"/>
                </a:solidFill>
              </a:rPr>
              <a:t>UCI Machine Learning Repository.</a:t>
            </a:r>
          </a:p>
          <a:p>
            <a:pPr marL="571500" indent="-571500">
              <a:lnSpc>
                <a:spcPct val="150000"/>
              </a:lnSpc>
              <a:buFont typeface="Arial" panose="020B0604020202020204" pitchFamily="34" charset="0"/>
              <a:buChar char="•"/>
            </a:pPr>
            <a:r>
              <a:rPr lang="en-US" sz="3200" b="1" spc="193" dirty="0">
                <a:solidFill>
                  <a:srgbClr val="000000"/>
                </a:solidFill>
              </a:rPr>
              <a:t>Preprocessing</a:t>
            </a:r>
            <a:r>
              <a:rPr lang="en-US" sz="3200" spc="193" dirty="0">
                <a:solidFill>
                  <a:srgbClr val="000000"/>
                </a:solidFill>
              </a:rPr>
              <a:t>: Handled missing values.</a:t>
            </a:r>
          </a:p>
          <a:p>
            <a:pPr marL="0" lvl="0" indent="0" algn="ctr">
              <a:lnSpc>
                <a:spcPct val="150000"/>
              </a:lnSpc>
              <a:spcBef>
                <a:spcPct val="0"/>
              </a:spcBef>
            </a:pPr>
            <a:endParaRPr lang="en-US" sz="2800" spc="193" dirty="0">
              <a:solidFill>
                <a:srgbClr val="000000"/>
              </a:solidFill>
              <a:latin typeface="DM Sans Bold"/>
            </a:endParaRPr>
          </a:p>
        </p:txBody>
      </p:sp>
      <p:sp>
        <p:nvSpPr>
          <p:cNvPr id="5" name="TextBox 5"/>
          <p:cNvSpPr txBox="1"/>
          <p:nvPr/>
        </p:nvSpPr>
        <p:spPr>
          <a:xfrm>
            <a:off x="-4038600" y="-108635"/>
            <a:ext cx="16760496" cy="2761718"/>
          </a:xfrm>
          <a:prstGeom prst="rect">
            <a:avLst/>
          </a:prstGeom>
        </p:spPr>
        <p:txBody>
          <a:bodyPr wrap="square" lIns="0" tIns="0" rIns="0" bIns="0" rtlCol="0" anchor="t">
            <a:spAutoFit/>
          </a:bodyPr>
          <a:lstStyle/>
          <a:p>
            <a:pPr algn="ctr">
              <a:lnSpc>
                <a:spcPts val="10971"/>
              </a:lnSpc>
            </a:pPr>
            <a:r>
              <a:rPr lang="en-US" sz="6600" dirty="0">
                <a:solidFill>
                  <a:srgbClr val="000000"/>
                </a:solidFill>
                <a:latin typeface="DM Sans Bold"/>
              </a:rPr>
              <a:t>2. Data Collection</a:t>
            </a:r>
          </a:p>
          <a:p>
            <a:pPr algn="ctr">
              <a:lnSpc>
                <a:spcPts val="10971"/>
              </a:lnSpc>
            </a:pPr>
            <a:endParaRPr lang="en-US" sz="7200" dirty="0">
              <a:solidFill>
                <a:srgbClr val="000000"/>
              </a:solidFill>
              <a:latin typeface="DM Sans Bold"/>
            </a:endParaRPr>
          </a:p>
        </p:txBody>
      </p:sp>
      <p:sp>
        <p:nvSpPr>
          <p:cNvPr id="10" name="Freeform 10"/>
          <p:cNvSpPr/>
          <p:nvPr/>
        </p:nvSpPr>
        <p:spPr>
          <a:xfrm>
            <a:off x="17449800" y="2436007"/>
            <a:ext cx="4292424" cy="3870986"/>
          </a:xfrm>
          <a:custGeom>
            <a:avLst/>
            <a:gdLst/>
            <a:ahLst/>
            <a:cxnLst/>
            <a:rect l="l" t="t" r="r" b="b"/>
            <a:pathLst>
              <a:path w="4292424" h="3870986">
                <a:moveTo>
                  <a:pt x="0" y="0"/>
                </a:moveTo>
                <a:lnTo>
                  <a:pt x="4292424" y="0"/>
                </a:lnTo>
                <a:lnTo>
                  <a:pt x="4292424" y="3870986"/>
                </a:lnTo>
                <a:lnTo>
                  <a:pt x="0" y="387098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18" name="Freeform 18"/>
          <p:cNvSpPr/>
          <p:nvPr/>
        </p:nvSpPr>
        <p:spPr>
          <a:xfrm>
            <a:off x="15414217" y="-1254464"/>
            <a:ext cx="3104522" cy="3342688"/>
          </a:xfrm>
          <a:custGeom>
            <a:avLst/>
            <a:gdLst/>
            <a:ahLst/>
            <a:cxnLst/>
            <a:rect l="l" t="t" r="r" b="b"/>
            <a:pathLst>
              <a:path w="3104522" h="3342688">
                <a:moveTo>
                  <a:pt x="0" y="0"/>
                </a:moveTo>
                <a:lnTo>
                  <a:pt x="3104522" y="0"/>
                </a:lnTo>
                <a:lnTo>
                  <a:pt x="3104522" y="3342689"/>
                </a:lnTo>
                <a:lnTo>
                  <a:pt x="0" y="3342689"/>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pic>
        <p:nvPicPr>
          <p:cNvPr id="22" name="صورة 21" descr="صورة تحتوي على نص, لقطة شاشة, الخط, رقم&#10;&#10;تم إنشاء الوصف تلقائياً">
            <a:extLst>
              <a:ext uri="{FF2B5EF4-FFF2-40B4-BE49-F238E27FC236}">
                <a16:creationId xmlns:a16="http://schemas.microsoft.com/office/drawing/2014/main" id="{B810EF75-969C-CF4E-596A-E522D697322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51171" y="4476713"/>
            <a:ext cx="15585657" cy="5690002"/>
          </a:xfrm>
          <a:prstGeom prst="rect">
            <a:avLst/>
          </a:prstGeom>
          <a:ln>
            <a:solidFill>
              <a:schemeClr val="tx1"/>
            </a:solidFill>
          </a:ln>
        </p:spPr>
      </p:pic>
      <p:sp>
        <p:nvSpPr>
          <p:cNvPr id="24" name="Freeform 9">
            <a:extLst>
              <a:ext uri="{FF2B5EF4-FFF2-40B4-BE49-F238E27FC236}">
                <a16:creationId xmlns:a16="http://schemas.microsoft.com/office/drawing/2014/main" id="{9D08EF2D-DCBD-D129-16FF-6654C899FF7A}"/>
              </a:ext>
            </a:extLst>
          </p:cNvPr>
          <p:cNvSpPr/>
          <p:nvPr/>
        </p:nvSpPr>
        <p:spPr>
          <a:xfrm>
            <a:off x="10406701" y="-2802591"/>
            <a:ext cx="5493058" cy="4114800"/>
          </a:xfrm>
          <a:custGeom>
            <a:avLst/>
            <a:gdLst/>
            <a:ahLst/>
            <a:cxnLst/>
            <a:rect l="l" t="t" r="r" b="b"/>
            <a:pathLst>
              <a:path w="5493058" h="4114800">
                <a:moveTo>
                  <a:pt x="0" y="0"/>
                </a:moveTo>
                <a:lnTo>
                  <a:pt x="5493058" y="0"/>
                </a:lnTo>
                <a:lnTo>
                  <a:pt x="549305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7"/>
          <p:cNvSpPr/>
          <p:nvPr/>
        </p:nvSpPr>
        <p:spPr>
          <a:xfrm>
            <a:off x="10515600" y="-2095500"/>
            <a:ext cx="4292424" cy="3870986"/>
          </a:xfrm>
          <a:custGeom>
            <a:avLst/>
            <a:gdLst/>
            <a:ahLst/>
            <a:cxnLst/>
            <a:rect l="l" t="t" r="r" b="b"/>
            <a:pathLst>
              <a:path w="4292424" h="3870986">
                <a:moveTo>
                  <a:pt x="0" y="0"/>
                </a:moveTo>
                <a:lnTo>
                  <a:pt x="4292424" y="0"/>
                </a:lnTo>
                <a:lnTo>
                  <a:pt x="4292424" y="3870986"/>
                </a:lnTo>
                <a:lnTo>
                  <a:pt x="0" y="387098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15" name="Freeform 15"/>
          <p:cNvSpPr/>
          <p:nvPr/>
        </p:nvSpPr>
        <p:spPr>
          <a:xfrm>
            <a:off x="15183478" y="-1362028"/>
            <a:ext cx="3104522" cy="3342688"/>
          </a:xfrm>
          <a:custGeom>
            <a:avLst/>
            <a:gdLst/>
            <a:ahLst/>
            <a:cxnLst/>
            <a:rect l="l" t="t" r="r" b="b"/>
            <a:pathLst>
              <a:path w="3104522" h="3342688">
                <a:moveTo>
                  <a:pt x="0" y="0"/>
                </a:moveTo>
                <a:lnTo>
                  <a:pt x="3104522" y="0"/>
                </a:lnTo>
                <a:lnTo>
                  <a:pt x="3104522" y="3342689"/>
                </a:lnTo>
                <a:lnTo>
                  <a:pt x="0" y="3342689"/>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19" name="Rectangle 1">
            <a:extLst>
              <a:ext uri="{FF2B5EF4-FFF2-40B4-BE49-F238E27FC236}">
                <a16:creationId xmlns:a16="http://schemas.microsoft.com/office/drawing/2014/main" id="{524B42E7-3AD2-3ED7-4915-E4FCFB4E2DEC}"/>
              </a:ext>
            </a:extLst>
          </p:cNvPr>
          <p:cNvSpPr>
            <a:spLocks noChangeArrowheads="1"/>
          </p:cNvSpPr>
          <p:nvPr/>
        </p:nvSpPr>
        <p:spPr bwMode="auto">
          <a:xfrm>
            <a:off x="129380" y="-106343"/>
            <a:ext cx="17373600" cy="11144692"/>
          </a:xfrm>
          <a:prstGeom prst="rect">
            <a:avLst/>
          </a:prstGeom>
          <a:noFill/>
          <a:ln>
            <a:noFill/>
          </a:ln>
          <a:effectLst/>
        </p:spPr>
        <p:txBody>
          <a:bodyPr vert="horz" wrap="square" lIns="91440" tIns="45720" rIns="91440" bIns="7935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lang="en-US" altLang="en-US" sz="2800" b="1" dirty="0"/>
              <a:t>Dataset features:</a:t>
            </a: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var(--jp-code-font-family)"/>
              </a:rPr>
              <a:t>school</a:t>
            </a:r>
            <a:r>
              <a:rPr kumimoji="0" lang="en-US" altLang="en-US" sz="2000" b="0" i="0" u="none" strike="noStrike" cap="none" normalizeH="0" baseline="0" dirty="0">
                <a:ln>
                  <a:noFill/>
                </a:ln>
                <a:solidFill>
                  <a:schemeClr val="tx1"/>
                </a:solidFill>
                <a:effectLst/>
                <a:latin typeface="system-ui"/>
              </a:rPr>
              <a:t> : student's school (binary: "GP" or "MS")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var(--jp-code-font-family)"/>
              </a:rPr>
              <a:t>sex</a:t>
            </a:r>
            <a:r>
              <a:rPr kumimoji="0" lang="en-US" altLang="en-US" sz="2000" b="0" i="0" u="none" strike="noStrike" cap="none" normalizeH="0" baseline="0" dirty="0">
                <a:ln>
                  <a:noFill/>
                </a:ln>
                <a:solidFill>
                  <a:schemeClr val="tx1"/>
                </a:solidFill>
                <a:effectLst/>
                <a:latin typeface="system-ui"/>
              </a:rPr>
              <a:t> : student's sex (binary: "F" - female or "M" - male)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var(--jp-code-font-family)"/>
              </a:rPr>
              <a:t>age</a:t>
            </a:r>
            <a:r>
              <a:rPr kumimoji="0" lang="en-US" altLang="en-US" sz="2000" b="0" i="0" u="none" strike="noStrike" cap="none" normalizeH="0" baseline="0" dirty="0">
                <a:ln>
                  <a:noFill/>
                </a:ln>
                <a:solidFill>
                  <a:schemeClr val="tx1"/>
                </a:solidFill>
                <a:effectLst/>
                <a:latin typeface="system-ui"/>
              </a:rPr>
              <a:t> : student's age (numeric: from 15 to 22)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var(--jp-code-font-family)"/>
              </a:rPr>
              <a:t>address</a:t>
            </a:r>
            <a:r>
              <a:rPr kumimoji="0" lang="en-US" altLang="en-US" sz="2000" b="0" i="0" u="none" strike="noStrike" cap="none" normalizeH="0" baseline="0" dirty="0">
                <a:ln>
                  <a:noFill/>
                </a:ln>
                <a:solidFill>
                  <a:schemeClr val="tx1"/>
                </a:solidFill>
                <a:effectLst/>
                <a:latin typeface="system-ui"/>
              </a:rPr>
              <a:t> : student's home address type (binary: "U" - urban or "R" - rural)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var(--jp-code-font-family)"/>
              </a:rPr>
              <a:t>famsize</a:t>
            </a:r>
            <a:r>
              <a:rPr kumimoji="0" lang="en-US" altLang="en-US" sz="2000" b="0" i="0" u="none" strike="noStrike" cap="none" normalizeH="0" baseline="0" dirty="0">
                <a:ln>
                  <a:noFill/>
                </a:ln>
                <a:solidFill>
                  <a:schemeClr val="tx1"/>
                </a:solidFill>
                <a:effectLst/>
                <a:latin typeface="system-ui"/>
              </a:rPr>
              <a:t> : family size (binary: "LE3" - less or equal to 3 or "GT3" - greater than 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var(--jp-code-font-family)"/>
              </a:rPr>
              <a:t>Pstatus</a:t>
            </a:r>
            <a:r>
              <a:rPr kumimoji="0" lang="en-US" altLang="en-US" sz="2000" b="0" i="0" u="none" strike="noStrike" cap="none" normalizeH="0" baseline="0" dirty="0">
                <a:ln>
                  <a:noFill/>
                </a:ln>
                <a:solidFill>
                  <a:schemeClr val="tx1"/>
                </a:solidFill>
                <a:effectLst/>
                <a:latin typeface="system-ui"/>
              </a:rPr>
              <a:t> : parent's cohabitation status (binary: "T" - living together or "A" - apart)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var(--jp-code-font-family)"/>
              </a:rPr>
              <a:t>Medu</a:t>
            </a:r>
            <a:r>
              <a:rPr kumimoji="0" lang="en-US" altLang="en-US" sz="2000" b="0" i="0" u="none" strike="noStrike" cap="none" normalizeH="0" baseline="0" dirty="0">
                <a:ln>
                  <a:noFill/>
                </a:ln>
                <a:solidFill>
                  <a:schemeClr val="tx1"/>
                </a:solidFill>
                <a:effectLst/>
                <a:latin typeface="system-ui"/>
              </a:rPr>
              <a:t> : mother's education (numeric: 0 - none, 1 - primary education (4th grade), 2 - 5th to 9th grade, 3 - secondary education or 4 - higher education)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var(--jp-code-font-family)"/>
              </a:rPr>
              <a:t>Fedu</a:t>
            </a:r>
            <a:r>
              <a:rPr kumimoji="0" lang="en-US" altLang="en-US" sz="2000" b="0" i="0" u="none" strike="noStrike" cap="none" normalizeH="0" baseline="0" dirty="0">
                <a:ln>
                  <a:noFill/>
                </a:ln>
                <a:solidFill>
                  <a:schemeClr val="tx1"/>
                </a:solidFill>
                <a:effectLst/>
                <a:latin typeface="system-ui"/>
              </a:rPr>
              <a:t> : father's education (numeric: 0 - none, 1 - primary education (4th grade), 2 - 5th to 9th grade, 3 - secondary education or 4 - higher education)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var(--jp-code-font-family)"/>
              </a:rPr>
              <a:t>Mjob</a:t>
            </a:r>
            <a:r>
              <a:rPr kumimoji="0" lang="en-US" altLang="en-US" sz="2000" b="0" i="0" u="none" strike="noStrike" cap="none" normalizeH="0" baseline="0" dirty="0">
                <a:ln>
                  <a:noFill/>
                </a:ln>
                <a:solidFill>
                  <a:schemeClr val="tx1"/>
                </a:solidFill>
                <a:effectLst/>
                <a:latin typeface="system-ui"/>
              </a:rPr>
              <a:t> : mother's job (nominal: "teacher", "health" care related, civil "services" (e.g. administrative or police), "</a:t>
            </a:r>
            <a:r>
              <a:rPr kumimoji="0" lang="en-US" altLang="en-US" sz="2000" b="0" i="0" u="none" strike="noStrike" cap="none" normalizeH="0" baseline="0" dirty="0" err="1">
                <a:ln>
                  <a:noFill/>
                </a:ln>
                <a:solidFill>
                  <a:schemeClr val="tx1"/>
                </a:solidFill>
                <a:effectLst/>
                <a:latin typeface="system-ui"/>
              </a:rPr>
              <a:t>at_home</a:t>
            </a:r>
            <a:r>
              <a:rPr kumimoji="0" lang="en-US" altLang="en-US" sz="2000" b="0" i="0" u="none" strike="noStrike" cap="none" normalizeH="0" baseline="0" dirty="0">
                <a:ln>
                  <a:noFill/>
                </a:ln>
                <a:solidFill>
                  <a:schemeClr val="tx1"/>
                </a:solidFill>
                <a:effectLst/>
                <a:latin typeface="system-ui"/>
              </a:rPr>
              <a:t>" or "other")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var(--jp-code-font-family)"/>
              </a:rPr>
              <a:t>Fjob</a:t>
            </a:r>
            <a:r>
              <a:rPr kumimoji="0" lang="en-US" altLang="en-US" sz="2000" b="0" i="0" u="none" strike="noStrike" cap="none" normalizeH="0" baseline="0" dirty="0">
                <a:ln>
                  <a:noFill/>
                </a:ln>
                <a:solidFill>
                  <a:schemeClr val="tx1"/>
                </a:solidFill>
                <a:effectLst/>
                <a:latin typeface="system-ui"/>
              </a:rPr>
              <a:t> : father's job (nominal: "teacher", "health" care related, civil "services" (e.g. administrative or police), "</a:t>
            </a:r>
            <a:r>
              <a:rPr kumimoji="0" lang="en-US" altLang="en-US" sz="2000" b="0" i="0" u="none" strike="noStrike" cap="none" normalizeH="0" baseline="0" dirty="0" err="1">
                <a:ln>
                  <a:noFill/>
                </a:ln>
                <a:solidFill>
                  <a:schemeClr val="tx1"/>
                </a:solidFill>
                <a:effectLst/>
                <a:latin typeface="system-ui"/>
              </a:rPr>
              <a:t>at_home</a:t>
            </a:r>
            <a:r>
              <a:rPr kumimoji="0" lang="en-US" altLang="en-US" sz="2000" b="0" i="0" u="none" strike="noStrike" cap="none" normalizeH="0" baseline="0" dirty="0">
                <a:ln>
                  <a:noFill/>
                </a:ln>
                <a:solidFill>
                  <a:schemeClr val="tx1"/>
                </a:solidFill>
                <a:effectLst/>
                <a:latin typeface="system-ui"/>
              </a:rPr>
              <a:t>" or "other")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var(--jp-code-font-family)"/>
              </a:rPr>
              <a:t>reason</a:t>
            </a:r>
            <a:r>
              <a:rPr kumimoji="0" lang="en-US" altLang="en-US" sz="2000" b="0" i="0" u="none" strike="noStrike" cap="none" normalizeH="0" baseline="0" dirty="0">
                <a:ln>
                  <a:noFill/>
                </a:ln>
                <a:solidFill>
                  <a:schemeClr val="tx1"/>
                </a:solidFill>
                <a:effectLst/>
                <a:latin typeface="system-ui"/>
              </a:rPr>
              <a:t> : reason to choose this school (nominal: close to "home", school "reputation", "course" preference or "other")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var(--jp-code-font-family)"/>
              </a:rPr>
              <a:t>guardian</a:t>
            </a:r>
            <a:r>
              <a:rPr kumimoji="0" lang="en-US" altLang="en-US" sz="2000" b="0" i="0" u="none" strike="noStrike" cap="none" normalizeH="0" baseline="0" dirty="0">
                <a:ln>
                  <a:noFill/>
                </a:ln>
                <a:solidFill>
                  <a:schemeClr val="tx1"/>
                </a:solidFill>
                <a:effectLst/>
                <a:latin typeface="system-ui"/>
              </a:rPr>
              <a:t> : student's guardian (nominal: "mother", "father" or "other")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var(--jp-code-font-family)"/>
              </a:rPr>
              <a:t>traveltime</a:t>
            </a:r>
            <a:r>
              <a:rPr kumimoji="0" lang="en-US" altLang="en-US" sz="2000" b="0" i="0" u="none" strike="noStrike" cap="none" normalizeH="0" baseline="0" dirty="0">
                <a:ln>
                  <a:noFill/>
                </a:ln>
                <a:solidFill>
                  <a:schemeClr val="tx1"/>
                </a:solidFill>
                <a:effectLst/>
                <a:latin typeface="system-ui"/>
              </a:rPr>
              <a:t> : home to school travel time (numeric: 1 - &lt;15 min., 2 - 15 to 30 min., 3 - 30 min. to 1 hour, or 4 - &gt;1 hour)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var(--jp-code-font-family)"/>
              </a:rPr>
              <a:t>studytime</a:t>
            </a:r>
            <a:r>
              <a:rPr kumimoji="0" lang="en-US" altLang="en-US" sz="2000" b="0" i="0" u="none" strike="noStrike" cap="none" normalizeH="0" baseline="0" dirty="0">
                <a:ln>
                  <a:noFill/>
                </a:ln>
                <a:solidFill>
                  <a:schemeClr val="tx1"/>
                </a:solidFill>
                <a:effectLst/>
                <a:latin typeface="system-ui"/>
              </a:rPr>
              <a:t> : weekly study time (numeric: 1 - &lt;2 hours, 2 - 2 to 5 hours, 3 - 5 to 10 hours, or 4 - &gt;10 hours)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var(--jp-code-font-family)"/>
              </a:rPr>
              <a:t>failures</a:t>
            </a:r>
            <a:r>
              <a:rPr kumimoji="0" lang="en-US" altLang="en-US" sz="2000" b="0" i="0" u="none" strike="noStrike" cap="none" normalizeH="0" baseline="0" dirty="0">
                <a:ln>
                  <a:noFill/>
                </a:ln>
                <a:solidFill>
                  <a:schemeClr val="tx1"/>
                </a:solidFill>
                <a:effectLst/>
                <a:latin typeface="system-ui"/>
              </a:rPr>
              <a:t> : number of past class failures (numeric: n if 1&lt;=n&lt;3, else 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var(--jp-code-font-family)"/>
              </a:rPr>
              <a:t>schoolsup</a:t>
            </a:r>
            <a:r>
              <a:rPr kumimoji="0" lang="en-US" altLang="en-US" sz="2000" b="0" i="0" u="none" strike="noStrike" cap="none" normalizeH="0" baseline="0" dirty="0">
                <a:ln>
                  <a:noFill/>
                </a:ln>
                <a:solidFill>
                  <a:schemeClr val="tx1"/>
                </a:solidFill>
                <a:effectLst/>
                <a:latin typeface="system-ui"/>
              </a:rPr>
              <a:t> : extra educational support (binary: yes or no)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var(--jp-code-font-family)"/>
              </a:rPr>
              <a:t>famsup</a:t>
            </a:r>
            <a:r>
              <a:rPr kumimoji="0" lang="en-US" altLang="en-US" sz="2000" b="0" i="0" u="none" strike="noStrike" cap="none" normalizeH="0" baseline="0" dirty="0">
                <a:ln>
                  <a:noFill/>
                </a:ln>
                <a:solidFill>
                  <a:schemeClr val="tx1"/>
                </a:solidFill>
                <a:effectLst/>
                <a:latin typeface="system-ui"/>
              </a:rPr>
              <a:t> : family educational support (binary: yes or no)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var(--jp-code-font-family)"/>
              </a:rPr>
              <a:t>paid</a:t>
            </a:r>
            <a:r>
              <a:rPr kumimoji="0" lang="en-US" altLang="en-US" sz="2000" b="0" i="0" u="none" strike="noStrike" cap="none" normalizeH="0" baseline="0" dirty="0">
                <a:ln>
                  <a:noFill/>
                </a:ln>
                <a:solidFill>
                  <a:schemeClr val="tx1"/>
                </a:solidFill>
                <a:effectLst/>
                <a:latin typeface="system-ui"/>
              </a:rPr>
              <a:t> : extra paid classes within the course subject (binary: yes or no)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var(--jp-code-font-family)"/>
              </a:rPr>
              <a:t>activities</a:t>
            </a:r>
            <a:r>
              <a:rPr kumimoji="0" lang="en-US" altLang="en-US" sz="2000" b="0" i="0" u="none" strike="noStrike" cap="none" normalizeH="0" baseline="0" dirty="0">
                <a:ln>
                  <a:noFill/>
                </a:ln>
                <a:solidFill>
                  <a:schemeClr val="tx1"/>
                </a:solidFill>
                <a:effectLst/>
                <a:latin typeface="system-ui"/>
              </a:rPr>
              <a:t> : extra-curricular activities (binary: yes or no)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var(--jp-code-font-family)"/>
              </a:rPr>
              <a:t>nursery</a:t>
            </a:r>
            <a:r>
              <a:rPr kumimoji="0" lang="en-US" altLang="en-US" sz="2000" b="0" i="0" u="none" strike="noStrike" cap="none" normalizeH="0" baseline="0" dirty="0">
                <a:ln>
                  <a:noFill/>
                </a:ln>
                <a:solidFill>
                  <a:schemeClr val="tx1"/>
                </a:solidFill>
                <a:effectLst/>
                <a:latin typeface="system-ui"/>
              </a:rPr>
              <a:t> : attended nursery school (binary: yes or no)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var(--jp-code-font-family)"/>
              </a:rPr>
              <a:t>higher</a:t>
            </a:r>
            <a:r>
              <a:rPr kumimoji="0" lang="en-US" altLang="en-US" sz="2000" b="0" i="0" u="none" strike="noStrike" cap="none" normalizeH="0" baseline="0" dirty="0">
                <a:ln>
                  <a:noFill/>
                </a:ln>
                <a:solidFill>
                  <a:schemeClr val="tx1"/>
                </a:solidFill>
                <a:effectLst/>
                <a:latin typeface="system-ui"/>
              </a:rPr>
              <a:t> : wants to take higher education (binary: yes or no)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var(--jp-code-font-family)"/>
              </a:rPr>
              <a:t>internet</a:t>
            </a:r>
            <a:r>
              <a:rPr kumimoji="0" lang="en-US" altLang="en-US" sz="2000" b="0" i="0" u="none" strike="noStrike" cap="none" normalizeH="0" baseline="0" dirty="0">
                <a:ln>
                  <a:noFill/>
                </a:ln>
                <a:solidFill>
                  <a:schemeClr val="tx1"/>
                </a:solidFill>
                <a:effectLst/>
                <a:latin typeface="system-ui"/>
              </a:rPr>
              <a:t> : Internet access at home (binary: yes or no)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var(--jp-code-font-family)"/>
              </a:rPr>
              <a:t>romantic</a:t>
            </a:r>
            <a:r>
              <a:rPr kumimoji="0" lang="en-US" altLang="en-US" sz="2000" b="0" i="0" u="none" strike="noStrike" cap="none" normalizeH="0" baseline="0" dirty="0">
                <a:ln>
                  <a:noFill/>
                </a:ln>
                <a:solidFill>
                  <a:schemeClr val="tx1"/>
                </a:solidFill>
                <a:effectLst/>
                <a:latin typeface="system-ui"/>
              </a:rPr>
              <a:t> : with a romantic relationship (binary: yes or no)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var(--jp-code-font-family)"/>
              </a:rPr>
              <a:t>famrel</a:t>
            </a:r>
            <a:r>
              <a:rPr kumimoji="0" lang="en-US" altLang="en-US" sz="2000" b="0" i="0" u="none" strike="noStrike" cap="none" normalizeH="0" baseline="0" dirty="0">
                <a:ln>
                  <a:noFill/>
                </a:ln>
                <a:solidFill>
                  <a:schemeClr val="tx1"/>
                </a:solidFill>
                <a:effectLst/>
                <a:latin typeface="system-ui"/>
              </a:rPr>
              <a:t> : quality of family relationships (numeric: from 1 - very bad to 5 - excellent)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var(--jp-code-font-family)"/>
              </a:rPr>
              <a:t>freetime</a:t>
            </a:r>
            <a:r>
              <a:rPr kumimoji="0" lang="en-US" altLang="en-US" sz="2000" b="0" i="0" u="none" strike="noStrike" cap="none" normalizeH="0" baseline="0" dirty="0">
                <a:ln>
                  <a:noFill/>
                </a:ln>
                <a:solidFill>
                  <a:schemeClr val="tx1"/>
                </a:solidFill>
                <a:effectLst/>
                <a:latin typeface="system-ui"/>
              </a:rPr>
              <a:t> : free time after school (numeric: from 1 - very low to 5 - very high)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var(--jp-code-font-family)"/>
              </a:rPr>
              <a:t>goout</a:t>
            </a:r>
            <a:r>
              <a:rPr kumimoji="0" lang="en-US" altLang="en-US" sz="2000" b="0" i="0" u="none" strike="noStrike" cap="none" normalizeH="0" baseline="0" dirty="0">
                <a:ln>
                  <a:noFill/>
                </a:ln>
                <a:solidFill>
                  <a:schemeClr val="tx1"/>
                </a:solidFill>
                <a:effectLst/>
                <a:latin typeface="system-ui"/>
              </a:rPr>
              <a:t> : going out with friends (numeric: from 1 - very low to 5 - very high)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var(--jp-code-font-family)"/>
              </a:rPr>
              <a:t>Dalc</a:t>
            </a:r>
            <a:r>
              <a:rPr kumimoji="0" lang="en-US" altLang="en-US" sz="2000" b="0" i="0" u="none" strike="noStrike" cap="none" normalizeH="0" baseline="0" dirty="0">
                <a:ln>
                  <a:noFill/>
                </a:ln>
                <a:solidFill>
                  <a:schemeClr val="tx1"/>
                </a:solidFill>
                <a:effectLst/>
                <a:latin typeface="system-ui"/>
              </a:rPr>
              <a:t> : workday alcohol consumption (numeric: from 1 - very low to 5 - very high)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var(--jp-code-font-family)"/>
              </a:rPr>
              <a:t>Walc</a:t>
            </a:r>
            <a:r>
              <a:rPr kumimoji="0" lang="en-US" altLang="en-US" sz="2000" b="0" i="0" u="none" strike="noStrike" cap="none" normalizeH="0" baseline="0" dirty="0">
                <a:ln>
                  <a:noFill/>
                </a:ln>
                <a:solidFill>
                  <a:schemeClr val="tx1"/>
                </a:solidFill>
                <a:effectLst/>
                <a:latin typeface="system-ui"/>
              </a:rPr>
              <a:t> : weekend alcohol consumption (numeric: from 1 - very lo to 5 - very high)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var(--jp-code-font-family)"/>
              </a:rPr>
              <a:t>health</a:t>
            </a:r>
            <a:r>
              <a:rPr kumimoji="0" lang="en-US" altLang="en-US" sz="2000" b="0" i="0" u="none" strike="noStrike" cap="none" normalizeH="0" baseline="0" dirty="0">
                <a:ln>
                  <a:noFill/>
                </a:ln>
                <a:solidFill>
                  <a:schemeClr val="tx1"/>
                </a:solidFill>
                <a:effectLst/>
                <a:latin typeface="system-ui"/>
              </a:rPr>
              <a:t> : current health status (numeric: from 1 - very bad to 5 - very good)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var(--jp-code-font-family)"/>
              </a:rPr>
              <a:t>absences</a:t>
            </a:r>
            <a:r>
              <a:rPr kumimoji="0" lang="en-US" altLang="en-US" sz="2000" b="0" i="0" u="none" strike="noStrike" cap="none" normalizeH="0" baseline="0" dirty="0">
                <a:ln>
                  <a:noFill/>
                </a:ln>
                <a:solidFill>
                  <a:schemeClr val="tx1"/>
                </a:solidFill>
                <a:effectLst/>
                <a:latin typeface="system-ui"/>
              </a:rPr>
              <a:t> : number of school absences (numeric: from 0 to 93)</a:t>
            </a:r>
            <a:endParaRPr kumimoji="0" lang="en-US" altLang="en-US" sz="3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var(--jp-code-font-family)"/>
              </a:rPr>
              <a:t>passed</a:t>
            </a:r>
            <a:r>
              <a:rPr kumimoji="0" lang="en-US" altLang="en-US" sz="2000" b="0" i="0" u="none" strike="noStrike" cap="none" normalizeH="0" baseline="0" dirty="0">
                <a:ln>
                  <a:noFill/>
                </a:ln>
                <a:solidFill>
                  <a:schemeClr val="tx1"/>
                </a:solidFill>
                <a:effectLst/>
                <a:latin typeface="system-ui"/>
              </a:rPr>
              <a:t> : did the student pass the final exam or not (binary: yes or no)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400" b="0" i="0" u="none" strike="noStrike" cap="none" normalizeH="0" baseline="0" dirty="0">
              <a:ln>
                <a:noFill/>
              </a:ln>
              <a:solidFill>
                <a:schemeClr val="tx1"/>
              </a:solidFill>
              <a:effectLst/>
              <a:latin typeface="Arial" panose="020B0604020202020204" pitchFamily="34" charset="0"/>
            </a:endParaRPr>
          </a:p>
        </p:txBody>
      </p:sp>
      <p:sp>
        <p:nvSpPr>
          <p:cNvPr id="20" name="Freeform 10">
            <a:extLst>
              <a:ext uri="{FF2B5EF4-FFF2-40B4-BE49-F238E27FC236}">
                <a16:creationId xmlns:a16="http://schemas.microsoft.com/office/drawing/2014/main" id="{FF221CAC-EF61-E7F5-7884-84C8ABB58F91}"/>
              </a:ext>
            </a:extLst>
          </p:cNvPr>
          <p:cNvSpPr/>
          <p:nvPr/>
        </p:nvSpPr>
        <p:spPr>
          <a:xfrm>
            <a:off x="16735739" y="2638518"/>
            <a:ext cx="4292424" cy="3870986"/>
          </a:xfrm>
          <a:custGeom>
            <a:avLst/>
            <a:gdLst/>
            <a:ahLst/>
            <a:cxnLst/>
            <a:rect l="l" t="t" r="r" b="b"/>
            <a:pathLst>
              <a:path w="4292424" h="3870986">
                <a:moveTo>
                  <a:pt x="0" y="0"/>
                </a:moveTo>
                <a:lnTo>
                  <a:pt x="4292424" y="0"/>
                </a:lnTo>
                <a:lnTo>
                  <a:pt x="4292424" y="3870986"/>
                </a:lnTo>
                <a:lnTo>
                  <a:pt x="0" y="387098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22" name="Freeform 7">
            <a:extLst>
              <a:ext uri="{FF2B5EF4-FFF2-40B4-BE49-F238E27FC236}">
                <a16:creationId xmlns:a16="http://schemas.microsoft.com/office/drawing/2014/main" id="{DED36189-FD8D-58DB-A35D-B55C3747DE8F}"/>
              </a:ext>
            </a:extLst>
          </p:cNvPr>
          <p:cNvSpPr/>
          <p:nvPr/>
        </p:nvSpPr>
        <p:spPr>
          <a:xfrm>
            <a:off x="13639800" y="5829300"/>
            <a:ext cx="4382226" cy="4801244"/>
          </a:xfrm>
          <a:custGeom>
            <a:avLst/>
            <a:gdLst/>
            <a:ahLst/>
            <a:cxnLst/>
            <a:rect l="l" t="t" r="r" b="b"/>
            <a:pathLst>
              <a:path w="4382226" h="4801244">
                <a:moveTo>
                  <a:pt x="0" y="0"/>
                </a:moveTo>
                <a:lnTo>
                  <a:pt x="4382226" y="0"/>
                </a:lnTo>
                <a:lnTo>
                  <a:pt x="4382226" y="4801244"/>
                </a:lnTo>
                <a:lnTo>
                  <a:pt x="0" y="480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60200" y="1785845"/>
            <a:ext cx="17798438" cy="2388411"/>
          </a:xfrm>
          <a:prstGeom prst="rect">
            <a:avLst/>
          </a:prstGeom>
        </p:spPr>
        <p:txBody>
          <a:bodyPr lIns="0" tIns="0" rIns="0" bIns="0" rtlCol="0" anchor="t">
            <a:spAutoFit/>
          </a:bodyPr>
          <a:lstStyle/>
          <a:p>
            <a:pPr>
              <a:lnSpc>
                <a:spcPts val="4724"/>
              </a:lnSpc>
            </a:pPr>
            <a:r>
              <a:rPr lang="en-US" sz="3200" spc="209" dirty="0">
                <a:solidFill>
                  <a:srgbClr val="000000"/>
                </a:solidFill>
                <a:latin typeface="DM Sans"/>
              </a:rPr>
              <a:t>Before working with any dataset, we must process that dataset so that it is ready to train our models. We processed our dataset in several steps:</a:t>
            </a:r>
            <a:endParaRPr lang="en-US" sz="3200" spc="-239" dirty="0">
              <a:solidFill>
                <a:srgbClr val="000000"/>
              </a:solidFill>
              <a:latin typeface="DM Sans"/>
            </a:endParaRPr>
          </a:p>
          <a:p>
            <a:pPr>
              <a:lnSpc>
                <a:spcPts val="4724"/>
              </a:lnSpc>
            </a:pPr>
            <a:endParaRPr lang="en-US" sz="3499" spc="209" dirty="0">
              <a:solidFill>
                <a:srgbClr val="000000"/>
              </a:solidFill>
              <a:latin typeface="DM Sans"/>
            </a:endParaRPr>
          </a:p>
          <a:p>
            <a:pPr marL="0" lvl="0" indent="0" algn="ctr">
              <a:lnSpc>
                <a:spcPts val="4724"/>
              </a:lnSpc>
              <a:spcBef>
                <a:spcPct val="0"/>
              </a:spcBef>
            </a:pPr>
            <a:endParaRPr lang="en-US" sz="3499" spc="209" dirty="0">
              <a:solidFill>
                <a:srgbClr val="000000"/>
              </a:solidFill>
              <a:latin typeface="DM Sans"/>
            </a:endParaRPr>
          </a:p>
        </p:txBody>
      </p:sp>
      <p:sp>
        <p:nvSpPr>
          <p:cNvPr id="4" name="TextBox 4"/>
          <p:cNvSpPr txBox="1"/>
          <p:nvPr/>
        </p:nvSpPr>
        <p:spPr>
          <a:xfrm>
            <a:off x="-1061522" y="488200"/>
            <a:ext cx="11512112" cy="2279470"/>
          </a:xfrm>
          <a:prstGeom prst="rect">
            <a:avLst/>
          </a:prstGeom>
        </p:spPr>
        <p:txBody>
          <a:bodyPr lIns="0" tIns="0" rIns="0" bIns="0" rtlCol="0" anchor="t">
            <a:spAutoFit/>
          </a:bodyPr>
          <a:lstStyle/>
          <a:p>
            <a:pPr algn="ctr">
              <a:lnSpc>
                <a:spcPts val="8656"/>
              </a:lnSpc>
            </a:pPr>
            <a:r>
              <a:rPr lang="en-US" sz="6600" dirty="0">
                <a:solidFill>
                  <a:srgbClr val="000000"/>
                </a:solidFill>
                <a:latin typeface="DM Sans Bold"/>
              </a:rPr>
              <a:t>3.Data processing</a:t>
            </a:r>
          </a:p>
          <a:p>
            <a:pPr algn="ctr">
              <a:lnSpc>
                <a:spcPts val="8656"/>
              </a:lnSpc>
            </a:pPr>
            <a:endParaRPr lang="en-US" sz="8924" dirty="0">
              <a:solidFill>
                <a:srgbClr val="000000"/>
              </a:solidFill>
              <a:latin typeface="DM Sans Bold"/>
            </a:endParaRPr>
          </a:p>
        </p:txBody>
      </p:sp>
      <p:sp>
        <p:nvSpPr>
          <p:cNvPr id="9" name="Freeform 9"/>
          <p:cNvSpPr/>
          <p:nvPr/>
        </p:nvSpPr>
        <p:spPr>
          <a:xfrm>
            <a:off x="12801533" y="-3053980"/>
            <a:ext cx="4292424" cy="3870986"/>
          </a:xfrm>
          <a:custGeom>
            <a:avLst/>
            <a:gdLst/>
            <a:ahLst/>
            <a:cxnLst/>
            <a:rect l="l" t="t" r="r" b="b"/>
            <a:pathLst>
              <a:path w="4292424" h="3870986">
                <a:moveTo>
                  <a:pt x="0" y="0"/>
                </a:moveTo>
                <a:lnTo>
                  <a:pt x="4292424" y="0"/>
                </a:lnTo>
                <a:lnTo>
                  <a:pt x="4292424" y="3870986"/>
                </a:lnTo>
                <a:lnTo>
                  <a:pt x="0" y="387098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16" name="Freeform 16"/>
          <p:cNvSpPr/>
          <p:nvPr/>
        </p:nvSpPr>
        <p:spPr>
          <a:xfrm>
            <a:off x="17259300" y="-971659"/>
            <a:ext cx="3104522" cy="3342688"/>
          </a:xfrm>
          <a:custGeom>
            <a:avLst/>
            <a:gdLst/>
            <a:ahLst/>
            <a:cxnLst/>
            <a:rect l="l" t="t" r="r" b="b"/>
            <a:pathLst>
              <a:path w="3104522" h="3342688">
                <a:moveTo>
                  <a:pt x="0" y="0"/>
                </a:moveTo>
                <a:lnTo>
                  <a:pt x="3104522" y="0"/>
                </a:lnTo>
                <a:lnTo>
                  <a:pt x="3104522" y="3342689"/>
                </a:lnTo>
                <a:lnTo>
                  <a:pt x="0" y="3342689"/>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grpSp>
        <p:nvGrpSpPr>
          <p:cNvPr id="17" name="Group 17"/>
          <p:cNvGrpSpPr/>
          <p:nvPr/>
        </p:nvGrpSpPr>
        <p:grpSpPr>
          <a:xfrm>
            <a:off x="191077" y="3148083"/>
            <a:ext cx="17936723" cy="1546365"/>
            <a:chOff x="0" y="0"/>
            <a:chExt cx="4086535" cy="420821"/>
          </a:xfrm>
          <a:solidFill>
            <a:schemeClr val="tx2">
              <a:lumMod val="20000"/>
              <a:lumOff val="80000"/>
            </a:schemeClr>
          </a:solidFill>
        </p:grpSpPr>
        <p:sp>
          <p:nvSpPr>
            <p:cNvPr id="18" name="Freeform 18"/>
            <p:cNvSpPr/>
            <p:nvPr/>
          </p:nvSpPr>
          <p:spPr>
            <a:xfrm>
              <a:off x="0" y="0"/>
              <a:ext cx="4086535" cy="420821"/>
            </a:xfrm>
            <a:custGeom>
              <a:avLst/>
              <a:gdLst/>
              <a:ahLst/>
              <a:cxnLst/>
              <a:rect l="l" t="t" r="r" b="b"/>
              <a:pathLst>
                <a:path w="4086535" h="420821">
                  <a:moveTo>
                    <a:pt x="9513" y="0"/>
                  </a:moveTo>
                  <a:lnTo>
                    <a:pt x="4077022" y="0"/>
                  </a:lnTo>
                  <a:cubicBezTo>
                    <a:pt x="4079546" y="0"/>
                    <a:pt x="4081965" y="1002"/>
                    <a:pt x="4083749" y="2786"/>
                  </a:cubicBezTo>
                  <a:cubicBezTo>
                    <a:pt x="4085533" y="4570"/>
                    <a:pt x="4086535" y="6990"/>
                    <a:pt x="4086535" y="9513"/>
                  </a:cubicBezTo>
                  <a:lnTo>
                    <a:pt x="4086535" y="411308"/>
                  </a:lnTo>
                  <a:cubicBezTo>
                    <a:pt x="4086535" y="413831"/>
                    <a:pt x="4085533" y="416251"/>
                    <a:pt x="4083749" y="418035"/>
                  </a:cubicBezTo>
                  <a:cubicBezTo>
                    <a:pt x="4081965" y="419819"/>
                    <a:pt x="4079546" y="420821"/>
                    <a:pt x="4077022" y="420821"/>
                  </a:cubicBezTo>
                  <a:lnTo>
                    <a:pt x="9513" y="420821"/>
                  </a:lnTo>
                  <a:cubicBezTo>
                    <a:pt x="6990" y="420821"/>
                    <a:pt x="4570" y="419819"/>
                    <a:pt x="2786" y="418035"/>
                  </a:cubicBezTo>
                  <a:cubicBezTo>
                    <a:pt x="1002" y="416251"/>
                    <a:pt x="0" y="413831"/>
                    <a:pt x="0" y="411308"/>
                  </a:cubicBezTo>
                  <a:lnTo>
                    <a:pt x="0" y="9513"/>
                  </a:lnTo>
                  <a:cubicBezTo>
                    <a:pt x="0" y="6990"/>
                    <a:pt x="1002" y="4570"/>
                    <a:pt x="2786" y="2786"/>
                  </a:cubicBezTo>
                  <a:cubicBezTo>
                    <a:pt x="4570" y="1002"/>
                    <a:pt x="6990" y="0"/>
                    <a:pt x="9513" y="0"/>
                  </a:cubicBezTo>
                  <a:close/>
                </a:path>
              </a:pathLst>
            </a:custGeom>
            <a:grpFill/>
          </p:spPr>
          <p:txBody>
            <a:bodyPr/>
            <a:lstStyle/>
            <a:p>
              <a:endParaRPr lang="en-US"/>
            </a:p>
          </p:txBody>
        </p:sp>
        <p:sp>
          <p:nvSpPr>
            <p:cNvPr id="19" name="TextBox 19"/>
            <p:cNvSpPr txBox="1"/>
            <p:nvPr/>
          </p:nvSpPr>
          <p:spPr>
            <a:xfrm>
              <a:off x="0" y="85725"/>
              <a:ext cx="4086535" cy="335096"/>
            </a:xfrm>
            <a:prstGeom prst="rect">
              <a:avLst/>
            </a:prstGeom>
            <a:grpFill/>
          </p:spPr>
          <p:txBody>
            <a:bodyPr lIns="50800" tIns="50800" rIns="50800" bIns="50800" rtlCol="0" anchor="ctr"/>
            <a:lstStyle/>
            <a:p>
              <a:pPr algn="ctr">
                <a:lnSpc>
                  <a:spcPts val="1925"/>
                </a:lnSpc>
              </a:pPr>
              <a:endParaRPr/>
            </a:p>
          </p:txBody>
        </p:sp>
      </p:grpSp>
      <p:sp>
        <p:nvSpPr>
          <p:cNvPr id="21" name="TextBox 21"/>
          <p:cNvSpPr txBox="1"/>
          <p:nvPr/>
        </p:nvSpPr>
        <p:spPr>
          <a:xfrm>
            <a:off x="202295" y="3339868"/>
            <a:ext cx="18060305" cy="1186672"/>
          </a:xfrm>
          <a:prstGeom prst="rect">
            <a:avLst/>
          </a:prstGeom>
        </p:spPr>
        <p:txBody>
          <a:bodyPr wrap="square" lIns="0" tIns="0" rIns="0" bIns="0" rtlCol="0" anchor="t">
            <a:spAutoFit/>
          </a:bodyPr>
          <a:lstStyle/>
          <a:p>
            <a:pPr marL="742950" indent="-742950">
              <a:lnSpc>
                <a:spcPts val="4724"/>
              </a:lnSpc>
              <a:buFont typeface="+mj-lt"/>
              <a:buAutoNum type="arabicParenR"/>
            </a:pPr>
            <a:r>
              <a:rPr lang="en-US" sz="3200" b="1" spc="209" dirty="0">
                <a:solidFill>
                  <a:srgbClr val="000000"/>
                </a:solidFill>
                <a:latin typeface="DM Sans"/>
              </a:rPr>
              <a:t>Data Encoding : </a:t>
            </a:r>
            <a:r>
              <a:rPr lang="en-US" sz="3200" spc="209" dirty="0">
                <a:solidFill>
                  <a:srgbClr val="000000"/>
                </a:solidFill>
                <a:latin typeface="DM Sans"/>
              </a:rPr>
              <a:t>Categorical variables were transformed into numerical formats through label encoding to facilitate their use in our models. </a:t>
            </a:r>
          </a:p>
        </p:txBody>
      </p:sp>
      <p:pic>
        <p:nvPicPr>
          <p:cNvPr id="23" name="صورة 22" descr="صورة تحتوي على نص, لقطة شاشة, الخط, رقم&#10;&#10;تم إنشاء الوصف تلقائياً">
            <a:extLst>
              <a:ext uri="{FF2B5EF4-FFF2-40B4-BE49-F238E27FC236}">
                <a16:creationId xmlns:a16="http://schemas.microsoft.com/office/drawing/2014/main" id="{7054DD7A-EEF4-18ED-B0FB-9271E1F37468}"/>
              </a:ext>
            </a:extLst>
          </p:cNvPr>
          <p:cNvPicPr>
            <a:picLocks noChangeAspect="1"/>
          </p:cNvPicPr>
          <p:nvPr/>
        </p:nvPicPr>
        <p:blipFill rotWithShape="1">
          <a:blip r:embed="rId6">
            <a:extLst>
              <a:ext uri="{28A0092B-C50C-407E-A947-70E740481C1C}">
                <a14:useLocalDpi xmlns:a14="http://schemas.microsoft.com/office/drawing/2010/main" val="0"/>
              </a:ext>
            </a:extLst>
          </a:blip>
          <a:srcRect t="15489"/>
          <a:stretch/>
        </p:blipFill>
        <p:spPr>
          <a:xfrm>
            <a:off x="1586890" y="4873533"/>
            <a:ext cx="15524000" cy="5334220"/>
          </a:xfrm>
          <a:prstGeom prst="rect">
            <a:avLst/>
          </a:prstGeom>
          <a:ln>
            <a:solidFill>
              <a:schemeClr val="tx1"/>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17">
            <a:extLst>
              <a:ext uri="{FF2B5EF4-FFF2-40B4-BE49-F238E27FC236}">
                <a16:creationId xmlns:a16="http://schemas.microsoft.com/office/drawing/2014/main" id="{A9052DC9-9DC0-4D4E-AC60-888EDCC96CF1}"/>
              </a:ext>
            </a:extLst>
          </p:cNvPr>
          <p:cNvGrpSpPr/>
          <p:nvPr/>
        </p:nvGrpSpPr>
        <p:grpSpPr>
          <a:xfrm>
            <a:off x="175637" y="329638"/>
            <a:ext cx="17936723" cy="1969868"/>
            <a:chOff x="0" y="0"/>
            <a:chExt cx="4086535" cy="420821"/>
          </a:xfrm>
          <a:solidFill>
            <a:schemeClr val="tx2">
              <a:lumMod val="20000"/>
              <a:lumOff val="80000"/>
            </a:schemeClr>
          </a:solidFill>
        </p:grpSpPr>
        <p:sp>
          <p:nvSpPr>
            <p:cNvPr id="10" name="Freeform 18">
              <a:extLst>
                <a:ext uri="{FF2B5EF4-FFF2-40B4-BE49-F238E27FC236}">
                  <a16:creationId xmlns:a16="http://schemas.microsoft.com/office/drawing/2014/main" id="{C3C29046-8893-EA29-2E1E-E059248C45E7}"/>
                </a:ext>
              </a:extLst>
            </p:cNvPr>
            <p:cNvSpPr/>
            <p:nvPr/>
          </p:nvSpPr>
          <p:spPr>
            <a:xfrm>
              <a:off x="0" y="0"/>
              <a:ext cx="4086535" cy="420821"/>
            </a:xfrm>
            <a:custGeom>
              <a:avLst/>
              <a:gdLst/>
              <a:ahLst/>
              <a:cxnLst/>
              <a:rect l="l" t="t" r="r" b="b"/>
              <a:pathLst>
                <a:path w="4086535" h="420821">
                  <a:moveTo>
                    <a:pt x="9513" y="0"/>
                  </a:moveTo>
                  <a:lnTo>
                    <a:pt x="4077022" y="0"/>
                  </a:lnTo>
                  <a:cubicBezTo>
                    <a:pt x="4079546" y="0"/>
                    <a:pt x="4081965" y="1002"/>
                    <a:pt x="4083749" y="2786"/>
                  </a:cubicBezTo>
                  <a:cubicBezTo>
                    <a:pt x="4085533" y="4570"/>
                    <a:pt x="4086535" y="6990"/>
                    <a:pt x="4086535" y="9513"/>
                  </a:cubicBezTo>
                  <a:lnTo>
                    <a:pt x="4086535" y="411308"/>
                  </a:lnTo>
                  <a:cubicBezTo>
                    <a:pt x="4086535" y="413831"/>
                    <a:pt x="4085533" y="416251"/>
                    <a:pt x="4083749" y="418035"/>
                  </a:cubicBezTo>
                  <a:cubicBezTo>
                    <a:pt x="4081965" y="419819"/>
                    <a:pt x="4079546" y="420821"/>
                    <a:pt x="4077022" y="420821"/>
                  </a:cubicBezTo>
                  <a:lnTo>
                    <a:pt x="9513" y="420821"/>
                  </a:lnTo>
                  <a:cubicBezTo>
                    <a:pt x="6990" y="420821"/>
                    <a:pt x="4570" y="419819"/>
                    <a:pt x="2786" y="418035"/>
                  </a:cubicBezTo>
                  <a:cubicBezTo>
                    <a:pt x="1002" y="416251"/>
                    <a:pt x="0" y="413831"/>
                    <a:pt x="0" y="411308"/>
                  </a:cubicBezTo>
                  <a:lnTo>
                    <a:pt x="0" y="9513"/>
                  </a:lnTo>
                  <a:cubicBezTo>
                    <a:pt x="0" y="6990"/>
                    <a:pt x="1002" y="4570"/>
                    <a:pt x="2786" y="2786"/>
                  </a:cubicBezTo>
                  <a:cubicBezTo>
                    <a:pt x="4570" y="1002"/>
                    <a:pt x="6990" y="0"/>
                    <a:pt x="9513" y="0"/>
                  </a:cubicBezTo>
                  <a:close/>
                </a:path>
              </a:pathLst>
            </a:custGeom>
            <a:grpFill/>
          </p:spPr>
          <p:txBody>
            <a:bodyPr/>
            <a:lstStyle/>
            <a:p>
              <a:endParaRPr lang="en-US"/>
            </a:p>
          </p:txBody>
        </p:sp>
        <p:sp>
          <p:nvSpPr>
            <p:cNvPr id="11" name="TextBox 19">
              <a:extLst>
                <a:ext uri="{FF2B5EF4-FFF2-40B4-BE49-F238E27FC236}">
                  <a16:creationId xmlns:a16="http://schemas.microsoft.com/office/drawing/2014/main" id="{1C17DA93-432B-7D82-D196-0E8E37A618A0}"/>
                </a:ext>
              </a:extLst>
            </p:cNvPr>
            <p:cNvSpPr txBox="1"/>
            <p:nvPr/>
          </p:nvSpPr>
          <p:spPr>
            <a:xfrm>
              <a:off x="0" y="85725"/>
              <a:ext cx="4086535" cy="335096"/>
            </a:xfrm>
            <a:prstGeom prst="rect">
              <a:avLst/>
            </a:prstGeom>
            <a:grpFill/>
          </p:spPr>
          <p:txBody>
            <a:bodyPr lIns="50800" tIns="50800" rIns="50800" bIns="50800" rtlCol="0" anchor="ctr"/>
            <a:lstStyle/>
            <a:p>
              <a:pPr algn="ctr">
                <a:lnSpc>
                  <a:spcPts val="1925"/>
                </a:lnSpc>
              </a:pPr>
              <a:endParaRPr/>
            </a:p>
          </p:txBody>
        </p:sp>
      </p:grpSp>
      <p:sp>
        <p:nvSpPr>
          <p:cNvPr id="16" name="مربع نص 15">
            <a:extLst>
              <a:ext uri="{FF2B5EF4-FFF2-40B4-BE49-F238E27FC236}">
                <a16:creationId xmlns:a16="http://schemas.microsoft.com/office/drawing/2014/main" id="{4227DCEE-2E65-7435-55E6-C360BCECBDD0}"/>
              </a:ext>
            </a:extLst>
          </p:cNvPr>
          <p:cNvSpPr txBox="1"/>
          <p:nvPr/>
        </p:nvSpPr>
        <p:spPr>
          <a:xfrm>
            <a:off x="158704" y="-192732"/>
            <a:ext cx="17602200" cy="3014608"/>
          </a:xfrm>
          <a:prstGeom prst="rect">
            <a:avLst/>
          </a:prstGeom>
          <a:noFill/>
        </p:spPr>
        <p:txBody>
          <a:bodyPr wrap="square">
            <a:spAutoFit/>
          </a:bodyPr>
          <a:lstStyle/>
          <a:p>
            <a:pPr>
              <a:lnSpc>
                <a:spcPts val="4724"/>
              </a:lnSpc>
            </a:pPr>
            <a:endParaRPr lang="en-US" sz="3200" spc="209" dirty="0">
              <a:solidFill>
                <a:srgbClr val="000000"/>
              </a:solidFill>
              <a:latin typeface="DM Sans"/>
            </a:endParaRPr>
          </a:p>
          <a:p>
            <a:pPr marL="408305" marR="0" lvl="0" indent="0" algn="l" defTabSz="914400" rtl="0" eaLnBrk="1" fontAlgn="auto" latinLnBrk="0" hangingPunct="1">
              <a:lnSpc>
                <a:spcPct val="115000"/>
              </a:lnSpc>
              <a:spcBef>
                <a:spcPts val="0"/>
              </a:spcBef>
              <a:spcAft>
                <a:spcPts val="80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DM Sans" pitchFamily="2" charset="0"/>
                <a:ea typeface="Aptos" panose="020B0004020202020204" pitchFamily="34" charset="0"/>
                <a:cs typeface="Arial" panose="020B0604020202020204" pitchFamily="34" charset="0"/>
              </a:rPr>
              <a:t>2. Feature Scaling and Normalization: </a:t>
            </a:r>
            <a:r>
              <a:rPr kumimoji="0" lang="en-US" sz="3200" b="0" i="0" u="none" strike="noStrike" kern="1200" cap="none" spc="0" normalizeH="0" baseline="0" noProof="0" dirty="0">
                <a:ln>
                  <a:noFill/>
                </a:ln>
                <a:solidFill>
                  <a:prstClr val="black"/>
                </a:solidFill>
                <a:effectLst/>
                <a:uLnTx/>
                <a:uFillTx/>
                <a:latin typeface="DM Sans" pitchFamily="2" charset="0"/>
                <a:ea typeface="Aptos" panose="020B0004020202020204" pitchFamily="34" charset="0"/>
                <a:cs typeface="Arial" panose="020B0604020202020204" pitchFamily="34" charset="0"/>
              </a:rPr>
              <a:t>Numerical features underwent standardization (subtracting the mean and scaling to unit variance) and Min-Max scaling to ensure uniformity in range and scale, enhancing model performance.</a:t>
            </a:r>
          </a:p>
          <a:p>
            <a:pPr>
              <a:lnSpc>
                <a:spcPts val="4724"/>
              </a:lnSpc>
            </a:pPr>
            <a:endParaRPr lang="en-US" sz="1800" spc="-239" dirty="0">
              <a:solidFill>
                <a:srgbClr val="000000"/>
              </a:solidFill>
              <a:latin typeface="DM Sans"/>
            </a:endParaRPr>
          </a:p>
        </p:txBody>
      </p:sp>
      <p:pic>
        <p:nvPicPr>
          <p:cNvPr id="18" name="صورة 17" descr="صورة تحتوي على نص, لقطة شاشة, الخط&#10;&#10;تم إنشاء الوصف تلقائياً">
            <a:extLst>
              <a:ext uri="{FF2B5EF4-FFF2-40B4-BE49-F238E27FC236}">
                <a16:creationId xmlns:a16="http://schemas.microsoft.com/office/drawing/2014/main" id="{3A43ACBC-73A3-8D7D-2625-5A80B9626D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819" y="4335593"/>
            <a:ext cx="17350361" cy="5794065"/>
          </a:xfrm>
          <a:prstGeom prst="rect">
            <a:avLst/>
          </a:prstGeom>
          <a:ln>
            <a:solidFill>
              <a:schemeClr val="tx1"/>
            </a:solidFill>
          </a:ln>
        </p:spPr>
      </p:pic>
      <mc:AlternateContent xmlns:mc="http://schemas.openxmlformats.org/markup-compatibility/2006" xmlns:a14="http://schemas.microsoft.com/office/drawing/2010/main">
        <mc:Choice Requires="a14">
          <p:sp>
            <p:nvSpPr>
              <p:cNvPr id="20" name="مربع نص 19">
                <a:extLst>
                  <a:ext uri="{FF2B5EF4-FFF2-40B4-BE49-F238E27FC236}">
                    <a16:creationId xmlns:a16="http://schemas.microsoft.com/office/drawing/2014/main" id="{919570C2-60F6-9303-3390-9B719184B428}"/>
                  </a:ext>
                </a:extLst>
              </p:cNvPr>
              <p:cNvSpPr txBox="1"/>
              <p:nvPr/>
            </p:nvSpPr>
            <p:spPr>
              <a:xfrm>
                <a:off x="-762000" y="2550216"/>
                <a:ext cx="22669500" cy="2057038"/>
              </a:xfrm>
              <a:prstGeom prst="rect">
                <a:avLst/>
              </a:prstGeom>
              <a:noFill/>
            </p:spPr>
            <p:txBody>
              <a:bodyPr wrap="square">
                <a:spAutoFit/>
              </a:bodyPr>
              <a:lstStyle/>
              <a:p>
                <a:pPr lvl="2" algn="l" rtl="0">
                  <a:lnSpc>
                    <a:spcPct val="115000"/>
                  </a:lnSpc>
                  <a:spcAft>
                    <a:spcPts val="800"/>
                  </a:spcAft>
                </a:pPr>
                <a:r>
                  <a:rPr lang="en-US" sz="2400" dirty="0">
                    <a:effectLst/>
                    <a:latin typeface="Aptos" panose="020B0004020202020204" pitchFamily="34" charset="0"/>
                    <a:ea typeface="Aptos" panose="020B0004020202020204" pitchFamily="34" charset="0"/>
                    <a:cs typeface="Arial" panose="020B0604020202020204" pitchFamily="34" charset="0"/>
                  </a:rPr>
                  <a:t>  - Here we use function takes the dataset as an argument and replaces each "col", with :  </a:t>
                </a:r>
                <a14:m>
                  <m:oMath xmlns:m="http://schemas.openxmlformats.org/officeDocument/2006/math">
                    <m:f>
                      <m:fPr>
                        <m:ctrlPr>
                          <a:rPr lang="en-US" sz="2400" i="1">
                            <a:effectLst/>
                            <a:latin typeface="Cambria Math" panose="02040503050406030204" pitchFamily="18" charset="0"/>
                            <a:ea typeface="Aptos" panose="020B0004020202020204" pitchFamily="34" charset="0"/>
                            <a:cs typeface="Cambria Math" panose="02040503050406030204" pitchFamily="18" charset="0"/>
                          </a:rPr>
                        </m:ctrlPr>
                      </m:fPr>
                      <m:num>
                        <m:r>
                          <m:rPr>
                            <m:sty m:val="p"/>
                          </m:rPr>
                          <a:rPr lang="en-US" sz="2400">
                            <a:effectLst/>
                            <a:latin typeface="Cambria Math" panose="02040503050406030204" pitchFamily="18" charset="0"/>
                            <a:ea typeface="Aptos" panose="020B0004020202020204" pitchFamily="34" charset="0"/>
                            <a:cs typeface="Arial" panose="020B0604020202020204" pitchFamily="34" charset="0"/>
                          </a:rPr>
                          <m:t>col</m:t>
                        </m:r>
                        <m:r>
                          <a:rPr lang="en-US" sz="2400" i="1">
                            <a:effectLst/>
                            <a:latin typeface="Cambria Math" panose="02040503050406030204" pitchFamily="18" charset="0"/>
                            <a:ea typeface="Aptos" panose="020B0004020202020204" pitchFamily="34" charset="0"/>
                            <a:cs typeface="Arial" panose="020B0604020202020204" pitchFamily="34" charset="0"/>
                          </a:rPr>
                          <m:t>−</m:t>
                        </m:r>
                        <m:r>
                          <m:rPr>
                            <m:sty m:val="p"/>
                          </m:rPr>
                          <a:rPr lang="en-US" sz="2400">
                            <a:effectLst/>
                            <a:latin typeface="Cambria Math" panose="02040503050406030204" pitchFamily="18" charset="0"/>
                            <a:ea typeface="Aptos" panose="020B0004020202020204" pitchFamily="34" charset="0"/>
                            <a:cs typeface="Arial" panose="020B0604020202020204" pitchFamily="34" charset="0"/>
                          </a:rPr>
                          <m:t>mean</m:t>
                        </m:r>
                        <m:r>
                          <a:rPr lang="en-US" sz="2400">
                            <a:effectLst/>
                            <a:latin typeface="Cambria Math" panose="02040503050406030204" pitchFamily="18" charset="0"/>
                            <a:ea typeface="Aptos" panose="020B0004020202020204" pitchFamily="34" charset="0"/>
                            <a:cs typeface="Arial" panose="020B0604020202020204" pitchFamily="34" charset="0"/>
                          </a:rPr>
                          <m:t>(</m:t>
                        </m:r>
                        <m:r>
                          <m:rPr>
                            <m:sty m:val="p"/>
                          </m:rPr>
                          <a:rPr lang="en-US" sz="2400">
                            <a:effectLst/>
                            <a:latin typeface="Cambria Math" panose="02040503050406030204" pitchFamily="18" charset="0"/>
                            <a:ea typeface="Aptos" panose="020B0004020202020204" pitchFamily="34" charset="0"/>
                            <a:cs typeface="Arial" panose="020B0604020202020204" pitchFamily="34" charset="0"/>
                          </a:rPr>
                          <m:t>col</m:t>
                        </m:r>
                        <m:r>
                          <a:rPr lang="en-US" sz="2400">
                            <a:effectLst/>
                            <a:latin typeface="Cambria Math" panose="02040503050406030204" pitchFamily="18" charset="0"/>
                            <a:ea typeface="Aptos" panose="020B0004020202020204" pitchFamily="34" charset="0"/>
                            <a:cs typeface="Arial" panose="020B0604020202020204" pitchFamily="34" charset="0"/>
                          </a:rPr>
                          <m:t>)</m:t>
                        </m:r>
                      </m:num>
                      <m:den>
                        <m:r>
                          <m:rPr>
                            <m:sty m:val="p"/>
                          </m:rPr>
                          <a:rPr lang="en-US" sz="2400">
                            <a:effectLst/>
                            <a:latin typeface="Cambria Math" panose="02040503050406030204" pitchFamily="18" charset="0"/>
                            <a:ea typeface="Aptos" panose="020B0004020202020204" pitchFamily="34" charset="0"/>
                            <a:cs typeface="Arial" panose="020B0604020202020204" pitchFamily="34" charset="0"/>
                          </a:rPr>
                          <m:t>max</m:t>
                        </m:r>
                        <m:r>
                          <a:rPr lang="en-US" sz="2400">
                            <a:effectLst/>
                            <a:latin typeface="Cambria Math" panose="02040503050406030204" pitchFamily="18" charset="0"/>
                            <a:ea typeface="Aptos" panose="020B0004020202020204" pitchFamily="34" charset="0"/>
                            <a:cs typeface="Arial" panose="020B0604020202020204" pitchFamily="34" charset="0"/>
                          </a:rPr>
                          <m:t>(</m:t>
                        </m:r>
                        <m:r>
                          <m:rPr>
                            <m:sty m:val="p"/>
                          </m:rPr>
                          <a:rPr lang="en-US" sz="2400">
                            <a:effectLst/>
                            <a:latin typeface="Cambria Math" panose="02040503050406030204" pitchFamily="18" charset="0"/>
                            <a:ea typeface="Aptos" panose="020B0004020202020204" pitchFamily="34" charset="0"/>
                            <a:cs typeface="Arial" panose="020B0604020202020204" pitchFamily="34" charset="0"/>
                          </a:rPr>
                          <m:t>col</m:t>
                        </m:r>
                        <m:r>
                          <a:rPr lang="en-US" sz="2400">
                            <a:effectLst/>
                            <a:latin typeface="Cambria Math" panose="02040503050406030204" pitchFamily="18" charset="0"/>
                            <a:ea typeface="Aptos" panose="020B0004020202020204" pitchFamily="34" charset="0"/>
                            <a:cs typeface="Arial" panose="020B0604020202020204" pitchFamily="34" charset="0"/>
                          </a:rPr>
                          <m:t>)</m:t>
                        </m:r>
                      </m:den>
                    </m:f>
                  </m:oMath>
                </a14:m>
                <a:r>
                  <a:rPr lang="en-US" sz="2400" dirty="0">
                    <a:effectLst/>
                    <a:latin typeface="Aptos" panose="020B0004020202020204" pitchFamily="34" charset="0"/>
                    <a:ea typeface="Aptos" panose="020B0004020202020204" pitchFamily="34" charset="0"/>
                    <a:cs typeface="Arial" panose="020B0604020202020204" pitchFamily="34" charset="0"/>
                  </a:rPr>
                  <a:t> where mean : mean or the median.</a:t>
                </a:r>
              </a:p>
              <a:p>
                <a:pPr marL="914400" algn="l" rtl="0">
                  <a:lnSpc>
                    <a:spcPct val="115000"/>
                  </a:lnSpc>
                  <a:spcAft>
                    <a:spcPts val="800"/>
                  </a:spcAft>
                </a:pPr>
                <a:r>
                  <a:rPr lang="en-US" sz="2400" dirty="0">
                    <a:latin typeface="Aptos" panose="020B0004020202020204" pitchFamily="34" charset="0"/>
                    <a:ea typeface="Aptos" panose="020B0004020202020204" pitchFamily="34" charset="0"/>
                    <a:cs typeface="Arial" panose="020B0604020202020204" pitchFamily="34" charset="0"/>
                  </a:rPr>
                  <a:t>  -  </a:t>
                </a:r>
                <a:r>
                  <a:rPr lang="en-US" sz="2400" dirty="0">
                    <a:effectLst/>
                    <a:latin typeface="Aptos" panose="020B0004020202020204" pitchFamily="34" charset="0"/>
                    <a:ea typeface="Aptos" panose="020B0004020202020204" pitchFamily="34" charset="0"/>
                    <a:cs typeface="Arial" panose="020B0604020202020204" pitchFamily="34" charset="0"/>
                  </a:rPr>
                  <a:t>also It has been found that the  following equation works well for scaling :  </a:t>
                </a:r>
                <a14:m>
                  <m:oMath xmlns:m="http://schemas.openxmlformats.org/officeDocument/2006/math">
                    <m:f>
                      <m:fPr>
                        <m:ctrlPr>
                          <a:rPr lang="en-US" sz="2400" i="1">
                            <a:effectLst/>
                            <a:latin typeface="Cambria Math" panose="02040503050406030204" pitchFamily="18" charset="0"/>
                            <a:ea typeface="Aptos" panose="020B0004020202020204" pitchFamily="34" charset="0"/>
                            <a:cs typeface="Cambria Math" panose="02040503050406030204" pitchFamily="18" charset="0"/>
                          </a:rPr>
                        </m:ctrlPr>
                      </m:fPr>
                      <m:num>
                        <m:r>
                          <m:rPr>
                            <m:sty m:val="p"/>
                          </m:rPr>
                          <a:rPr lang="en-US" sz="2400">
                            <a:effectLst/>
                            <a:latin typeface="Cambria Math" panose="02040503050406030204" pitchFamily="18" charset="0"/>
                            <a:ea typeface="Aptos" panose="020B0004020202020204" pitchFamily="34" charset="0"/>
                            <a:cs typeface="Arial" panose="020B0604020202020204" pitchFamily="34" charset="0"/>
                          </a:rPr>
                          <m:t>col</m:t>
                        </m:r>
                        <m:r>
                          <a:rPr lang="en-US" sz="2400" i="1">
                            <a:effectLst/>
                            <a:latin typeface="Cambria Math" panose="02040503050406030204" pitchFamily="18" charset="0"/>
                            <a:ea typeface="Aptos" panose="020B0004020202020204" pitchFamily="34" charset="0"/>
                            <a:cs typeface="Arial" panose="020B0604020202020204" pitchFamily="34" charset="0"/>
                          </a:rPr>
                          <m:t>−</m:t>
                        </m:r>
                        <m:r>
                          <m:rPr>
                            <m:sty m:val="p"/>
                          </m:rPr>
                          <a:rPr lang="en-US" sz="2400">
                            <a:effectLst/>
                            <a:latin typeface="Cambria Math" panose="02040503050406030204" pitchFamily="18" charset="0"/>
                            <a:ea typeface="Aptos" panose="020B0004020202020204" pitchFamily="34" charset="0"/>
                            <a:cs typeface="Arial" panose="020B0604020202020204" pitchFamily="34" charset="0"/>
                          </a:rPr>
                          <m:t>mean</m:t>
                        </m:r>
                        <m:r>
                          <a:rPr lang="en-US" sz="2400">
                            <a:effectLst/>
                            <a:latin typeface="Cambria Math" panose="02040503050406030204" pitchFamily="18" charset="0"/>
                            <a:ea typeface="Aptos" panose="020B0004020202020204" pitchFamily="34" charset="0"/>
                            <a:cs typeface="Arial" panose="020B0604020202020204" pitchFamily="34" charset="0"/>
                          </a:rPr>
                          <m:t>(</m:t>
                        </m:r>
                        <m:r>
                          <m:rPr>
                            <m:sty m:val="p"/>
                          </m:rPr>
                          <a:rPr lang="en-US" sz="2400">
                            <a:effectLst/>
                            <a:latin typeface="Cambria Math" panose="02040503050406030204" pitchFamily="18" charset="0"/>
                            <a:ea typeface="Aptos" panose="020B0004020202020204" pitchFamily="34" charset="0"/>
                            <a:cs typeface="Arial" panose="020B0604020202020204" pitchFamily="34" charset="0"/>
                          </a:rPr>
                          <m:t>col</m:t>
                        </m:r>
                        <m:r>
                          <a:rPr lang="en-US" sz="2400">
                            <a:effectLst/>
                            <a:latin typeface="Cambria Math" panose="02040503050406030204" pitchFamily="18" charset="0"/>
                            <a:ea typeface="Aptos" panose="020B0004020202020204" pitchFamily="34" charset="0"/>
                            <a:cs typeface="Arial" panose="020B0604020202020204" pitchFamily="34" charset="0"/>
                          </a:rPr>
                          <m:t>)</m:t>
                        </m:r>
                      </m:num>
                      <m:den>
                        <m:r>
                          <m:rPr>
                            <m:sty m:val="p"/>
                          </m:rPr>
                          <a:rPr lang="en-US" sz="2400">
                            <a:effectLst/>
                            <a:latin typeface="Cambria Math" panose="02040503050406030204" pitchFamily="18" charset="0"/>
                            <a:ea typeface="Aptos" panose="020B0004020202020204" pitchFamily="34" charset="0"/>
                            <a:cs typeface="Arial" panose="020B0604020202020204" pitchFamily="34" charset="0"/>
                          </a:rPr>
                          <m:t>std</m:t>
                        </m:r>
                        <m:r>
                          <a:rPr lang="en-US" sz="2400">
                            <a:effectLst/>
                            <a:latin typeface="Cambria Math" panose="02040503050406030204" pitchFamily="18" charset="0"/>
                            <a:ea typeface="Aptos" panose="020B0004020202020204" pitchFamily="34" charset="0"/>
                            <a:cs typeface="Arial" panose="020B0604020202020204" pitchFamily="34" charset="0"/>
                          </a:rPr>
                          <m:t>(</m:t>
                        </m:r>
                        <m:r>
                          <m:rPr>
                            <m:sty m:val="p"/>
                          </m:rPr>
                          <a:rPr lang="en-US" sz="2400">
                            <a:effectLst/>
                            <a:latin typeface="Cambria Math" panose="02040503050406030204" pitchFamily="18" charset="0"/>
                            <a:ea typeface="Aptos" panose="020B0004020202020204" pitchFamily="34" charset="0"/>
                            <a:cs typeface="Arial" panose="020B0604020202020204" pitchFamily="34" charset="0"/>
                          </a:rPr>
                          <m:t>col</m:t>
                        </m:r>
                        <m:r>
                          <a:rPr lang="en-US" sz="2400">
                            <a:effectLst/>
                            <a:latin typeface="Cambria Math" panose="02040503050406030204" pitchFamily="18" charset="0"/>
                            <a:ea typeface="Aptos" panose="020B0004020202020204" pitchFamily="34" charset="0"/>
                            <a:cs typeface="Arial" panose="020B0604020202020204" pitchFamily="34" charset="0"/>
                          </a:rPr>
                          <m:t>)</m:t>
                        </m:r>
                      </m:den>
                    </m:f>
                  </m:oMath>
                </a14:m>
                <a:r>
                  <a:rPr lang="en-US" sz="2400" dirty="0">
                    <a:effectLst/>
                    <a:latin typeface="Aptos" panose="020B0004020202020204" pitchFamily="34" charset="0"/>
                    <a:ea typeface="Aptos" panose="020B0004020202020204" pitchFamily="34" charset="0"/>
                    <a:cs typeface="Arial" panose="020B0604020202020204" pitchFamily="34" charset="0"/>
                  </a:rPr>
                  <a:t>  where std : standard deviation.</a:t>
                </a:r>
              </a:p>
              <a:p>
                <a:pPr algn="l" rtl="0">
                  <a:lnSpc>
                    <a:spcPct val="115000"/>
                  </a:lnSpc>
                  <a:spcAft>
                    <a:spcPts val="800"/>
                  </a:spcAft>
                </a:pPr>
                <a:r>
                  <a:rPr lang="en-US" sz="2400" b="1" dirty="0">
                    <a:effectLst/>
                    <a:latin typeface="Aptos" panose="020B0004020202020204" pitchFamily="34" charset="0"/>
                    <a:ea typeface="Aptos" panose="020B0004020202020204" pitchFamily="34" charset="0"/>
                    <a:cs typeface="Arial" panose="020B0604020202020204" pitchFamily="34" charset="0"/>
                  </a:rPr>
                  <a:t> </a:t>
                </a:r>
                <a:endParaRPr lang="en-US" sz="2400" dirty="0">
                  <a:effectLst/>
                  <a:latin typeface="Aptos" panose="020B0004020202020204" pitchFamily="34" charset="0"/>
                  <a:ea typeface="Aptos" panose="020B0004020202020204" pitchFamily="34" charset="0"/>
                  <a:cs typeface="Arial" panose="020B0604020202020204" pitchFamily="34" charset="0"/>
                </a:endParaRPr>
              </a:p>
            </p:txBody>
          </p:sp>
        </mc:Choice>
        <mc:Fallback xmlns="">
          <p:sp>
            <p:nvSpPr>
              <p:cNvPr id="20" name="مربع نص 19">
                <a:extLst>
                  <a:ext uri="{FF2B5EF4-FFF2-40B4-BE49-F238E27FC236}">
                    <a16:creationId xmlns:a16="http://schemas.microsoft.com/office/drawing/2014/main" id="{919570C2-60F6-9303-3390-9B719184B428}"/>
                  </a:ext>
                </a:extLst>
              </p:cNvPr>
              <p:cNvSpPr txBox="1">
                <a:spLocks noRot="1" noChangeAspect="1" noMove="1" noResize="1" noEditPoints="1" noAdjustHandles="1" noChangeArrowheads="1" noChangeShapeType="1" noTextEdit="1"/>
              </p:cNvSpPr>
              <p:nvPr/>
            </p:nvSpPr>
            <p:spPr>
              <a:xfrm>
                <a:off x="-762000" y="2550216"/>
                <a:ext cx="22669500" cy="2057038"/>
              </a:xfrm>
              <a:prstGeom prst="rect">
                <a:avLst/>
              </a:prstGeom>
              <a:blipFill>
                <a:blip r:embed="rId3"/>
                <a:stretch>
                  <a:fillRect/>
                </a:stretch>
              </a:blipFill>
            </p:spPr>
            <p:txBody>
              <a:bodyPr/>
              <a:lstStyle/>
              <a:p>
                <a:r>
                  <a:rPr 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مربع نص 22">
            <a:extLst>
              <a:ext uri="{FF2B5EF4-FFF2-40B4-BE49-F238E27FC236}">
                <a16:creationId xmlns:a16="http://schemas.microsoft.com/office/drawing/2014/main" id="{71A6DA31-53EF-7C01-4C23-ED88E0F7B70A}"/>
              </a:ext>
            </a:extLst>
          </p:cNvPr>
          <p:cNvSpPr txBox="1"/>
          <p:nvPr/>
        </p:nvSpPr>
        <p:spPr>
          <a:xfrm>
            <a:off x="3327400" y="4630572"/>
            <a:ext cx="10007600" cy="1660647"/>
          </a:xfrm>
          <a:prstGeom prst="rect">
            <a:avLst/>
          </a:prstGeom>
          <a:noFill/>
        </p:spPr>
        <p:txBody>
          <a:bodyPr wrap="square">
            <a:spAutoFit/>
          </a:bodyPr>
          <a:lstStyle/>
          <a:p>
            <a:pPr marL="408305" marR="0" lvl="0" indent="0" algn="l" defTabSz="914400" rtl="0" eaLnBrk="1" fontAlgn="auto" latinLnBrk="0" hangingPunct="1">
              <a:lnSpc>
                <a:spcPct val="115000"/>
              </a:lnSpc>
              <a:spcBef>
                <a:spcPts val="0"/>
              </a:spcBef>
              <a:spcAft>
                <a:spcPts val="800"/>
              </a:spcAft>
              <a:buClrTx/>
              <a:buSzTx/>
              <a:buFontTx/>
              <a:buNone/>
              <a:tabLst/>
              <a:defRPr/>
            </a:pPr>
            <a:endParaRPr lang="en-US" dirty="0">
              <a:solidFill>
                <a:prstClr val="black"/>
              </a:solidFill>
              <a:latin typeface="DM Sans" pitchFamily="2" charset="0"/>
              <a:ea typeface="Aptos" panose="020B0004020202020204" pitchFamily="34" charset="0"/>
              <a:cs typeface="Arial" panose="020B0604020202020204" pitchFamily="34" charset="0"/>
            </a:endParaRPr>
          </a:p>
          <a:p>
            <a:pPr marL="408305" marR="0" lvl="0" indent="0" algn="l" defTabSz="914400" rtl="0" eaLnBrk="1" fontAlgn="auto" latinLnBrk="0" hangingPunct="1">
              <a:lnSpc>
                <a:spcPct val="115000"/>
              </a:lnSpc>
              <a:spcBef>
                <a:spcPts val="0"/>
              </a:spcBef>
              <a:spcAft>
                <a:spcPts val="80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DM Sans" pitchFamily="2" charset="0"/>
              <a:ea typeface="Aptos" panose="020B0004020202020204" pitchFamily="34" charset="0"/>
              <a:cs typeface="Arial" panose="020B0604020202020204" pitchFamily="34" charset="0"/>
            </a:endParaRPr>
          </a:p>
          <a:p>
            <a:pPr marL="408305" marR="0" lvl="0" indent="0" algn="l" defTabSz="914400" rtl="0" eaLnBrk="1" fontAlgn="auto" latinLnBrk="0" hangingPunct="1">
              <a:lnSpc>
                <a:spcPct val="115000"/>
              </a:lnSpc>
              <a:spcBef>
                <a:spcPts val="0"/>
              </a:spcBef>
              <a:spcAft>
                <a:spcPts val="800"/>
              </a:spcAft>
              <a:buClrTx/>
              <a:buSzTx/>
              <a:buFontTx/>
              <a:buNone/>
              <a:tabLst/>
              <a:defRPr/>
            </a:pPr>
            <a:endParaRPr lang="en-US" dirty="0">
              <a:solidFill>
                <a:prstClr val="black"/>
              </a:solidFill>
              <a:latin typeface="DM Sans" pitchFamily="2" charset="0"/>
              <a:ea typeface="Aptos" panose="020B0004020202020204" pitchFamily="34" charset="0"/>
              <a:cs typeface="Arial" panose="020B0604020202020204" pitchFamily="34" charset="0"/>
            </a:endParaRPr>
          </a:p>
          <a:p>
            <a:pPr marL="408305" marR="0" lvl="0" indent="0" algn="l" defTabSz="914400" rtl="0" eaLnBrk="1" fontAlgn="auto" latinLnBrk="0" hangingPunct="1">
              <a:lnSpc>
                <a:spcPct val="115000"/>
              </a:lnSpc>
              <a:spcBef>
                <a:spcPts val="0"/>
              </a:spcBef>
              <a:spcAft>
                <a:spcPts val="80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DM Sans" pitchFamily="2" charset="0"/>
              <a:ea typeface="Aptos" panose="020B0004020202020204" pitchFamily="34" charset="0"/>
              <a:cs typeface="Arial" panose="020B0604020202020204" pitchFamily="34" charset="0"/>
            </a:endParaRPr>
          </a:p>
        </p:txBody>
      </p:sp>
      <p:grpSp>
        <p:nvGrpSpPr>
          <p:cNvPr id="24" name="Group 17">
            <a:extLst>
              <a:ext uri="{FF2B5EF4-FFF2-40B4-BE49-F238E27FC236}">
                <a16:creationId xmlns:a16="http://schemas.microsoft.com/office/drawing/2014/main" id="{C112B1C8-FF2C-BADD-D672-5AD82CAA853A}"/>
              </a:ext>
            </a:extLst>
          </p:cNvPr>
          <p:cNvGrpSpPr/>
          <p:nvPr/>
        </p:nvGrpSpPr>
        <p:grpSpPr>
          <a:xfrm>
            <a:off x="175636" y="493031"/>
            <a:ext cx="17936723" cy="1373869"/>
            <a:chOff x="0" y="0"/>
            <a:chExt cx="4086535" cy="420821"/>
          </a:xfrm>
          <a:solidFill>
            <a:schemeClr val="tx2">
              <a:lumMod val="20000"/>
              <a:lumOff val="80000"/>
            </a:schemeClr>
          </a:solidFill>
        </p:grpSpPr>
        <p:sp>
          <p:nvSpPr>
            <p:cNvPr id="25" name="Freeform 18">
              <a:extLst>
                <a:ext uri="{FF2B5EF4-FFF2-40B4-BE49-F238E27FC236}">
                  <a16:creationId xmlns:a16="http://schemas.microsoft.com/office/drawing/2014/main" id="{EC532914-86FB-16E3-7BEB-BF94438C0E0F}"/>
                </a:ext>
              </a:extLst>
            </p:cNvPr>
            <p:cNvSpPr/>
            <p:nvPr/>
          </p:nvSpPr>
          <p:spPr>
            <a:xfrm>
              <a:off x="0" y="0"/>
              <a:ext cx="4086535" cy="420821"/>
            </a:xfrm>
            <a:custGeom>
              <a:avLst/>
              <a:gdLst/>
              <a:ahLst/>
              <a:cxnLst/>
              <a:rect l="l" t="t" r="r" b="b"/>
              <a:pathLst>
                <a:path w="4086535" h="420821">
                  <a:moveTo>
                    <a:pt x="9513" y="0"/>
                  </a:moveTo>
                  <a:lnTo>
                    <a:pt x="4077022" y="0"/>
                  </a:lnTo>
                  <a:cubicBezTo>
                    <a:pt x="4079546" y="0"/>
                    <a:pt x="4081965" y="1002"/>
                    <a:pt x="4083749" y="2786"/>
                  </a:cubicBezTo>
                  <a:cubicBezTo>
                    <a:pt x="4085533" y="4570"/>
                    <a:pt x="4086535" y="6990"/>
                    <a:pt x="4086535" y="9513"/>
                  </a:cubicBezTo>
                  <a:lnTo>
                    <a:pt x="4086535" y="411308"/>
                  </a:lnTo>
                  <a:cubicBezTo>
                    <a:pt x="4086535" y="413831"/>
                    <a:pt x="4085533" y="416251"/>
                    <a:pt x="4083749" y="418035"/>
                  </a:cubicBezTo>
                  <a:cubicBezTo>
                    <a:pt x="4081965" y="419819"/>
                    <a:pt x="4079546" y="420821"/>
                    <a:pt x="4077022" y="420821"/>
                  </a:cubicBezTo>
                  <a:lnTo>
                    <a:pt x="9513" y="420821"/>
                  </a:lnTo>
                  <a:cubicBezTo>
                    <a:pt x="6990" y="420821"/>
                    <a:pt x="4570" y="419819"/>
                    <a:pt x="2786" y="418035"/>
                  </a:cubicBezTo>
                  <a:cubicBezTo>
                    <a:pt x="1002" y="416251"/>
                    <a:pt x="0" y="413831"/>
                    <a:pt x="0" y="411308"/>
                  </a:cubicBezTo>
                  <a:lnTo>
                    <a:pt x="0" y="9513"/>
                  </a:lnTo>
                  <a:cubicBezTo>
                    <a:pt x="0" y="6990"/>
                    <a:pt x="1002" y="4570"/>
                    <a:pt x="2786" y="2786"/>
                  </a:cubicBezTo>
                  <a:cubicBezTo>
                    <a:pt x="4570" y="1002"/>
                    <a:pt x="6990" y="0"/>
                    <a:pt x="9513" y="0"/>
                  </a:cubicBezTo>
                  <a:close/>
                </a:path>
              </a:pathLst>
            </a:custGeom>
            <a:grpFill/>
          </p:spPr>
          <p:txBody>
            <a:bodyPr/>
            <a:lstStyle/>
            <a:p>
              <a:endParaRPr lang="en-US"/>
            </a:p>
          </p:txBody>
        </p:sp>
        <p:sp>
          <p:nvSpPr>
            <p:cNvPr id="26" name="TextBox 19">
              <a:extLst>
                <a:ext uri="{FF2B5EF4-FFF2-40B4-BE49-F238E27FC236}">
                  <a16:creationId xmlns:a16="http://schemas.microsoft.com/office/drawing/2014/main" id="{E11C03B6-C343-F39F-F008-BB7A9D78D1CB}"/>
                </a:ext>
              </a:extLst>
            </p:cNvPr>
            <p:cNvSpPr txBox="1"/>
            <p:nvPr/>
          </p:nvSpPr>
          <p:spPr>
            <a:xfrm>
              <a:off x="0" y="85725"/>
              <a:ext cx="4086535" cy="335096"/>
            </a:xfrm>
            <a:prstGeom prst="rect">
              <a:avLst/>
            </a:prstGeom>
            <a:grpFill/>
          </p:spPr>
          <p:txBody>
            <a:bodyPr lIns="50800" tIns="50800" rIns="50800" bIns="50800" rtlCol="0" anchor="ctr"/>
            <a:lstStyle/>
            <a:p>
              <a:pPr algn="ctr">
                <a:lnSpc>
                  <a:spcPts val="1925"/>
                </a:lnSpc>
              </a:pPr>
              <a:endParaRPr/>
            </a:p>
          </p:txBody>
        </p:sp>
      </p:grpSp>
      <p:grpSp>
        <p:nvGrpSpPr>
          <p:cNvPr id="27" name="Group 17">
            <a:extLst>
              <a:ext uri="{FF2B5EF4-FFF2-40B4-BE49-F238E27FC236}">
                <a16:creationId xmlns:a16="http://schemas.microsoft.com/office/drawing/2014/main" id="{0BC7A27E-8A95-C576-E3C4-D76D1AF8B711}"/>
              </a:ext>
            </a:extLst>
          </p:cNvPr>
          <p:cNvGrpSpPr/>
          <p:nvPr/>
        </p:nvGrpSpPr>
        <p:grpSpPr>
          <a:xfrm>
            <a:off x="175635" y="4167912"/>
            <a:ext cx="17936723" cy="1412838"/>
            <a:chOff x="0" y="0"/>
            <a:chExt cx="4086535" cy="420821"/>
          </a:xfrm>
          <a:solidFill>
            <a:schemeClr val="tx2">
              <a:lumMod val="20000"/>
              <a:lumOff val="80000"/>
            </a:schemeClr>
          </a:solidFill>
        </p:grpSpPr>
        <p:sp>
          <p:nvSpPr>
            <p:cNvPr id="28" name="Freeform 18">
              <a:extLst>
                <a:ext uri="{FF2B5EF4-FFF2-40B4-BE49-F238E27FC236}">
                  <a16:creationId xmlns:a16="http://schemas.microsoft.com/office/drawing/2014/main" id="{F38CEFB3-9C96-3F14-8F6A-59797DC1804B}"/>
                </a:ext>
              </a:extLst>
            </p:cNvPr>
            <p:cNvSpPr/>
            <p:nvPr/>
          </p:nvSpPr>
          <p:spPr>
            <a:xfrm>
              <a:off x="0" y="0"/>
              <a:ext cx="4086535" cy="420821"/>
            </a:xfrm>
            <a:custGeom>
              <a:avLst/>
              <a:gdLst/>
              <a:ahLst/>
              <a:cxnLst/>
              <a:rect l="l" t="t" r="r" b="b"/>
              <a:pathLst>
                <a:path w="4086535" h="420821">
                  <a:moveTo>
                    <a:pt x="9513" y="0"/>
                  </a:moveTo>
                  <a:lnTo>
                    <a:pt x="4077022" y="0"/>
                  </a:lnTo>
                  <a:cubicBezTo>
                    <a:pt x="4079546" y="0"/>
                    <a:pt x="4081965" y="1002"/>
                    <a:pt x="4083749" y="2786"/>
                  </a:cubicBezTo>
                  <a:cubicBezTo>
                    <a:pt x="4085533" y="4570"/>
                    <a:pt x="4086535" y="6990"/>
                    <a:pt x="4086535" y="9513"/>
                  </a:cubicBezTo>
                  <a:lnTo>
                    <a:pt x="4086535" y="411308"/>
                  </a:lnTo>
                  <a:cubicBezTo>
                    <a:pt x="4086535" y="413831"/>
                    <a:pt x="4085533" y="416251"/>
                    <a:pt x="4083749" y="418035"/>
                  </a:cubicBezTo>
                  <a:cubicBezTo>
                    <a:pt x="4081965" y="419819"/>
                    <a:pt x="4079546" y="420821"/>
                    <a:pt x="4077022" y="420821"/>
                  </a:cubicBezTo>
                  <a:lnTo>
                    <a:pt x="9513" y="420821"/>
                  </a:lnTo>
                  <a:cubicBezTo>
                    <a:pt x="6990" y="420821"/>
                    <a:pt x="4570" y="419819"/>
                    <a:pt x="2786" y="418035"/>
                  </a:cubicBezTo>
                  <a:cubicBezTo>
                    <a:pt x="1002" y="416251"/>
                    <a:pt x="0" y="413831"/>
                    <a:pt x="0" y="411308"/>
                  </a:cubicBezTo>
                  <a:lnTo>
                    <a:pt x="0" y="9513"/>
                  </a:lnTo>
                  <a:cubicBezTo>
                    <a:pt x="0" y="6990"/>
                    <a:pt x="1002" y="4570"/>
                    <a:pt x="2786" y="2786"/>
                  </a:cubicBezTo>
                  <a:cubicBezTo>
                    <a:pt x="4570" y="1002"/>
                    <a:pt x="6990" y="0"/>
                    <a:pt x="9513" y="0"/>
                  </a:cubicBezTo>
                  <a:close/>
                </a:path>
              </a:pathLst>
            </a:custGeom>
            <a:grpFill/>
          </p:spPr>
          <p:txBody>
            <a:bodyPr/>
            <a:lstStyle/>
            <a:p>
              <a:endParaRPr lang="en-US"/>
            </a:p>
          </p:txBody>
        </p:sp>
        <p:sp>
          <p:nvSpPr>
            <p:cNvPr id="29" name="TextBox 19">
              <a:extLst>
                <a:ext uri="{FF2B5EF4-FFF2-40B4-BE49-F238E27FC236}">
                  <a16:creationId xmlns:a16="http://schemas.microsoft.com/office/drawing/2014/main" id="{0E94A047-8D82-0702-3D1F-A18F6778B2BC}"/>
                </a:ext>
              </a:extLst>
            </p:cNvPr>
            <p:cNvSpPr txBox="1"/>
            <p:nvPr/>
          </p:nvSpPr>
          <p:spPr>
            <a:xfrm>
              <a:off x="0" y="85725"/>
              <a:ext cx="4086535" cy="335096"/>
            </a:xfrm>
            <a:prstGeom prst="rect">
              <a:avLst/>
            </a:prstGeom>
            <a:grpFill/>
          </p:spPr>
          <p:txBody>
            <a:bodyPr lIns="50800" tIns="50800" rIns="50800" bIns="50800" rtlCol="0" anchor="ctr"/>
            <a:lstStyle/>
            <a:p>
              <a:pPr algn="ctr">
                <a:lnSpc>
                  <a:spcPts val="1925"/>
                </a:lnSpc>
              </a:pPr>
              <a:endParaRPr/>
            </a:p>
          </p:txBody>
        </p:sp>
      </p:grpSp>
      <p:grpSp>
        <p:nvGrpSpPr>
          <p:cNvPr id="30" name="Group 17">
            <a:extLst>
              <a:ext uri="{FF2B5EF4-FFF2-40B4-BE49-F238E27FC236}">
                <a16:creationId xmlns:a16="http://schemas.microsoft.com/office/drawing/2014/main" id="{159A2E30-CBF4-F884-6E14-48D624EE1B41}"/>
              </a:ext>
            </a:extLst>
          </p:cNvPr>
          <p:cNvGrpSpPr/>
          <p:nvPr/>
        </p:nvGrpSpPr>
        <p:grpSpPr>
          <a:xfrm>
            <a:off x="175636" y="2284969"/>
            <a:ext cx="17936723" cy="1350574"/>
            <a:chOff x="0" y="0"/>
            <a:chExt cx="4086535" cy="420821"/>
          </a:xfrm>
          <a:solidFill>
            <a:schemeClr val="tx2">
              <a:lumMod val="20000"/>
              <a:lumOff val="80000"/>
            </a:schemeClr>
          </a:solidFill>
        </p:grpSpPr>
        <p:sp>
          <p:nvSpPr>
            <p:cNvPr id="31" name="Freeform 18">
              <a:extLst>
                <a:ext uri="{FF2B5EF4-FFF2-40B4-BE49-F238E27FC236}">
                  <a16:creationId xmlns:a16="http://schemas.microsoft.com/office/drawing/2014/main" id="{993B30C4-F2BA-D99A-7249-00B524AAB4A5}"/>
                </a:ext>
              </a:extLst>
            </p:cNvPr>
            <p:cNvSpPr/>
            <p:nvPr/>
          </p:nvSpPr>
          <p:spPr>
            <a:xfrm>
              <a:off x="0" y="0"/>
              <a:ext cx="4086535" cy="420821"/>
            </a:xfrm>
            <a:custGeom>
              <a:avLst/>
              <a:gdLst/>
              <a:ahLst/>
              <a:cxnLst/>
              <a:rect l="l" t="t" r="r" b="b"/>
              <a:pathLst>
                <a:path w="4086535" h="420821">
                  <a:moveTo>
                    <a:pt x="9513" y="0"/>
                  </a:moveTo>
                  <a:lnTo>
                    <a:pt x="4077022" y="0"/>
                  </a:lnTo>
                  <a:cubicBezTo>
                    <a:pt x="4079546" y="0"/>
                    <a:pt x="4081965" y="1002"/>
                    <a:pt x="4083749" y="2786"/>
                  </a:cubicBezTo>
                  <a:cubicBezTo>
                    <a:pt x="4085533" y="4570"/>
                    <a:pt x="4086535" y="6990"/>
                    <a:pt x="4086535" y="9513"/>
                  </a:cubicBezTo>
                  <a:lnTo>
                    <a:pt x="4086535" y="411308"/>
                  </a:lnTo>
                  <a:cubicBezTo>
                    <a:pt x="4086535" y="413831"/>
                    <a:pt x="4085533" y="416251"/>
                    <a:pt x="4083749" y="418035"/>
                  </a:cubicBezTo>
                  <a:cubicBezTo>
                    <a:pt x="4081965" y="419819"/>
                    <a:pt x="4079546" y="420821"/>
                    <a:pt x="4077022" y="420821"/>
                  </a:cubicBezTo>
                  <a:lnTo>
                    <a:pt x="9513" y="420821"/>
                  </a:lnTo>
                  <a:cubicBezTo>
                    <a:pt x="6990" y="420821"/>
                    <a:pt x="4570" y="419819"/>
                    <a:pt x="2786" y="418035"/>
                  </a:cubicBezTo>
                  <a:cubicBezTo>
                    <a:pt x="1002" y="416251"/>
                    <a:pt x="0" y="413831"/>
                    <a:pt x="0" y="411308"/>
                  </a:cubicBezTo>
                  <a:lnTo>
                    <a:pt x="0" y="9513"/>
                  </a:lnTo>
                  <a:cubicBezTo>
                    <a:pt x="0" y="6990"/>
                    <a:pt x="1002" y="4570"/>
                    <a:pt x="2786" y="2786"/>
                  </a:cubicBezTo>
                  <a:cubicBezTo>
                    <a:pt x="4570" y="1002"/>
                    <a:pt x="6990" y="0"/>
                    <a:pt x="9513" y="0"/>
                  </a:cubicBezTo>
                  <a:close/>
                </a:path>
              </a:pathLst>
            </a:custGeom>
            <a:grpFill/>
          </p:spPr>
          <p:txBody>
            <a:bodyPr/>
            <a:lstStyle/>
            <a:p>
              <a:endParaRPr lang="en-US"/>
            </a:p>
          </p:txBody>
        </p:sp>
        <p:sp>
          <p:nvSpPr>
            <p:cNvPr id="32" name="TextBox 19">
              <a:extLst>
                <a:ext uri="{FF2B5EF4-FFF2-40B4-BE49-F238E27FC236}">
                  <a16:creationId xmlns:a16="http://schemas.microsoft.com/office/drawing/2014/main" id="{C3B5287E-1A00-780C-E794-5692B151957A}"/>
                </a:ext>
              </a:extLst>
            </p:cNvPr>
            <p:cNvSpPr txBox="1"/>
            <p:nvPr/>
          </p:nvSpPr>
          <p:spPr>
            <a:xfrm>
              <a:off x="0" y="85725"/>
              <a:ext cx="4086535" cy="335096"/>
            </a:xfrm>
            <a:prstGeom prst="rect">
              <a:avLst/>
            </a:prstGeom>
            <a:grpFill/>
          </p:spPr>
          <p:txBody>
            <a:bodyPr lIns="50800" tIns="50800" rIns="50800" bIns="50800" rtlCol="0" anchor="ctr"/>
            <a:lstStyle/>
            <a:p>
              <a:pPr algn="ctr">
                <a:lnSpc>
                  <a:spcPts val="1925"/>
                </a:lnSpc>
              </a:pPr>
              <a:endParaRPr/>
            </a:p>
          </p:txBody>
        </p:sp>
      </p:grpSp>
      <p:grpSp>
        <p:nvGrpSpPr>
          <p:cNvPr id="33" name="Group 17">
            <a:extLst>
              <a:ext uri="{FF2B5EF4-FFF2-40B4-BE49-F238E27FC236}">
                <a16:creationId xmlns:a16="http://schemas.microsoft.com/office/drawing/2014/main" id="{4DA6A7E2-E643-E9A5-83AF-5D587B4CEBF9}"/>
              </a:ext>
            </a:extLst>
          </p:cNvPr>
          <p:cNvGrpSpPr/>
          <p:nvPr/>
        </p:nvGrpSpPr>
        <p:grpSpPr>
          <a:xfrm>
            <a:off x="158702" y="6096152"/>
            <a:ext cx="17936723" cy="1412838"/>
            <a:chOff x="0" y="0"/>
            <a:chExt cx="4086535" cy="420821"/>
          </a:xfrm>
          <a:solidFill>
            <a:schemeClr val="tx2">
              <a:lumMod val="20000"/>
              <a:lumOff val="80000"/>
            </a:schemeClr>
          </a:solidFill>
        </p:grpSpPr>
        <p:sp>
          <p:nvSpPr>
            <p:cNvPr id="34" name="Freeform 18">
              <a:extLst>
                <a:ext uri="{FF2B5EF4-FFF2-40B4-BE49-F238E27FC236}">
                  <a16:creationId xmlns:a16="http://schemas.microsoft.com/office/drawing/2014/main" id="{83E5E416-F7E0-4DBC-5B4A-6CA43B67A0FA}"/>
                </a:ext>
              </a:extLst>
            </p:cNvPr>
            <p:cNvSpPr/>
            <p:nvPr/>
          </p:nvSpPr>
          <p:spPr>
            <a:xfrm>
              <a:off x="0" y="0"/>
              <a:ext cx="4086535" cy="420821"/>
            </a:xfrm>
            <a:custGeom>
              <a:avLst/>
              <a:gdLst/>
              <a:ahLst/>
              <a:cxnLst/>
              <a:rect l="l" t="t" r="r" b="b"/>
              <a:pathLst>
                <a:path w="4086535" h="420821">
                  <a:moveTo>
                    <a:pt x="9513" y="0"/>
                  </a:moveTo>
                  <a:lnTo>
                    <a:pt x="4077022" y="0"/>
                  </a:lnTo>
                  <a:cubicBezTo>
                    <a:pt x="4079546" y="0"/>
                    <a:pt x="4081965" y="1002"/>
                    <a:pt x="4083749" y="2786"/>
                  </a:cubicBezTo>
                  <a:cubicBezTo>
                    <a:pt x="4085533" y="4570"/>
                    <a:pt x="4086535" y="6990"/>
                    <a:pt x="4086535" y="9513"/>
                  </a:cubicBezTo>
                  <a:lnTo>
                    <a:pt x="4086535" y="411308"/>
                  </a:lnTo>
                  <a:cubicBezTo>
                    <a:pt x="4086535" y="413831"/>
                    <a:pt x="4085533" y="416251"/>
                    <a:pt x="4083749" y="418035"/>
                  </a:cubicBezTo>
                  <a:cubicBezTo>
                    <a:pt x="4081965" y="419819"/>
                    <a:pt x="4079546" y="420821"/>
                    <a:pt x="4077022" y="420821"/>
                  </a:cubicBezTo>
                  <a:lnTo>
                    <a:pt x="9513" y="420821"/>
                  </a:lnTo>
                  <a:cubicBezTo>
                    <a:pt x="6990" y="420821"/>
                    <a:pt x="4570" y="419819"/>
                    <a:pt x="2786" y="418035"/>
                  </a:cubicBezTo>
                  <a:cubicBezTo>
                    <a:pt x="1002" y="416251"/>
                    <a:pt x="0" y="413831"/>
                    <a:pt x="0" y="411308"/>
                  </a:cubicBezTo>
                  <a:lnTo>
                    <a:pt x="0" y="9513"/>
                  </a:lnTo>
                  <a:cubicBezTo>
                    <a:pt x="0" y="6990"/>
                    <a:pt x="1002" y="4570"/>
                    <a:pt x="2786" y="2786"/>
                  </a:cubicBezTo>
                  <a:cubicBezTo>
                    <a:pt x="4570" y="1002"/>
                    <a:pt x="6990" y="0"/>
                    <a:pt x="9513" y="0"/>
                  </a:cubicBezTo>
                  <a:close/>
                </a:path>
              </a:pathLst>
            </a:custGeom>
            <a:grpFill/>
          </p:spPr>
          <p:txBody>
            <a:bodyPr/>
            <a:lstStyle/>
            <a:p>
              <a:endParaRPr lang="en-US"/>
            </a:p>
          </p:txBody>
        </p:sp>
        <p:sp>
          <p:nvSpPr>
            <p:cNvPr id="35" name="TextBox 19">
              <a:extLst>
                <a:ext uri="{FF2B5EF4-FFF2-40B4-BE49-F238E27FC236}">
                  <a16:creationId xmlns:a16="http://schemas.microsoft.com/office/drawing/2014/main" id="{0E23B49C-6994-A18D-C85D-6A2A80CC6059}"/>
                </a:ext>
              </a:extLst>
            </p:cNvPr>
            <p:cNvSpPr txBox="1"/>
            <p:nvPr/>
          </p:nvSpPr>
          <p:spPr>
            <a:xfrm>
              <a:off x="0" y="85725"/>
              <a:ext cx="4086535" cy="335096"/>
            </a:xfrm>
            <a:prstGeom prst="rect">
              <a:avLst/>
            </a:prstGeom>
            <a:grpFill/>
          </p:spPr>
          <p:txBody>
            <a:bodyPr lIns="50800" tIns="50800" rIns="50800" bIns="50800" rtlCol="0" anchor="ctr"/>
            <a:lstStyle/>
            <a:p>
              <a:pPr algn="ctr">
                <a:lnSpc>
                  <a:spcPts val="1925"/>
                </a:lnSpc>
              </a:pPr>
              <a:endParaRPr/>
            </a:p>
          </p:txBody>
        </p:sp>
      </p:grpSp>
      <p:sp>
        <p:nvSpPr>
          <p:cNvPr id="39" name="مربع نص 38">
            <a:extLst>
              <a:ext uri="{FF2B5EF4-FFF2-40B4-BE49-F238E27FC236}">
                <a16:creationId xmlns:a16="http://schemas.microsoft.com/office/drawing/2014/main" id="{719EE7F6-3E1B-E358-C943-B62ACF13DAD1}"/>
              </a:ext>
            </a:extLst>
          </p:cNvPr>
          <p:cNvSpPr txBox="1"/>
          <p:nvPr/>
        </p:nvSpPr>
        <p:spPr>
          <a:xfrm>
            <a:off x="0" y="781715"/>
            <a:ext cx="18440404" cy="702052"/>
          </a:xfrm>
          <a:prstGeom prst="rect">
            <a:avLst/>
          </a:prstGeom>
          <a:noFill/>
        </p:spPr>
        <p:txBody>
          <a:bodyPr wrap="square">
            <a:spAutoFit/>
          </a:bodyPr>
          <a:lstStyle/>
          <a:p>
            <a:pPr marL="408305" marR="0" lvl="0" indent="0" algn="l" defTabSz="914400" rtl="0" eaLnBrk="1" fontAlgn="auto" latinLnBrk="0" hangingPunct="1">
              <a:lnSpc>
                <a:spcPct val="115000"/>
              </a:lnSpc>
              <a:spcBef>
                <a:spcPts val="0"/>
              </a:spcBef>
              <a:spcAft>
                <a:spcPts val="800"/>
              </a:spcAft>
              <a:buClrTx/>
              <a:buSzTx/>
              <a:buFontTx/>
              <a:buNone/>
              <a:tabLst/>
              <a:defRPr/>
            </a:pPr>
            <a:r>
              <a:rPr lang="en-US" sz="3600" dirty="0">
                <a:solidFill>
                  <a:prstClr val="black"/>
                </a:solidFill>
                <a:latin typeface="DM Sans" pitchFamily="2" charset="0"/>
                <a:ea typeface="Aptos" panose="020B0004020202020204" pitchFamily="34" charset="0"/>
                <a:cs typeface="Arial" panose="020B0604020202020204" pitchFamily="34" charset="0"/>
              </a:rPr>
              <a:t>3)</a:t>
            </a:r>
            <a:r>
              <a:rPr kumimoji="0" lang="en-US" sz="3600" b="0" i="0" u="none" strike="noStrike" kern="1200" cap="none" spc="0" normalizeH="0" baseline="0" noProof="0" dirty="0">
                <a:ln>
                  <a:noFill/>
                </a:ln>
                <a:solidFill>
                  <a:prstClr val="black"/>
                </a:solidFill>
                <a:effectLst/>
                <a:uLnTx/>
                <a:uFillTx/>
                <a:latin typeface="DM Sans" pitchFamily="2" charset="0"/>
                <a:ea typeface="Aptos" panose="020B0004020202020204" pitchFamily="34" charset="0"/>
                <a:cs typeface="Arial" panose="020B0604020202020204" pitchFamily="34" charset="0"/>
              </a:rPr>
              <a:t> we divide the data set into training (80%) and test (20%) sets.</a:t>
            </a:r>
          </a:p>
        </p:txBody>
      </p:sp>
      <p:sp>
        <p:nvSpPr>
          <p:cNvPr id="41" name="مربع نص 40">
            <a:extLst>
              <a:ext uri="{FF2B5EF4-FFF2-40B4-BE49-F238E27FC236}">
                <a16:creationId xmlns:a16="http://schemas.microsoft.com/office/drawing/2014/main" id="{371272B8-259D-861E-5019-8BA814C1E30F}"/>
              </a:ext>
            </a:extLst>
          </p:cNvPr>
          <p:cNvSpPr txBox="1"/>
          <p:nvPr/>
        </p:nvSpPr>
        <p:spPr>
          <a:xfrm>
            <a:off x="33867" y="2295377"/>
            <a:ext cx="18440404" cy="1200650"/>
          </a:xfrm>
          <a:prstGeom prst="rect">
            <a:avLst/>
          </a:prstGeom>
          <a:noFill/>
        </p:spPr>
        <p:txBody>
          <a:bodyPr wrap="square">
            <a:spAutoFit/>
          </a:bodyPr>
          <a:lstStyle/>
          <a:p>
            <a:pPr marL="408305" marR="0" lvl="0" indent="0" algn="l" defTabSz="914400" rtl="0" eaLnBrk="1" fontAlgn="auto" latinLnBrk="0" hangingPunct="1">
              <a:lnSpc>
                <a:spcPct val="115000"/>
              </a:lnSpc>
              <a:spcBef>
                <a:spcPts val="0"/>
              </a:spcBef>
              <a:spcAft>
                <a:spcPts val="800"/>
              </a:spcAft>
              <a:buClrTx/>
              <a:buSzTx/>
              <a:buFontTx/>
              <a:buNone/>
              <a:tabLst/>
              <a:defRPr/>
            </a:pPr>
            <a:r>
              <a:rPr kumimoji="0" lang="en-US" sz="3200" i="0" u="none" strike="noStrike" kern="1200" cap="none" spc="0" normalizeH="0" baseline="0" noProof="0" dirty="0">
                <a:ln>
                  <a:noFill/>
                </a:ln>
                <a:solidFill>
                  <a:prstClr val="black"/>
                </a:solidFill>
                <a:effectLst/>
                <a:uLnTx/>
                <a:uFillTx/>
                <a:latin typeface="DM Sans" pitchFamily="2" charset="0"/>
                <a:ea typeface="Aptos" panose="020B0004020202020204" pitchFamily="34" charset="0"/>
                <a:cs typeface="Arial" panose="020B0604020202020204" pitchFamily="34" charset="0"/>
              </a:rPr>
              <a:t>4) Apply SMOTE function to balance the training set since the dataset contains the target variable passed, which is imbalanced with 265 instances of yes and 130 instances of no.</a:t>
            </a:r>
          </a:p>
        </p:txBody>
      </p:sp>
      <p:sp>
        <p:nvSpPr>
          <p:cNvPr id="43" name="مربع نص 42">
            <a:extLst>
              <a:ext uri="{FF2B5EF4-FFF2-40B4-BE49-F238E27FC236}">
                <a16:creationId xmlns:a16="http://schemas.microsoft.com/office/drawing/2014/main" id="{C928F05D-E404-8336-FC49-E5D1C9E3C0DD}"/>
              </a:ext>
            </a:extLst>
          </p:cNvPr>
          <p:cNvSpPr txBox="1"/>
          <p:nvPr/>
        </p:nvSpPr>
        <p:spPr>
          <a:xfrm>
            <a:off x="45918" y="4557160"/>
            <a:ext cx="15652327" cy="634341"/>
          </a:xfrm>
          <a:prstGeom prst="rect">
            <a:avLst/>
          </a:prstGeom>
          <a:noFill/>
        </p:spPr>
        <p:txBody>
          <a:bodyPr wrap="square">
            <a:spAutoFit/>
          </a:bodyPr>
          <a:lstStyle/>
          <a:p>
            <a:pPr marL="408305" marR="0" lvl="0" indent="0" algn="l" defTabSz="914400" rtl="0" eaLnBrk="1" fontAlgn="auto" latinLnBrk="0" hangingPunct="1">
              <a:lnSpc>
                <a:spcPct val="115000"/>
              </a:lnSpc>
              <a:spcBef>
                <a:spcPts val="0"/>
              </a:spcBef>
              <a:spcAft>
                <a:spcPts val="800"/>
              </a:spcAft>
              <a:buClrTx/>
              <a:buSzTx/>
              <a:buFontTx/>
              <a:buNone/>
              <a:tabLst/>
              <a:defRPr/>
            </a:pPr>
            <a:r>
              <a:rPr lang="en-US" sz="3200" dirty="0">
                <a:solidFill>
                  <a:prstClr val="black"/>
                </a:solidFill>
                <a:latin typeface="DM Sans" pitchFamily="2" charset="0"/>
                <a:ea typeface="Aptos" panose="020B0004020202020204" pitchFamily="34" charset="0"/>
                <a:cs typeface="Arial" panose="020B0604020202020204" pitchFamily="34" charset="0"/>
              </a:rPr>
              <a:t>5) </a:t>
            </a:r>
            <a:r>
              <a:rPr kumimoji="0" lang="en-US" sz="3200" b="0" i="0" u="none" strike="noStrike" kern="1200" cap="none" spc="0" normalizeH="0" baseline="0" noProof="0" dirty="0">
                <a:ln>
                  <a:noFill/>
                </a:ln>
                <a:solidFill>
                  <a:prstClr val="black"/>
                </a:solidFill>
                <a:effectLst/>
                <a:uLnTx/>
                <a:uFillTx/>
                <a:latin typeface="DM Sans" pitchFamily="2" charset="0"/>
                <a:ea typeface="Aptos" panose="020B0004020202020204" pitchFamily="34" charset="0"/>
                <a:cs typeface="Arial" panose="020B0604020202020204" pitchFamily="34" charset="0"/>
              </a:rPr>
              <a:t>Check for missing values and replace them with the median or mode.</a:t>
            </a:r>
          </a:p>
        </p:txBody>
      </p:sp>
      <p:sp>
        <p:nvSpPr>
          <p:cNvPr id="45" name="مربع نص 44">
            <a:extLst>
              <a:ext uri="{FF2B5EF4-FFF2-40B4-BE49-F238E27FC236}">
                <a16:creationId xmlns:a16="http://schemas.microsoft.com/office/drawing/2014/main" id="{7C74EF02-1D0D-424D-2D4A-264C0F9FCDCC}"/>
              </a:ext>
            </a:extLst>
          </p:cNvPr>
          <p:cNvSpPr txBox="1"/>
          <p:nvPr/>
        </p:nvSpPr>
        <p:spPr>
          <a:xfrm>
            <a:off x="33867" y="6417761"/>
            <a:ext cx="9304866" cy="634341"/>
          </a:xfrm>
          <a:prstGeom prst="rect">
            <a:avLst/>
          </a:prstGeom>
          <a:noFill/>
        </p:spPr>
        <p:txBody>
          <a:bodyPr wrap="square">
            <a:spAutoFit/>
          </a:bodyPr>
          <a:lstStyle/>
          <a:p>
            <a:pPr marL="408305" marR="0" lvl="0" indent="0" algn="l" defTabSz="914400" rtl="0" eaLnBrk="1" fontAlgn="auto" latinLnBrk="0" hangingPunct="1">
              <a:lnSpc>
                <a:spcPct val="115000"/>
              </a:lnSpc>
              <a:spcBef>
                <a:spcPts val="0"/>
              </a:spcBef>
              <a:spcAft>
                <a:spcPts val="800"/>
              </a:spcAft>
              <a:buClrTx/>
              <a:buSzTx/>
              <a:buFontTx/>
              <a:buNone/>
              <a:tabLst/>
              <a:defRPr/>
            </a:pPr>
            <a:r>
              <a:rPr lang="en-US" sz="3200" dirty="0">
                <a:solidFill>
                  <a:prstClr val="black"/>
                </a:solidFill>
                <a:latin typeface="DM Sans" pitchFamily="2" charset="0"/>
                <a:ea typeface="Aptos" panose="020B0004020202020204" pitchFamily="34" charset="0"/>
                <a:cs typeface="Arial" panose="020B0604020202020204" pitchFamily="34" charset="0"/>
              </a:rPr>
              <a:t>6) </a:t>
            </a:r>
            <a:r>
              <a:rPr kumimoji="0" lang="en-US" sz="3200" b="0" i="0" u="none" strike="noStrike" kern="1200" cap="none" spc="0" normalizeH="0" baseline="0" noProof="0" dirty="0">
                <a:ln>
                  <a:noFill/>
                </a:ln>
                <a:solidFill>
                  <a:prstClr val="black"/>
                </a:solidFill>
                <a:effectLst/>
                <a:uLnTx/>
                <a:uFillTx/>
                <a:latin typeface="DM Sans" pitchFamily="2" charset="0"/>
                <a:ea typeface="Aptos" panose="020B0004020202020204" pitchFamily="34" charset="0"/>
                <a:cs typeface="Arial" panose="020B0604020202020204" pitchFamily="34" charset="0"/>
              </a:rPr>
              <a:t>Check for </a:t>
            </a:r>
            <a:r>
              <a:rPr kumimoji="0" lang="en-US" sz="3200" b="0" i="0" u="none" strike="noStrike" kern="1200" cap="none" spc="0" normalizeH="0" baseline="0" noProof="0" dirty="0" err="1">
                <a:ln>
                  <a:noFill/>
                </a:ln>
                <a:solidFill>
                  <a:prstClr val="black"/>
                </a:solidFill>
                <a:effectLst/>
                <a:uLnTx/>
                <a:uFillTx/>
                <a:latin typeface="DM Sans" pitchFamily="2" charset="0"/>
                <a:ea typeface="Aptos" panose="020B0004020202020204" pitchFamily="34" charset="0"/>
                <a:cs typeface="Arial" panose="020B0604020202020204" pitchFamily="34" charset="0"/>
              </a:rPr>
              <a:t>NaN</a:t>
            </a:r>
            <a:r>
              <a:rPr kumimoji="0" lang="en-US" sz="3200" b="0" i="0" u="none" strike="noStrike" kern="1200" cap="none" spc="0" normalizeH="0" baseline="0" noProof="0" dirty="0">
                <a:ln>
                  <a:noFill/>
                </a:ln>
                <a:solidFill>
                  <a:prstClr val="black"/>
                </a:solidFill>
                <a:effectLst/>
                <a:uLnTx/>
                <a:uFillTx/>
                <a:latin typeface="DM Sans" pitchFamily="2" charset="0"/>
                <a:ea typeface="Aptos" panose="020B0004020202020204" pitchFamily="34" charset="0"/>
                <a:cs typeface="Arial" panose="020B0604020202020204" pitchFamily="34" charset="0"/>
              </a:rPr>
              <a:t> values</a:t>
            </a:r>
          </a:p>
        </p:txBody>
      </p:sp>
      <p:sp>
        <p:nvSpPr>
          <p:cNvPr id="46" name="Freeform 5">
            <a:extLst>
              <a:ext uri="{FF2B5EF4-FFF2-40B4-BE49-F238E27FC236}">
                <a16:creationId xmlns:a16="http://schemas.microsoft.com/office/drawing/2014/main" id="{57C191AD-66E6-CCDB-E814-DF15D20E1FB3}"/>
              </a:ext>
            </a:extLst>
          </p:cNvPr>
          <p:cNvSpPr/>
          <p:nvPr/>
        </p:nvSpPr>
        <p:spPr>
          <a:xfrm>
            <a:off x="-1143000" y="8659606"/>
            <a:ext cx="4899948" cy="3344214"/>
          </a:xfrm>
          <a:custGeom>
            <a:avLst/>
            <a:gdLst/>
            <a:ahLst/>
            <a:cxnLst/>
            <a:rect l="l" t="t" r="r" b="b"/>
            <a:pathLst>
              <a:path w="4899948" h="3344214">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7" name="Freeform 7">
            <a:extLst>
              <a:ext uri="{FF2B5EF4-FFF2-40B4-BE49-F238E27FC236}">
                <a16:creationId xmlns:a16="http://schemas.microsoft.com/office/drawing/2014/main" id="{9BDFD88C-D75C-DF22-D318-AB19E8DD0A8B}"/>
              </a:ext>
            </a:extLst>
          </p:cNvPr>
          <p:cNvSpPr/>
          <p:nvPr/>
        </p:nvSpPr>
        <p:spPr>
          <a:xfrm>
            <a:off x="14071828" y="8053273"/>
            <a:ext cx="4427843" cy="3481392"/>
          </a:xfrm>
          <a:custGeom>
            <a:avLst/>
            <a:gdLst/>
            <a:ahLst/>
            <a:cxnLst/>
            <a:rect l="l" t="t" r="r" b="b"/>
            <a:pathLst>
              <a:path w="4427843" h="3481392">
                <a:moveTo>
                  <a:pt x="0" y="0"/>
                </a:moveTo>
                <a:lnTo>
                  <a:pt x="4427843" y="0"/>
                </a:lnTo>
                <a:lnTo>
                  <a:pt x="4427843" y="3481391"/>
                </a:lnTo>
                <a:lnTo>
                  <a:pt x="0" y="3481391"/>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48" name="Freeform 10">
            <a:extLst>
              <a:ext uri="{FF2B5EF4-FFF2-40B4-BE49-F238E27FC236}">
                <a16:creationId xmlns:a16="http://schemas.microsoft.com/office/drawing/2014/main" id="{AF4682EE-1011-3907-7572-E7D81B707679}"/>
              </a:ext>
            </a:extLst>
          </p:cNvPr>
          <p:cNvSpPr/>
          <p:nvPr/>
        </p:nvSpPr>
        <p:spPr>
          <a:xfrm>
            <a:off x="7105861" y="8641453"/>
            <a:ext cx="4076270" cy="2863579"/>
          </a:xfrm>
          <a:custGeom>
            <a:avLst/>
            <a:gdLst/>
            <a:ahLst/>
            <a:cxnLst/>
            <a:rect l="l" t="t" r="r" b="b"/>
            <a:pathLst>
              <a:path w="4076270" h="2863579">
                <a:moveTo>
                  <a:pt x="0" y="0"/>
                </a:moveTo>
                <a:lnTo>
                  <a:pt x="4076270" y="0"/>
                </a:lnTo>
                <a:lnTo>
                  <a:pt x="4076270" y="2863579"/>
                </a:lnTo>
                <a:lnTo>
                  <a:pt x="0" y="2863579"/>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216488" y="2563915"/>
            <a:ext cx="12042312" cy="6441572"/>
          </a:xfrm>
          <a:prstGeom prst="rect">
            <a:avLst/>
          </a:prstGeom>
        </p:spPr>
        <p:txBody>
          <a:bodyPr wrap="square" lIns="0" tIns="0" rIns="0" bIns="0" rtlCol="0" anchor="t">
            <a:spAutoFit/>
          </a:bodyPr>
          <a:lstStyle/>
          <a:p>
            <a:pPr>
              <a:lnSpc>
                <a:spcPts val="5026"/>
              </a:lnSpc>
            </a:pPr>
            <a:r>
              <a:rPr lang="en-US" sz="4400" b="1" dirty="0">
                <a:solidFill>
                  <a:srgbClr val="000000"/>
                </a:solidFill>
              </a:rPr>
              <a:t>features visualization</a:t>
            </a:r>
          </a:p>
          <a:p>
            <a:pPr>
              <a:lnSpc>
                <a:spcPts val="5026"/>
              </a:lnSpc>
            </a:pPr>
            <a:endParaRPr lang="en-US" sz="4400" b="1" dirty="0">
              <a:solidFill>
                <a:srgbClr val="000000"/>
              </a:solidFill>
            </a:endParaRPr>
          </a:p>
          <a:p>
            <a:pPr>
              <a:lnSpc>
                <a:spcPts val="5026"/>
              </a:lnSpc>
            </a:pPr>
            <a:r>
              <a:rPr lang="en-US" sz="4400" dirty="0">
                <a:solidFill>
                  <a:srgbClr val="000000"/>
                </a:solidFill>
              </a:rPr>
              <a:t>We will take a deeper look at each feature using different visualization techniques such as Correlation Heatmap and distribution plots and density plots.</a:t>
            </a:r>
          </a:p>
          <a:p>
            <a:pPr>
              <a:lnSpc>
                <a:spcPts val="5026"/>
              </a:lnSpc>
            </a:pPr>
            <a:endParaRPr lang="en-US" sz="4400" dirty="0">
              <a:solidFill>
                <a:srgbClr val="000000"/>
              </a:solidFill>
            </a:endParaRPr>
          </a:p>
          <a:p>
            <a:pPr>
              <a:lnSpc>
                <a:spcPts val="5026"/>
              </a:lnSpc>
            </a:pPr>
            <a:r>
              <a:rPr lang="en-US" sz="4400" dirty="0">
                <a:solidFill>
                  <a:srgbClr val="000000"/>
                </a:solidFill>
              </a:rPr>
              <a:t>After visualization, we will understand its impact on students' performance.</a:t>
            </a:r>
          </a:p>
          <a:p>
            <a:pPr algn="ctr">
              <a:lnSpc>
                <a:spcPts val="5026"/>
              </a:lnSpc>
            </a:pPr>
            <a:endParaRPr lang="en-US" sz="5182" dirty="0">
              <a:solidFill>
                <a:srgbClr val="000000"/>
              </a:solidFill>
              <a:latin typeface="DM Sans Bold"/>
            </a:endParaRPr>
          </a:p>
          <a:p>
            <a:pPr algn="ctr">
              <a:lnSpc>
                <a:spcPts val="5026"/>
              </a:lnSpc>
            </a:pPr>
            <a:endParaRPr lang="en-US" sz="5182" dirty="0">
              <a:solidFill>
                <a:srgbClr val="000000"/>
              </a:solidFill>
              <a:latin typeface="DM Sans Bold"/>
            </a:endParaRPr>
          </a:p>
        </p:txBody>
      </p:sp>
      <p:sp>
        <p:nvSpPr>
          <p:cNvPr id="4" name="TextBox 4"/>
          <p:cNvSpPr txBox="1"/>
          <p:nvPr/>
        </p:nvSpPr>
        <p:spPr>
          <a:xfrm>
            <a:off x="-1143000" y="342900"/>
            <a:ext cx="10945017" cy="3328778"/>
          </a:xfrm>
          <a:prstGeom prst="rect">
            <a:avLst/>
          </a:prstGeom>
        </p:spPr>
        <p:txBody>
          <a:bodyPr lIns="0" tIns="0" rIns="0" bIns="0" rtlCol="0" anchor="t">
            <a:spAutoFit/>
          </a:bodyPr>
          <a:lstStyle/>
          <a:p>
            <a:pPr algn="ctr">
              <a:lnSpc>
                <a:spcPts val="8607"/>
              </a:lnSpc>
            </a:pPr>
            <a:r>
              <a:rPr lang="en-US" sz="6600" dirty="0">
                <a:solidFill>
                  <a:srgbClr val="000000"/>
                </a:solidFill>
                <a:latin typeface="DM Sans Bold"/>
              </a:rPr>
              <a:t>4. Data </a:t>
            </a:r>
            <a:r>
              <a:rPr lang="en-US" sz="6600" dirty="0" err="1">
                <a:solidFill>
                  <a:srgbClr val="000000"/>
                </a:solidFill>
                <a:latin typeface="DM Sans Bold"/>
              </a:rPr>
              <a:t>visualisation</a:t>
            </a:r>
            <a:endParaRPr lang="en-US" sz="6600" dirty="0">
              <a:solidFill>
                <a:srgbClr val="000000"/>
              </a:solidFill>
              <a:latin typeface="DM Sans Bold"/>
            </a:endParaRPr>
          </a:p>
          <a:p>
            <a:pPr algn="ctr">
              <a:lnSpc>
                <a:spcPts val="8607"/>
              </a:lnSpc>
            </a:pPr>
            <a:endParaRPr lang="en-US" sz="8873" dirty="0">
              <a:solidFill>
                <a:srgbClr val="000000"/>
              </a:solidFill>
              <a:latin typeface="DM Sans Bold"/>
            </a:endParaRPr>
          </a:p>
          <a:p>
            <a:pPr algn="ctr">
              <a:lnSpc>
                <a:spcPts val="8607"/>
              </a:lnSpc>
            </a:pPr>
            <a:endParaRPr lang="en-US" sz="8873" dirty="0">
              <a:solidFill>
                <a:srgbClr val="000000"/>
              </a:solidFill>
              <a:latin typeface="DM Sans Bold"/>
            </a:endParaRPr>
          </a:p>
        </p:txBody>
      </p:sp>
      <p:sp>
        <p:nvSpPr>
          <p:cNvPr id="19" name="Freeform 3">
            <a:extLst>
              <a:ext uri="{FF2B5EF4-FFF2-40B4-BE49-F238E27FC236}">
                <a16:creationId xmlns:a16="http://schemas.microsoft.com/office/drawing/2014/main" id="{4D0E2BC1-C6AA-172D-067C-DF6B2FCBB33F}"/>
              </a:ext>
            </a:extLst>
          </p:cNvPr>
          <p:cNvSpPr/>
          <p:nvPr/>
        </p:nvSpPr>
        <p:spPr>
          <a:xfrm rot="-5282649">
            <a:off x="11885349" y="4676721"/>
            <a:ext cx="7567145" cy="2582288"/>
          </a:xfrm>
          <a:custGeom>
            <a:avLst/>
            <a:gdLst/>
            <a:ahLst/>
            <a:cxnLst/>
            <a:rect l="l" t="t" r="r" b="b"/>
            <a:pathLst>
              <a:path w="7567145" h="2582288">
                <a:moveTo>
                  <a:pt x="0" y="0"/>
                </a:moveTo>
                <a:lnTo>
                  <a:pt x="7567145" y="0"/>
                </a:lnTo>
                <a:lnTo>
                  <a:pt x="7567145" y="2582288"/>
                </a:lnTo>
                <a:lnTo>
                  <a:pt x="0" y="2582288"/>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18" name="Freeform 4">
            <a:extLst>
              <a:ext uri="{FF2B5EF4-FFF2-40B4-BE49-F238E27FC236}">
                <a16:creationId xmlns:a16="http://schemas.microsoft.com/office/drawing/2014/main" id="{2BCD3076-E80A-2DB6-2CD5-CEF6519B21A9}"/>
              </a:ext>
            </a:extLst>
          </p:cNvPr>
          <p:cNvSpPr/>
          <p:nvPr/>
        </p:nvSpPr>
        <p:spPr>
          <a:xfrm>
            <a:off x="13411200" y="4457700"/>
            <a:ext cx="5513037" cy="6211873"/>
          </a:xfrm>
          <a:custGeom>
            <a:avLst/>
            <a:gdLst/>
            <a:ahLst/>
            <a:cxnLst/>
            <a:rect l="l" t="t" r="r" b="b"/>
            <a:pathLst>
              <a:path w="5513037" h="6211873">
                <a:moveTo>
                  <a:pt x="0" y="0"/>
                </a:moveTo>
                <a:lnTo>
                  <a:pt x="5513037" y="0"/>
                </a:lnTo>
                <a:lnTo>
                  <a:pt x="5513037" y="6211873"/>
                </a:lnTo>
                <a:lnTo>
                  <a:pt x="0" y="62118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2057400" y="7471808"/>
            <a:ext cx="4899948" cy="3344214"/>
          </a:xfrm>
          <a:custGeom>
            <a:avLst/>
            <a:gdLst/>
            <a:ahLst/>
            <a:cxnLst/>
            <a:rect l="l" t="t" r="r" b="b"/>
            <a:pathLst>
              <a:path w="4899948" h="3344214">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rot="4747568">
            <a:off x="-2448049" y="3549647"/>
            <a:ext cx="4896097" cy="2735694"/>
          </a:xfrm>
          <a:custGeom>
            <a:avLst/>
            <a:gdLst/>
            <a:ahLst/>
            <a:cxnLst/>
            <a:rect l="l" t="t" r="r" b="b"/>
            <a:pathLst>
              <a:path w="4896097" h="2735694">
                <a:moveTo>
                  <a:pt x="0" y="0"/>
                </a:moveTo>
                <a:lnTo>
                  <a:pt x="4896097" y="0"/>
                </a:lnTo>
                <a:lnTo>
                  <a:pt x="4896097" y="2735694"/>
                </a:lnTo>
                <a:lnTo>
                  <a:pt x="0" y="2735694"/>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16" name="Freeform 16"/>
          <p:cNvSpPr/>
          <p:nvPr/>
        </p:nvSpPr>
        <p:spPr>
          <a:xfrm>
            <a:off x="2570549" y="1473859"/>
            <a:ext cx="12729942" cy="6887270"/>
          </a:xfrm>
          <a:custGeom>
            <a:avLst/>
            <a:gdLst/>
            <a:ahLst/>
            <a:cxnLst/>
            <a:rect l="l" t="t" r="r" b="b"/>
            <a:pathLst>
              <a:path w="12729942" h="6887270">
                <a:moveTo>
                  <a:pt x="0" y="0"/>
                </a:moveTo>
                <a:lnTo>
                  <a:pt x="12729942" y="0"/>
                </a:lnTo>
                <a:lnTo>
                  <a:pt x="12729942" y="6887271"/>
                </a:lnTo>
                <a:lnTo>
                  <a:pt x="0" y="6887271"/>
                </a:lnTo>
                <a:lnTo>
                  <a:pt x="0" y="0"/>
                </a:lnTo>
                <a:close/>
              </a:path>
            </a:pathLst>
          </a:custGeom>
          <a:blipFill>
            <a:blip r:embed="rId6"/>
            <a:stretch>
              <a:fillRect/>
            </a:stretch>
          </a:blipFill>
        </p:spPr>
        <p:txBody>
          <a:bodyPr/>
          <a:lstStyle/>
          <a:p>
            <a:endParaRPr lang="en-US"/>
          </a:p>
        </p:txBody>
      </p:sp>
      <p:sp>
        <p:nvSpPr>
          <p:cNvPr id="18" name="TextBox 18"/>
          <p:cNvSpPr txBox="1"/>
          <p:nvPr/>
        </p:nvSpPr>
        <p:spPr>
          <a:xfrm>
            <a:off x="-959190" y="320304"/>
            <a:ext cx="8698670" cy="908743"/>
          </a:xfrm>
          <a:prstGeom prst="rect">
            <a:avLst/>
          </a:prstGeom>
        </p:spPr>
        <p:txBody>
          <a:bodyPr lIns="0" tIns="0" rIns="0" bIns="0" rtlCol="0" anchor="t">
            <a:spAutoFit/>
          </a:bodyPr>
          <a:lstStyle/>
          <a:p>
            <a:pPr algn="ctr">
              <a:lnSpc>
                <a:spcPts val="7463"/>
              </a:lnSpc>
              <a:spcBef>
                <a:spcPct val="0"/>
              </a:spcBef>
            </a:pPr>
            <a:r>
              <a:rPr lang="en-US" sz="5331" spc="-437" dirty="0">
                <a:solidFill>
                  <a:srgbClr val="000000"/>
                </a:solidFill>
                <a:latin typeface="DM Sans"/>
              </a:rPr>
              <a:t>plot of student status</a:t>
            </a:r>
          </a:p>
        </p:txBody>
      </p:sp>
      <p:sp>
        <p:nvSpPr>
          <p:cNvPr id="20" name="مربع نص 19">
            <a:extLst>
              <a:ext uri="{FF2B5EF4-FFF2-40B4-BE49-F238E27FC236}">
                <a16:creationId xmlns:a16="http://schemas.microsoft.com/office/drawing/2014/main" id="{79C4D8FF-83FB-967F-151C-D40114CDB518}"/>
              </a:ext>
            </a:extLst>
          </p:cNvPr>
          <p:cNvSpPr txBox="1"/>
          <p:nvPr/>
        </p:nvSpPr>
        <p:spPr>
          <a:xfrm>
            <a:off x="3607992" y="8157415"/>
            <a:ext cx="11316746" cy="2862322"/>
          </a:xfrm>
          <a:prstGeom prst="rect">
            <a:avLst/>
          </a:prstGeom>
          <a:noFill/>
        </p:spPr>
        <p:txBody>
          <a:bodyPr wrap="square">
            <a:spAutoFit/>
          </a:bodyPr>
          <a:lstStyle/>
          <a:p>
            <a:endParaRPr lang="en-US" sz="3600" dirty="0">
              <a:solidFill>
                <a:srgbClr val="000000"/>
              </a:solidFill>
            </a:endParaRPr>
          </a:p>
          <a:p>
            <a:r>
              <a:rPr lang="en-US" sz="3600" dirty="0">
                <a:solidFill>
                  <a:srgbClr val="000000"/>
                </a:solidFill>
              </a:rPr>
              <a:t>It is likely that most students succeeded in the exam, and our goal is to minimize student failure as much as possible.</a:t>
            </a:r>
          </a:p>
          <a:p>
            <a:endParaRPr lang="en-US" dirty="0">
              <a:solidFill>
                <a:srgbClr val="000000"/>
              </a:solidFill>
            </a:endParaRPr>
          </a:p>
          <a:p>
            <a:endParaRPr lang="en-US" dirty="0">
              <a:solidFill>
                <a:srgbClr val="000000"/>
              </a:solidFill>
            </a:endParaRPr>
          </a:p>
          <a:p>
            <a:endParaRPr lang="en-US" dirty="0">
              <a:solidFill>
                <a:srgbClr val="000000"/>
              </a:solidFill>
            </a:endParaRP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763358" y="266700"/>
            <a:ext cx="13375556" cy="1019955"/>
          </a:xfrm>
          <a:prstGeom prst="rect">
            <a:avLst/>
          </a:prstGeom>
        </p:spPr>
        <p:txBody>
          <a:bodyPr lIns="0" tIns="0" rIns="0" bIns="0" rtlCol="0" anchor="t">
            <a:spAutoFit/>
          </a:bodyPr>
          <a:lstStyle/>
          <a:p>
            <a:pPr algn="ctr">
              <a:lnSpc>
                <a:spcPts val="7617"/>
              </a:lnSpc>
            </a:pPr>
            <a:r>
              <a:rPr lang="en-US" sz="7200" dirty="0">
                <a:solidFill>
                  <a:srgbClr val="000000"/>
                </a:solidFill>
                <a:latin typeface="DM Sans Bold"/>
              </a:rPr>
              <a:t>Correlation Heatmap</a:t>
            </a:r>
          </a:p>
        </p:txBody>
      </p:sp>
      <p:sp>
        <p:nvSpPr>
          <p:cNvPr id="19" name="TextBox 19"/>
          <p:cNvSpPr txBox="1"/>
          <p:nvPr/>
        </p:nvSpPr>
        <p:spPr>
          <a:xfrm>
            <a:off x="8019721" y="3314700"/>
            <a:ext cx="3603235" cy="4814075"/>
          </a:xfrm>
          <a:prstGeom prst="rect">
            <a:avLst/>
          </a:prstGeom>
          <a:noFill/>
          <a:ln>
            <a:noFill/>
          </a:ln>
        </p:spPr>
        <p:txBody>
          <a:bodyPr wrap="square" lIns="0" tIns="0" rIns="0" bIns="0" rtlCol="0" anchor="t">
            <a:spAutoFit/>
          </a:bodyPr>
          <a:lstStyle/>
          <a:p>
            <a:pPr algn="ctr">
              <a:lnSpc>
                <a:spcPts val="4186"/>
              </a:lnSpc>
              <a:spcBef>
                <a:spcPct val="0"/>
              </a:spcBef>
            </a:pPr>
            <a:r>
              <a:rPr lang="en-US" sz="2990" spc="-245" dirty="0">
                <a:solidFill>
                  <a:srgbClr val="000000"/>
                </a:solidFill>
              </a:rPr>
              <a:t>here we have two </a:t>
            </a:r>
            <a:r>
              <a:rPr lang="en-US" sz="2990" spc="-245" dirty="0" err="1">
                <a:solidFill>
                  <a:srgbClr val="000000"/>
                </a:solidFill>
              </a:rPr>
              <a:t>tayps</a:t>
            </a:r>
            <a:r>
              <a:rPr lang="en-US" sz="2990" spc="-245" dirty="0">
                <a:solidFill>
                  <a:srgbClr val="000000"/>
                </a:solidFill>
              </a:rPr>
              <a:t> of Correlation Heatmap to Visualize relationships between variables and Identify features most associated with passing or failing where darker colors indicate stronger correlations.</a:t>
            </a:r>
          </a:p>
        </p:txBody>
      </p:sp>
      <p:pic>
        <p:nvPicPr>
          <p:cNvPr id="23" name="صورة 22" descr="صورة تحتوي على لقطة شاشة, شكل, ميدان/ مربع, التلون&#10;&#10;تم إنشاء الوصف تلقائياً">
            <a:extLst>
              <a:ext uri="{FF2B5EF4-FFF2-40B4-BE49-F238E27FC236}">
                <a16:creationId xmlns:a16="http://schemas.microsoft.com/office/drawing/2014/main" id="{5A472B38-F2CF-BE3C-ABF0-2E590B22F9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1" y="1581198"/>
            <a:ext cx="7767816" cy="8705802"/>
          </a:xfrm>
          <a:prstGeom prst="rect">
            <a:avLst/>
          </a:prstGeom>
          <a:ln>
            <a:solidFill>
              <a:schemeClr val="tx1"/>
            </a:solidFill>
          </a:ln>
        </p:spPr>
      </p:pic>
      <p:pic>
        <p:nvPicPr>
          <p:cNvPr id="25" name="صورة 24" descr="صورة تحتوي على نص, لقطة شاشة, برمجيات, رقم&#10;&#10;تم إنشاء الوصف تلقائياً">
            <a:extLst>
              <a:ext uri="{FF2B5EF4-FFF2-40B4-BE49-F238E27FC236}">
                <a16:creationId xmlns:a16="http://schemas.microsoft.com/office/drawing/2014/main" id="{B2D2E3A6-5481-1EB6-D959-C0FCEA50D1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24087" y="1581199"/>
            <a:ext cx="6311514" cy="8751040"/>
          </a:xfrm>
          <a:prstGeom prst="rect">
            <a:avLst/>
          </a:prstGeom>
          <a:ln>
            <a:solidFill>
              <a:schemeClr val="tx1"/>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255891" y="-5311"/>
            <a:ext cx="17900579" cy="1884806"/>
          </a:xfrm>
          <a:prstGeom prst="rect">
            <a:avLst/>
          </a:prstGeom>
        </p:spPr>
        <p:txBody>
          <a:bodyPr lIns="0" tIns="0" rIns="0" bIns="0" rtlCol="0" anchor="t">
            <a:spAutoFit/>
          </a:bodyPr>
          <a:lstStyle/>
          <a:p>
            <a:pPr algn="l">
              <a:lnSpc>
                <a:spcPts val="7237"/>
              </a:lnSpc>
            </a:pPr>
            <a:r>
              <a:rPr lang="en-US" sz="5400" dirty="0">
                <a:solidFill>
                  <a:srgbClr val="000000"/>
                </a:solidFill>
                <a:latin typeface="DM Sans Bold"/>
              </a:rPr>
              <a:t>Correlation Heatmap Insights :</a:t>
            </a:r>
          </a:p>
          <a:p>
            <a:pPr algn="l">
              <a:lnSpc>
                <a:spcPts val="7237"/>
              </a:lnSpc>
            </a:pPr>
            <a:endParaRPr lang="en-US" sz="7460" dirty="0">
              <a:solidFill>
                <a:srgbClr val="000000"/>
              </a:solidFill>
              <a:latin typeface="DM Sans Bold"/>
            </a:endParaRPr>
          </a:p>
        </p:txBody>
      </p:sp>
      <p:sp>
        <p:nvSpPr>
          <p:cNvPr id="6" name="Freeform 6"/>
          <p:cNvSpPr/>
          <p:nvPr/>
        </p:nvSpPr>
        <p:spPr>
          <a:xfrm>
            <a:off x="15960637" y="7277100"/>
            <a:ext cx="2597326" cy="2796583"/>
          </a:xfrm>
          <a:custGeom>
            <a:avLst/>
            <a:gdLst/>
            <a:ahLst/>
            <a:cxnLst/>
            <a:rect l="l" t="t" r="r" b="b"/>
            <a:pathLst>
              <a:path w="2597326" h="2796583">
                <a:moveTo>
                  <a:pt x="0" y="0"/>
                </a:moveTo>
                <a:lnTo>
                  <a:pt x="2597326" y="0"/>
                </a:lnTo>
                <a:lnTo>
                  <a:pt x="2597326" y="2796583"/>
                </a:lnTo>
                <a:lnTo>
                  <a:pt x="0" y="2796583"/>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9" name="مربع نص 8">
            <a:extLst>
              <a:ext uri="{FF2B5EF4-FFF2-40B4-BE49-F238E27FC236}">
                <a16:creationId xmlns:a16="http://schemas.microsoft.com/office/drawing/2014/main" id="{9C79DB89-35C5-4EFD-59D2-20E9F1E8F0E8}"/>
              </a:ext>
            </a:extLst>
          </p:cNvPr>
          <p:cNvSpPr txBox="1"/>
          <p:nvPr/>
        </p:nvSpPr>
        <p:spPr>
          <a:xfrm>
            <a:off x="247424" y="936480"/>
            <a:ext cx="16747066" cy="9355831"/>
          </a:xfrm>
          <a:prstGeom prst="rect">
            <a:avLst/>
          </a:prstGeom>
          <a:noFill/>
        </p:spPr>
        <p:txBody>
          <a:bodyPr wrap="square">
            <a:spAutoFit/>
          </a:bodyPr>
          <a:lstStyle/>
          <a:p>
            <a:pPr marL="342900" lvl="0" indent="-342900" algn="l" rtl="0">
              <a:lnSpc>
                <a:spcPct val="150000"/>
              </a:lnSpc>
              <a:spcAft>
                <a:spcPts val="800"/>
              </a:spcAft>
              <a:buFont typeface="+mj-lt"/>
              <a:buAutoNum type="arabicPeriod"/>
              <a:tabLst>
                <a:tab pos="457200" algn="l"/>
              </a:tabLst>
            </a:pPr>
            <a:r>
              <a:rPr lang="en-US" sz="2800" b="1" dirty="0">
                <a:effectLst/>
                <a:latin typeface="Aptos" panose="020B0004020202020204" pitchFamily="34" charset="0"/>
                <a:ea typeface="Aptos" panose="020B0004020202020204" pitchFamily="34" charset="0"/>
                <a:cs typeface="Arial" panose="020B0604020202020204" pitchFamily="34" charset="0"/>
              </a:rPr>
              <a:t>Past Failures</a:t>
            </a:r>
            <a:r>
              <a:rPr lang="en-US" sz="2800" dirty="0">
                <a:effectLst/>
                <a:latin typeface="Aptos" panose="020B0004020202020204" pitchFamily="34" charset="0"/>
                <a:ea typeface="Aptos" panose="020B0004020202020204" pitchFamily="34" charset="0"/>
                <a:cs typeface="Arial" panose="020B0604020202020204" pitchFamily="34" charset="0"/>
              </a:rPr>
              <a:t>: Strong negative correlation with final grade. More past failures lead to lower final grades.</a:t>
            </a:r>
            <a:endParaRPr lang="en-US" sz="400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l" rtl="0">
              <a:lnSpc>
                <a:spcPct val="150000"/>
              </a:lnSpc>
              <a:spcAft>
                <a:spcPts val="800"/>
              </a:spcAft>
              <a:buFont typeface="+mj-lt"/>
              <a:buAutoNum type="arabicPeriod"/>
              <a:tabLst>
                <a:tab pos="457200" algn="l"/>
              </a:tabLst>
            </a:pPr>
            <a:r>
              <a:rPr lang="en-US" sz="2800" b="1" dirty="0">
                <a:effectLst/>
                <a:latin typeface="Aptos" panose="020B0004020202020204" pitchFamily="34" charset="0"/>
                <a:ea typeface="Aptos" panose="020B0004020202020204" pitchFamily="34" charset="0"/>
                <a:cs typeface="Arial" panose="020B0604020202020204" pitchFamily="34" charset="0"/>
              </a:rPr>
              <a:t>Study Time</a:t>
            </a:r>
            <a:r>
              <a:rPr lang="en-US" sz="2800" dirty="0">
                <a:effectLst/>
                <a:latin typeface="Aptos" panose="020B0004020202020204" pitchFamily="34" charset="0"/>
                <a:ea typeface="Aptos" panose="020B0004020202020204" pitchFamily="34" charset="0"/>
                <a:cs typeface="Arial" panose="020B0604020202020204" pitchFamily="34" charset="0"/>
              </a:rPr>
              <a:t>: Positive correlation with final grade. More study time leads to higher grades.</a:t>
            </a:r>
            <a:endParaRPr lang="en-US" sz="400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l" rtl="0">
              <a:lnSpc>
                <a:spcPct val="150000"/>
              </a:lnSpc>
              <a:spcAft>
                <a:spcPts val="800"/>
              </a:spcAft>
              <a:buFont typeface="+mj-lt"/>
              <a:buAutoNum type="arabicPeriod"/>
              <a:tabLst>
                <a:tab pos="457200" algn="l"/>
              </a:tabLst>
            </a:pPr>
            <a:r>
              <a:rPr lang="en-US" sz="2800" b="1" dirty="0">
                <a:effectLst/>
                <a:latin typeface="Aptos" panose="020B0004020202020204" pitchFamily="34" charset="0"/>
                <a:ea typeface="Aptos" panose="020B0004020202020204" pitchFamily="34" charset="0"/>
                <a:cs typeface="Arial" panose="020B0604020202020204" pitchFamily="34" charset="0"/>
              </a:rPr>
              <a:t>Parental Education</a:t>
            </a:r>
            <a:r>
              <a:rPr lang="en-US" sz="2800" dirty="0">
                <a:effectLst/>
                <a:latin typeface="Aptos" panose="020B0004020202020204" pitchFamily="34" charset="0"/>
                <a:ea typeface="Aptos" panose="020B0004020202020204" pitchFamily="34" charset="0"/>
                <a:cs typeface="Arial" panose="020B0604020202020204" pitchFamily="34" charset="0"/>
              </a:rPr>
              <a:t>: Higher parental education (both mother and father) correlates positively with better student performance.</a:t>
            </a:r>
            <a:endParaRPr lang="en-US" sz="400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l" rtl="0">
              <a:lnSpc>
                <a:spcPct val="150000"/>
              </a:lnSpc>
              <a:spcAft>
                <a:spcPts val="800"/>
              </a:spcAft>
              <a:buFont typeface="+mj-lt"/>
              <a:buAutoNum type="arabicPeriod"/>
              <a:tabLst>
                <a:tab pos="457200" algn="l"/>
              </a:tabLst>
            </a:pPr>
            <a:r>
              <a:rPr lang="en-US" sz="2800" b="1" dirty="0">
                <a:effectLst/>
                <a:latin typeface="Aptos" panose="020B0004020202020204" pitchFamily="34" charset="0"/>
                <a:ea typeface="Aptos" panose="020B0004020202020204" pitchFamily="34" charset="0"/>
                <a:cs typeface="Arial" panose="020B0604020202020204" pitchFamily="34" charset="0"/>
              </a:rPr>
              <a:t>Going Out</a:t>
            </a:r>
            <a:r>
              <a:rPr lang="en-US" sz="2800" dirty="0">
                <a:effectLst/>
                <a:latin typeface="Aptos" panose="020B0004020202020204" pitchFamily="34" charset="0"/>
                <a:ea typeface="Aptos" panose="020B0004020202020204" pitchFamily="34" charset="0"/>
                <a:cs typeface="Arial" panose="020B0604020202020204" pitchFamily="34" charset="0"/>
              </a:rPr>
              <a:t>: Negative correlation with final grade. Frequent social outings lead to lower grades.</a:t>
            </a:r>
            <a:endParaRPr lang="en-US" sz="400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l" rtl="0">
              <a:lnSpc>
                <a:spcPct val="150000"/>
              </a:lnSpc>
              <a:spcAft>
                <a:spcPts val="800"/>
              </a:spcAft>
              <a:buFont typeface="+mj-lt"/>
              <a:buAutoNum type="arabicPeriod"/>
              <a:tabLst>
                <a:tab pos="457200" algn="l"/>
              </a:tabLst>
            </a:pPr>
            <a:r>
              <a:rPr lang="en-US" sz="2800" b="1" dirty="0">
                <a:effectLst/>
                <a:latin typeface="Aptos" panose="020B0004020202020204" pitchFamily="34" charset="0"/>
                <a:ea typeface="Aptos" panose="020B0004020202020204" pitchFamily="34" charset="0"/>
                <a:cs typeface="Arial" panose="020B0604020202020204" pitchFamily="34" charset="0"/>
              </a:rPr>
              <a:t>Alcohol Consumption</a:t>
            </a:r>
            <a:r>
              <a:rPr lang="en-US" sz="2800" dirty="0">
                <a:effectLst/>
                <a:latin typeface="Aptos" panose="020B0004020202020204" pitchFamily="34" charset="0"/>
                <a:ea typeface="Aptos" panose="020B0004020202020204" pitchFamily="34" charset="0"/>
                <a:cs typeface="Arial" panose="020B0604020202020204" pitchFamily="34" charset="0"/>
              </a:rPr>
              <a:t>: Both weekday and weekend alcohol consumption negatively correlate with final grades.</a:t>
            </a:r>
            <a:endParaRPr lang="en-US" sz="400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l" rtl="0">
              <a:lnSpc>
                <a:spcPct val="150000"/>
              </a:lnSpc>
              <a:spcAft>
                <a:spcPts val="800"/>
              </a:spcAft>
              <a:buFont typeface="+mj-lt"/>
              <a:buAutoNum type="arabicPeriod"/>
              <a:tabLst>
                <a:tab pos="457200" algn="l"/>
              </a:tabLst>
            </a:pPr>
            <a:r>
              <a:rPr lang="en-US" sz="2800" b="1" dirty="0">
                <a:effectLst/>
                <a:latin typeface="Aptos" panose="020B0004020202020204" pitchFamily="34" charset="0"/>
                <a:ea typeface="Aptos" panose="020B0004020202020204" pitchFamily="34" charset="0"/>
                <a:cs typeface="Arial" panose="020B0604020202020204" pitchFamily="34" charset="0"/>
              </a:rPr>
              <a:t>School Support</a:t>
            </a:r>
            <a:r>
              <a:rPr lang="en-US" sz="2800" dirty="0">
                <a:effectLst/>
                <a:latin typeface="Aptos" panose="020B0004020202020204" pitchFamily="34" charset="0"/>
                <a:ea typeface="Aptos" panose="020B0004020202020204" pitchFamily="34" charset="0"/>
                <a:cs typeface="Arial" panose="020B0604020202020204" pitchFamily="34" charset="0"/>
              </a:rPr>
              <a:t>: Slight negative correlation. Students needing extra support tend to struggle more.</a:t>
            </a:r>
            <a:endParaRPr lang="en-US" sz="400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l" rtl="0">
              <a:lnSpc>
                <a:spcPct val="150000"/>
              </a:lnSpc>
              <a:spcAft>
                <a:spcPts val="800"/>
              </a:spcAft>
              <a:buFont typeface="+mj-lt"/>
              <a:buAutoNum type="arabicPeriod"/>
              <a:tabLst>
                <a:tab pos="457200" algn="l"/>
              </a:tabLst>
            </a:pPr>
            <a:r>
              <a:rPr lang="en-US" sz="2800" b="1" dirty="0">
                <a:effectLst/>
                <a:latin typeface="Aptos" panose="020B0004020202020204" pitchFamily="34" charset="0"/>
                <a:ea typeface="Aptos" panose="020B0004020202020204" pitchFamily="34" charset="0"/>
                <a:cs typeface="Arial" panose="020B0604020202020204" pitchFamily="34" charset="0"/>
              </a:rPr>
              <a:t>Family Relationship Quality</a:t>
            </a:r>
            <a:r>
              <a:rPr lang="en-US" sz="2800" dirty="0">
                <a:effectLst/>
                <a:latin typeface="Aptos" panose="020B0004020202020204" pitchFamily="34" charset="0"/>
                <a:ea typeface="Aptos" panose="020B0004020202020204" pitchFamily="34" charset="0"/>
                <a:cs typeface="Arial" panose="020B0604020202020204" pitchFamily="34" charset="0"/>
              </a:rPr>
              <a:t>: Slight positive correlation. Better family relationships contribute to better grades.</a:t>
            </a:r>
            <a:endParaRPr lang="en-US" sz="400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l" rtl="0">
              <a:lnSpc>
                <a:spcPct val="150000"/>
              </a:lnSpc>
              <a:spcAft>
                <a:spcPts val="800"/>
              </a:spcAft>
              <a:buFont typeface="+mj-lt"/>
              <a:buAutoNum type="arabicPeriod"/>
              <a:tabLst>
                <a:tab pos="457200" algn="l"/>
              </a:tabLst>
            </a:pPr>
            <a:r>
              <a:rPr lang="en-US" sz="2800" b="1" dirty="0">
                <a:effectLst/>
                <a:latin typeface="Aptos" panose="020B0004020202020204" pitchFamily="34" charset="0"/>
                <a:ea typeface="Aptos" panose="020B0004020202020204" pitchFamily="34" charset="0"/>
                <a:cs typeface="Arial" panose="020B0604020202020204" pitchFamily="34" charset="0"/>
              </a:rPr>
              <a:t>Health Status</a:t>
            </a:r>
            <a:r>
              <a:rPr lang="en-US" sz="2800" dirty="0">
                <a:effectLst/>
                <a:latin typeface="Aptos" panose="020B0004020202020204" pitchFamily="34" charset="0"/>
                <a:ea typeface="Aptos" panose="020B0004020202020204" pitchFamily="34" charset="0"/>
                <a:cs typeface="Arial" panose="020B0604020202020204" pitchFamily="34" charset="0"/>
              </a:rPr>
              <a:t>: Slight positive correlation. Healthier students tend to perform better.</a:t>
            </a:r>
            <a:endParaRPr lang="en-US" sz="400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l" rtl="0">
              <a:lnSpc>
                <a:spcPct val="150000"/>
              </a:lnSpc>
              <a:spcAft>
                <a:spcPts val="800"/>
              </a:spcAft>
              <a:buFont typeface="+mj-lt"/>
              <a:buAutoNum type="arabicPeriod"/>
              <a:tabLst>
                <a:tab pos="457200" algn="l"/>
              </a:tabLst>
            </a:pPr>
            <a:r>
              <a:rPr lang="en-US" sz="2800" b="1" dirty="0">
                <a:effectLst/>
                <a:latin typeface="Aptos" panose="020B0004020202020204" pitchFamily="34" charset="0"/>
                <a:ea typeface="Aptos" panose="020B0004020202020204" pitchFamily="34" charset="0"/>
                <a:cs typeface="Arial" panose="020B0604020202020204" pitchFamily="34" charset="0"/>
              </a:rPr>
              <a:t>Age</a:t>
            </a:r>
            <a:r>
              <a:rPr lang="en-US" sz="2800" dirty="0">
                <a:effectLst/>
                <a:latin typeface="Aptos" panose="020B0004020202020204" pitchFamily="34" charset="0"/>
                <a:ea typeface="Aptos" panose="020B0004020202020204" pitchFamily="34" charset="0"/>
                <a:cs typeface="Arial" panose="020B0604020202020204" pitchFamily="34" charset="0"/>
              </a:rPr>
              <a:t>: Slight negative correlation. Older students tend to have lower grades.</a:t>
            </a:r>
            <a:endParaRPr lang="en-US" sz="400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l" rtl="0">
              <a:lnSpc>
                <a:spcPct val="150000"/>
              </a:lnSpc>
              <a:spcAft>
                <a:spcPts val="800"/>
              </a:spcAft>
              <a:buFont typeface="+mj-lt"/>
              <a:buAutoNum type="arabicPeriod"/>
              <a:tabLst>
                <a:tab pos="457200" algn="l"/>
              </a:tabLst>
            </a:pPr>
            <a:r>
              <a:rPr lang="en-US" sz="2800" b="1" dirty="0">
                <a:effectLst/>
                <a:latin typeface="Aptos" panose="020B0004020202020204" pitchFamily="34" charset="0"/>
                <a:ea typeface="Aptos" panose="020B0004020202020204" pitchFamily="34" charset="0"/>
                <a:cs typeface="Arial" panose="020B0604020202020204" pitchFamily="34" charset="0"/>
              </a:rPr>
              <a:t>Internet Access</a:t>
            </a:r>
            <a:r>
              <a:rPr lang="en-US" sz="2800" dirty="0">
                <a:effectLst/>
                <a:latin typeface="Aptos" panose="020B0004020202020204" pitchFamily="34" charset="0"/>
                <a:ea typeface="Aptos" panose="020B0004020202020204" pitchFamily="34" charset="0"/>
                <a:cs typeface="Arial" panose="020B0604020202020204" pitchFamily="34" charset="0"/>
              </a:rPr>
              <a:t>: Positive correlation. Access to the internet supports better academic performance.</a:t>
            </a:r>
            <a:endParaRPr lang="en-US" sz="4000" dirty="0">
              <a:effectLst/>
              <a:latin typeface="Aptos" panose="020B0004020202020204" pitchFamily="34" charset="0"/>
              <a:ea typeface="Aptos" panose="020B000402020202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a:off x="63362" y="242100"/>
            <a:ext cx="7861438" cy="6654000"/>
          </a:xfrm>
          <a:custGeom>
            <a:avLst/>
            <a:gdLst/>
            <a:ahLst/>
            <a:cxnLst/>
            <a:rect l="l" t="t" r="r" b="b"/>
            <a:pathLst>
              <a:path w="5449341" h="5487556">
                <a:moveTo>
                  <a:pt x="0" y="0"/>
                </a:moveTo>
                <a:lnTo>
                  <a:pt x="5449342" y="0"/>
                </a:lnTo>
                <a:lnTo>
                  <a:pt x="5449342" y="5487555"/>
                </a:lnTo>
                <a:lnTo>
                  <a:pt x="0" y="5487555"/>
                </a:lnTo>
                <a:lnTo>
                  <a:pt x="0" y="0"/>
                </a:lnTo>
                <a:close/>
              </a:path>
            </a:pathLst>
          </a:custGeom>
          <a:blipFill>
            <a:blip r:embed="rId2"/>
            <a:stretch>
              <a:fillRect/>
            </a:stretch>
          </a:blipFill>
          <a:ln>
            <a:solidFill>
              <a:schemeClr val="tx1"/>
            </a:solidFill>
          </a:ln>
        </p:spPr>
        <p:txBody>
          <a:bodyPr/>
          <a:lstStyle/>
          <a:p>
            <a:endParaRPr lang="en-US"/>
          </a:p>
        </p:txBody>
      </p:sp>
      <p:sp>
        <p:nvSpPr>
          <p:cNvPr id="14" name="Freeform 14"/>
          <p:cNvSpPr/>
          <p:nvPr/>
        </p:nvSpPr>
        <p:spPr>
          <a:xfrm>
            <a:off x="8382000" y="242100"/>
            <a:ext cx="9468787" cy="6654000"/>
          </a:xfrm>
          <a:custGeom>
            <a:avLst/>
            <a:gdLst/>
            <a:ahLst/>
            <a:cxnLst/>
            <a:rect l="l" t="t" r="r" b="b"/>
            <a:pathLst>
              <a:path w="10459387" h="5007720">
                <a:moveTo>
                  <a:pt x="0" y="0"/>
                </a:moveTo>
                <a:lnTo>
                  <a:pt x="10459387" y="0"/>
                </a:lnTo>
                <a:lnTo>
                  <a:pt x="10459387" y="5007720"/>
                </a:lnTo>
                <a:lnTo>
                  <a:pt x="0" y="5007720"/>
                </a:lnTo>
                <a:lnTo>
                  <a:pt x="0" y="0"/>
                </a:lnTo>
                <a:close/>
              </a:path>
            </a:pathLst>
          </a:custGeom>
          <a:blipFill>
            <a:blip r:embed="rId3"/>
            <a:stretch>
              <a:fillRect/>
            </a:stretch>
          </a:blipFill>
          <a:ln>
            <a:solidFill>
              <a:schemeClr val="tx1"/>
            </a:solidFill>
          </a:ln>
        </p:spPr>
        <p:txBody>
          <a:bodyPr/>
          <a:lstStyle/>
          <a:p>
            <a:endParaRPr lang="en-US"/>
          </a:p>
        </p:txBody>
      </p:sp>
      <p:sp>
        <p:nvSpPr>
          <p:cNvPr id="18" name="مربع نص 17">
            <a:extLst>
              <a:ext uri="{FF2B5EF4-FFF2-40B4-BE49-F238E27FC236}">
                <a16:creationId xmlns:a16="http://schemas.microsoft.com/office/drawing/2014/main" id="{4236AD17-EF64-9463-6750-78B25E372993}"/>
              </a:ext>
            </a:extLst>
          </p:cNvPr>
          <p:cNvSpPr txBox="1"/>
          <p:nvPr/>
        </p:nvSpPr>
        <p:spPr>
          <a:xfrm>
            <a:off x="411813" y="7429500"/>
            <a:ext cx="7861438" cy="2426946"/>
          </a:xfrm>
          <a:prstGeom prst="rect">
            <a:avLst/>
          </a:prstGeom>
          <a:noFill/>
        </p:spPr>
        <p:txBody>
          <a:bodyPr wrap="square">
            <a:spAutoFit/>
          </a:bodyPr>
          <a:lstStyle/>
          <a:p>
            <a:pPr marL="457200" indent="-457200" algn="ctr" rtl="0">
              <a:lnSpc>
                <a:spcPct val="115000"/>
              </a:lnSpc>
              <a:spcAft>
                <a:spcPts val="800"/>
              </a:spcAft>
              <a:buFont typeface="Arial" panose="020B0604020202020204" pitchFamily="34" charset="0"/>
              <a:buChar char="•"/>
            </a:pPr>
            <a:r>
              <a:rPr lang="en-US" sz="3200" dirty="0">
                <a:effectLst/>
                <a:ea typeface="Aptos" panose="020B0004020202020204" pitchFamily="34" charset="0"/>
                <a:cs typeface="Arial" panose="020B0604020202020204" pitchFamily="34" charset="0"/>
              </a:rPr>
              <a:t>Students not in a romantic relationship have a higher percentage of passing.</a:t>
            </a:r>
          </a:p>
          <a:p>
            <a:pPr marL="457200" indent="-457200" algn="ctr" rtl="0">
              <a:lnSpc>
                <a:spcPct val="115000"/>
              </a:lnSpc>
              <a:spcAft>
                <a:spcPts val="800"/>
              </a:spcAft>
              <a:buFont typeface="Arial" panose="020B0604020202020204" pitchFamily="34" charset="0"/>
              <a:buChar char="•"/>
            </a:pPr>
            <a:r>
              <a:rPr lang="en-US" sz="3200" dirty="0">
                <a:effectLst/>
                <a:ea typeface="Aptos" panose="020B0004020202020204" pitchFamily="34" charset="0"/>
                <a:cs typeface="Arial" panose="020B0604020202020204" pitchFamily="34" charset="0"/>
              </a:rPr>
              <a:t> Students in a romantic relationship have a slightly lower percentage of passing.</a:t>
            </a:r>
            <a:endParaRPr lang="en-US" sz="3200" dirty="0"/>
          </a:p>
        </p:txBody>
      </p:sp>
      <p:sp>
        <p:nvSpPr>
          <p:cNvPr id="20" name="مربع نص 19">
            <a:extLst>
              <a:ext uri="{FF2B5EF4-FFF2-40B4-BE49-F238E27FC236}">
                <a16:creationId xmlns:a16="http://schemas.microsoft.com/office/drawing/2014/main" id="{43793744-D4E9-383F-E372-1092AFB47AEB}"/>
              </a:ext>
            </a:extLst>
          </p:cNvPr>
          <p:cNvSpPr txBox="1"/>
          <p:nvPr/>
        </p:nvSpPr>
        <p:spPr>
          <a:xfrm>
            <a:off x="8732187" y="7429500"/>
            <a:ext cx="9144000" cy="2423740"/>
          </a:xfrm>
          <a:prstGeom prst="rect">
            <a:avLst/>
          </a:prstGeom>
          <a:noFill/>
        </p:spPr>
        <p:txBody>
          <a:bodyPr wrap="square">
            <a:spAutoFit/>
          </a:bodyPr>
          <a:lstStyle/>
          <a:p>
            <a:pPr marL="457200" indent="-457200" algn="ctr">
              <a:lnSpc>
                <a:spcPct val="115000"/>
              </a:lnSpc>
              <a:spcAft>
                <a:spcPts val="800"/>
              </a:spcAft>
              <a:buFont typeface="Arial" panose="020B0604020202020204" pitchFamily="34" charset="0"/>
              <a:buChar char="•"/>
            </a:pPr>
            <a:r>
              <a:rPr lang="en-US" sz="3200" dirty="0">
                <a:effectLst/>
                <a:latin typeface="+mj-lt"/>
                <a:ea typeface="Aptos" panose="020B0004020202020204" pitchFamily="34" charset="0"/>
                <a:cs typeface="Arial" panose="020B0604020202020204" pitchFamily="34" charset="0"/>
              </a:rPr>
              <a:t>Students who go out less frequently (lower values on the scale) have a higher percentage of passing</a:t>
            </a:r>
            <a:r>
              <a:rPr lang="ar-SA" sz="3200" dirty="0">
                <a:effectLst/>
                <a:latin typeface="+mj-lt"/>
                <a:ea typeface="Aptos" panose="020B0004020202020204" pitchFamily="34" charset="0"/>
                <a:cs typeface="Arial" panose="020B0604020202020204" pitchFamily="34" charset="0"/>
              </a:rPr>
              <a:t>.</a:t>
            </a:r>
            <a:endParaRPr lang="en-US" sz="3200" dirty="0">
              <a:latin typeface="+mj-lt"/>
              <a:ea typeface="Aptos" panose="020B0004020202020204" pitchFamily="34" charset="0"/>
              <a:cs typeface="Arial" panose="020B0604020202020204" pitchFamily="34" charset="0"/>
            </a:endParaRPr>
          </a:p>
          <a:p>
            <a:pPr marL="285750" indent="-285750" algn="ctr">
              <a:lnSpc>
                <a:spcPct val="115000"/>
              </a:lnSpc>
              <a:spcAft>
                <a:spcPts val="800"/>
              </a:spcAft>
              <a:buFont typeface="Arial" panose="020B0604020202020204" pitchFamily="34" charset="0"/>
              <a:buChar char="•"/>
            </a:pPr>
            <a:r>
              <a:rPr lang="en-US" sz="3200" dirty="0">
                <a:effectLst/>
                <a:latin typeface="+mj-lt"/>
                <a:ea typeface="Aptos" panose="020B0004020202020204" pitchFamily="34" charset="0"/>
                <a:cs typeface="Arial" panose="020B0604020202020204" pitchFamily="34" charset="0"/>
              </a:rPr>
              <a:t>Students who go out more frequently (higher values on the scale) have a lower percentage of passing</a:t>
            </a:r>
            <a:r>
              <a:rPr lang="ar-SA" sz="3200" dirty="0">
                <a:effectLst/>
                <a:latin typeface="+mj-lt"/>
                <a:ea typeface="Aptos" panose="020B0004020202020204" pitchFamily="34" charset="0"/>
                <a:cs typeface="Arial" panose="020B0604020202020204" pitchFamily="34" charset="0"/>
              </a:rPr>
              <a:t>.</a:t>
            </a:r>
            <a:endParaRPr lang="en-US" sz="3200" dirty="0">
              <a:effectLst/>
              <a:latin typeface="+mj-lt"/>
              <a:ea typeface="Aptos" panose="020B0004020202020204" pitchFamily="34" charset="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2329398" y="9017983"/>
            <a:ext cx="4899948" cy="3344214"/>
          </a:xfrm>
          <a:custGeom>
            <a:avLst/>
            <a:gdLst/>
            <a:ahLst/>
            <a:cxnLst/>
            <a:rect l="l" t="t" r="r" b="b"/>
            <a:pathLst>
              <a:path w="4899948" h="3344214">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12801533" y="-3053980"/>
            <a:ext cx="4292424" cy="3870986"/>
          </a:xfrm>
          <a:custGeom>
            <a:avLst/>
            <a:gdLst/>
            <a:ahLst/>
            <a:cxnLst/>
            <a:rect l="l" t="t" r="r" b="b"/>
            <a:pathLst>
              <a:path w="4292424" h="3870986">
                <a:moveTo>
                  <a:pt x="0" y="0"/>
                </a:moveTo>
                <a:lnTo>
                  <a:pt x="4292424" y="0"/>
                </a:lnTo>
                <a:lnTo>
                  <a:pt x="4292424" y="3870986"/>
                </a:lnTo>
                <a:lnTo>
                  <a:pt x="0" y="3870986"/>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15" name="Freeform 15"/>
          <p:cNvSpPr/>
          <p:nvPr/>
        </p:nvSpPr>
        <p:spPr>
          <a:xfrm>
            <a:off x="16535400" y="-1152607"/>
            <a:ext cx="3104522" cy="3342688"/>
          </a:xfrm>
          <a:custGeom>
            <a:avLst/>
            <a:gdLst/>
            <a:ahLst/>
            <a:cxnLst/>
            <a:rect l="l" t="t" r="r" b="b"/>
            <a:pathLst>
              <a:path w="3104522" h="3342688">
                <a:moveTo>
                  <a:pt x="0" y="0"/>
                </a:moveTo>
                <a:lnTo>
                  <a:pt x="3104522" y="0"/>
                </a:lnTo>
                <a:lnTo>
                  <a:pt x="3104522" y="3342689"/>
                </a:lnTo>
                <a:lnTo>
                  <a:pt x="0" y="3342689"/>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US"/>
          </a:p>
        </p:txBody>
      </p:sp>
      <p:sp>
        <p:nvSpPr>
          <p:cNvPr id="16" name="Freeform 16"/>
          <p:cNvSpPr/>
          <p:nvPr/>
        </p:nvSpPr>
        <p:spPr>
          <a:xfrm>
            <a:off x="8678334" y="2217065"/>
            <a:ext cx="9609665" cy="5688813"/>
          </a:xfrm>
          <a:custGeom>
            <a:avLst/>
            <a:gdLst/>
            <a:ahLst/>
            <a:cxnLst/>
            <a:rect l="l" t="t" r="r" b="b"/>
            <a:pathLst>
              <a:path w="5723200" h="4062322">
                <a:moveTo>
                  <a:pt x="0" y="0"/>
                </a:moveTo>
                <a:lnTo>
                  <a:pt x="5723200" y="0"/>
                </a:lnTo>
                <a:lnTo>
                  <a:pt x="5723200" y="4062321"/>
                </a:lnTo>
                <a:lnTo>
                  <a:pt x="0" y="4062321"/>
                </a:lnTo>
                <a:lnTo>
                  <a:pt x="0" y="0"/>
                </a:lnTo>
                <a:close/>
              </a:path>
            </a:pathLst>
          </a:custGeom>
          <a:blipFill>
            <a:blip r:embed="rId8"/>
            <a:stretch>
              <a:fillRect/>
            </a:stretch>
          </a:blipFill>
        </p:spPr>
        <p:txBody>
          <a:bodyPr/>
          <a:lstStyle/>
          <a:p>
            <a:endParaRPr lang="en-US"/>
          </a:p>
        </p:txBody>
      </p:sp>
      <p:sp>
        <p:nvSpPr>
          <p:cNvPr id="17" name="Freeform 17"/>
          <p:cNvSpPr/>
          <p:nvPr/>
        </p:nvSpPr>
        <p:spPr>
          <a:xfrm>
            <a:off x="1" y="2170437"/>
            <a:ext cx="8686800" cy="5550361"/>
          </a:xfrm>
          <a:custGeom>
            <a:avLst/>
            <a:gdLst/>
            <a:ahLst/>
            <a:cxnLst/>
            <a:rect l="l" t="t" r="r" b="b"/>
            <a:pathLst>
              <a:path w="5736307" h="4120295">
                <a:moveTo>
                  <a:pt x="0" y="0"/>
                </a:moveTo>
                <a:lnTo>
                  <a:pt x="5736307" y="0"/>
                </a:lnTo>
                <a:lnTo>
                  <a:pt x="5736307" y="4120295"/>
                </a:lnTo>
                <a:lnTo>
                  <a:pt x="0" y="4120295"/>
                </a:lnTo>
                <a:lnTo>
                  <a:pt x="0" y="0"/>
                </a:lnTo>
                <a:close/>
              </a:path>
            </a:pathLst>
          </a:custGeom>
          <a:blipFill>
            <a:blip r:embed="rId9"/>
            <a:stretch>
              <a:fillRect/>
            </a:stretch>
          </a:blipFill>
        </p:spPr>
        <p:txBody>
          <a:bodyPr/>
          <a:lstStyle/>
          <a:p>
            <a:endParaRPr lang="en-US"/>
          </a:p>
        </p:txBody>
      </p:sp>
      <p:sp>
        <p:nvSpPr>
          <p:cNvPr id="18" name="TextBox 18"/>
          <p:cNvSpPr txBox="1"/>
          <p:nvPr/>
        </p:nvSpPr>
        <p:spPr>
          <a:xfrm>
            <a:off x="0" y="942975"/>
            <a:ext cx="13641934" cy="796500"/>
          </a:xfrm>
          <a:prstGeom prst="rect">
            <a:avLst/>
          </a:prstGeom>
        </p:spPr>
        <p:txBody>
          <a:bodyPr wrap="square" lIns="0" tIns="0" rIns="0" bIns="0" rtlCol="0" anchor="t">
            <a:spAutoFit/>
          </a:bodyPr>
          <a:lstStyle/>
          <a:p>
            <a:pPr algn="ctr">
              <a:lnSpc>
                <a:spcPts val="6547"/>
              </a:lnSpc>
              <a:spcBef>
                <a:spcPct val="0"/>
              </a:spcBef>
            </a:pPr>
            <a:r>
              <a:rPr lang="en-US" sz="4676" spc="-383" dirty="0">
                <a:solidFill>
                  <a:srgbClr val="000000"/>
                </a:solidFill>
                <a:latin typeface="DM Sans"/>
              </a:rPr>
              <a:t>Student status by father and mother education:</a:t>
            </a:r>
          </a:p>
        </p:txBody>
      </p:sp>
      <p:sp>
        <p:nvSpPr>
          <p:cNvPr id="19" name="TextBox 19"/>
          <p:cNvSpPr txBox="1"/>
          <p:nvPr/>
        </p:nvSpPr>
        <p:spPr>
          <a:xfrm>
            <a:off x="2065193" y="8452090"/>
            <a:ext cx="14461497" cy="1708866"/>
          </a:xfrm>
          <a:prstGeom prst="rect">
            <a:avLst/>
          </a:prstGeom>
        </p:spPr>
        <p:txBody>
          <a:bodyPr wrap="square" lIns="0" tIns="0" rIns="0" bIns="0" rtlCol="0" anchor="t">
            <a:spAutoFit/>
          </a:bodyPr>
          <a:lstStyle/>
          <a:p>
            <a:pPr algn="ctr">
              <a:lnSpc>
                <a:spcPts val="4505"/>
              </a:lnSpc>
              <a:spcBef>
                <a:spcPct val="0"/>
              </a:spcBef>
            </a:pPr>
            <a:r>
              <a:rPr lang="en-US" sz="3600" dirty="0">
                <a:ln w="0"/>
                <a:effectLst>
                  <a:outerShdw blurRad="38100" dist="19050" dir="2700000" algn="tl" rotWithShape="0">
                    <a:schemeClr val="dk1">
                      <a:alpha val="40000"/>
                    </a:schemeClr>
                  </a:outerShdw>
                </a:effectLst>
              </a:rPr>
              <a:t>From the graphs, it appears that both maternal and paternal education have an impact on student performance, as we see higher density at higher educational levels for both parents.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5352827" y="7920840"/>
            <a:ext cx="4899948" cy="3344214"/>
          </a:xfrm>
          <a:custGeom>
            <a:avLst/>
            <a:gdLst/>
            <a:ahLst/>
            <a:cxnLst/>
            <a:rect l="l" t="t" r="r" b="b"/>
            <a:pathLst>
              <a:path w="4899948" h="3344214">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4" name="Freeform 14"/>
          <p:cNvSpPr/>
          <p:nvPr/>
        </p:nvSpPr>
        <p:spPr>
          <a:xfrm>
            <a:off x="0" y="1576116"/>
            <a:ext cx="8991600" cy="5340254"/>
          </a:xfrm>
          <a:custGeom>
            <a:avLst/>
            <a:gdLst/>
            <a:ahLst/>
            <a:cxnLst/>
            <a:rect l="l" t="t" r="r" b="b"/>
            <a:pathLst>
              <a:path w="7371868" h="3567384">
                <a:moveTo>
                  <a:pt x="0" y="0"/>
                </a:moveTo>
                <a:lnTo>
                  <a:pt x="7371868" y="0"/>
                </a:lnTo>
                <a:lnTo>
                  <a:pt x="7371868" y="3567384"/>
                </a:lnTo>
                <a:lnTo>
                  <a:pt x="0" y="3567384"/>
                </a:lnTo>
                <a:lnTo>
                  <a:pt x="0" y="0"/>
                </a:lnTo>
                <a:close/>
              </a:path>
            </a:pathLst>
          </a:custGeom>
          <a:blipFill>
            <a:blip r:embed="rId4"/>
            <a:stretch>
              <a:fillRect r="-1073"/>
            </a:stretch>
          </a:blipFill>
          <a:ln>
            <a:solidFill>
              <a:schemeClr val="tx1"/>
            </a:solidFill>
          </a:ln>
        </p:spPr>
        <p:txBody>
          <a:bodyPr/>
          <a:lstStyle/>
          <a:p>
            <a:endParaRPr lang="en-US"/>
          </a:p>
        </p:txBody>
      </p:sp>
      <p:sp>
        <p:nvSpPr>
          <p:cNvPr id="15" name="TextBox 15"/>
          <p:cNvSpPr txBox="1"/>
          <p:nvPr/>
        </p:nvSpPr>
        <p:spPr>
          <a:xfrm>
            <a:off x="-453146" y="474448"/>
            <a:ext cx="9897892" cy="492379"/>
          </a:xfrm>
          <a:prstGeom prst="rect">
            <a:avLst/>
          </a:prstGeom>
        </p:spPr>
        <p:txBody>
          <a:bodyPr wrap="square" lIns="0" tIns="0" rIns="0" bIns="0" rtlCol="0" anchor="t">
            <a:spAutoFit/>
          </a:bodyPr>
          <a:lstStyle/>
          <a:p>
            <a:pPr algn="ctr">
              <a:lnSpc>
                <a:spcPts val="3942"/>
              </a:lnSpc>
              <a:spcBef>
                <a:spcPct val="0"/>
              </a:spcBef>
            </a:pPr>
            <a:r>
              <a:rPr lang="en-US" sz="2800" dirty="0">
                <a:ln w="0"/>
                <a:effectLst>
                  <a:outerShdw blurRad="38100" dist="19050" dir="2700000" algn="tl" rotWithShape="0">
                    <a:schemeClr val="dk1">
                      <a:alpha val="40000"/>
                    </a:schemeClr>
                  </a:outerShdw>
                </a:effectLst>
                <a:latin typeface="DM Sans"/>
              </a:rPr>
              <a:t>Student status by </a:t>
            </a:r>
            <a:r>
              <a:rPr lang="en-US" sz="2800" dirty="0" err="1">
                <a:ln w="0"/>
                <a:effectLst>
                  <a:outerShdw blurRad="38100" dist="19050" dir="2700000" algn="tl" rotWithShape="0">
                    <a:schemeClr val="dk1">
                      <a:alpha val="40000"/>
                    </a:schemeClr>
                  </a:outerShdw>
                </a:effectLst>
                <a:latin typeface="DM Sans"/>
              </a:rPr>
              <a:t>deseire</a:t>
            </a:r>
            <a:r>
              <a:rPr lang="en-US" sz="2800" dirty="0">
                <a:ln w="0"/>
                <a:effectLst>
                  <a:outerShdw blurRad="38100" dist="19050" dir="2700000" algn="tl" rotWithShape="0">
                    <a:schemeClr val="dk1">
                      <a:alpha val="40000"/>
                    </a:schemeClr>
                  </a:outerShdw>
                </a:effectLst>
                <a:latin typeface="DM Sans"/>
              </a:rPr>
              <a:t> to take </a:t>
            </a:r>
            <a:r>
              <a:rPr lang="en-US" sz="2800" dirty="0" err="1">
                <a:ln w="0"/>
                <a:effectLst>
                  <a:outerShdw blurRad="38100" dist="19050" dir="2700000" algn="tl" rotWithShape="0">
                    <a:schemeClr val="dk1">
                      <a:alpha val="40000"/>
                    </a:schemeClr>
                  </a:outerShdw>
                </a:effectLst>
                <a:latin typeface="DM Sans"/>
              </a:rPr>
              <a:t>heigher</a:t>
            </a:r>
            <a:r>
              <a:rPr lang="en-US" sz="2800" dirty="0">
                <a:ln w="0"/>
                <a:effectLst>
                  <a:outerShdw blurRad="38100" dist="19050" dir="2700000" algn="tl" rotWithShape="0">
                    <a:schemeClr val="dk1">
                      <a:alpha val="40000"/>
                    </a:schemeClr>
                  </a:outerShdw>
                </a:effectLst>
                <a:latin typeface="DM Sans"/>
              </a:rPr>
              <a:t> education:</a:t>
            </a:r>
          </a:p>
        </p:txBody>
      </p:sp>
      <p:sp>
        <p:nvSpPr>
          <p:cNvPr id="16" name="TextBox 16"/>
          <p:cNvSpPr txBox="1"/>
          <p:nvPr/>
        </p:nvSpPr>
        <p:spPr>
          <a:xfrm>
            <a:off x="644017" y="7426137"/>
            <a:ext cx="8347583" cy="2423933"/>
          </a:xfrm>
          <a:prstGeom prst="rect">
            <a:avLst/>
          </a:prstGeom>
        </p:spPr>
        <p:txBody>
          <a:bodyPr wrap="square" lIns="0" tIns="0" rIns="0" bIns="0" rtlCol="0" anchor="t">
            <a:spAutoFit/>
          </a:bodyPr>
          <a:lstStyle/>
          <a:p>
            <a:pPr algn="ctr">
              <a:lnSpc>
                <a:spcPts val="4781"/>
              </a:lnSpc>
              <a:spcBef>
                <a:spcPct val="0"/>
              </a:spcBef>
            </a:pPr>
            <a:r>
              <a:rPr lang="en-US" sz="3415" dirty="0">
                <a:ln w="0"/>
                <a:effectLst>
                  <a:outerShdw blurRad="38100" dist="19050" dir="2700000" algn="tl" rotWithShape="0">
                    <a:schemeClr val="dk1">
                      <a:alpha val="40000"/>
                    </a:schemeClr>
                  </a:outerShdw>
                </a:effectLst>
              </a:rPr>
              <a:t>Most of students who passed the exam want to take </a:t>
            </a:r>
            <a:r>
              <a:rPr lang="en-US" sz="3415" dirty="0" err="1">
                <a:ln w="0"/>
                <a:effectLst>
                  <a:outerShdw blurRad="38100" dist="19050" dir="2700000" algn="tl" rotWithShape="0">
                    <a:schemeClr val="dk1">
                      <a:alpha val="40000"/>
                    </a:schemeClr>
                  </a:outerShdw>
                </a:effectLst>
              </a:rPr>
              <a:t>heigher</a:t>
            </a:r>
            <a:r>
              <a:rPr lang="en-US" sz="3415" dirty="0">
                <a:ln w="0"/>
                <a:effectLst>
                  <a:outerShdw blurRad="38100" dist="19050" dir="2700000" algn="tl" rotWithShape="0">
                    <a:schemeClr val="dk1">
                      <a:alpha val="40000"/>
                    </a:schemeClr>
                  </a:outerShdw>
                </a:effectLst>
              </a:rPr>
              <a:t> education sow it could be a good idea to encourage your kids or students to take </a:t>
            </a:r>
            <a:r>
              <a:rPr lang="en-US" sz="3415" dirty="0" err="1">
                <a:ln w="0"/>
                <a:effectLst>
                  <a:outerShdw blurRad="38100" dist="19050" dir="2700000" algn="tl" rotWithShape="0">
                    <a:schemeClr val="dk1">
                      <a:alpha val="40000"/>
                    </a:schemeClr>
                  </a:outerShdw>
                </a:effectLst>
              </a:rPr>
              <a:t>heigher</a:t>
            </a:r>
            <a:r>
              <a:rPr lang="en-US" sz="3415" dirty="0">
                <a:ln w="0"/>
                <a:effectLst>
                  <a:outerShdw blurRad="38100" dist="19050" dir="2700000" algn="tl" rotWithShape="0">
                    <a:schemeClr val="dk1">
                      <a:alpha val="40000"/>
                    </a:schemeClr>
                  </a:outerShdw>
                </a:effectLst>
              </a:rPr>
              <a:t> education.</a:t>
            </a:r>
          </a:p>
        </p:txBody>
      </p:sp>
      <p:sp>
        <p:nvSpPr>
          <p:cNvPr id="17" name="TextBox 17"/>
          <p:cNvSpPr txBox="1"/>
          <p:nvPr/>
        </p:nvSpPr>
        <p:spPr>
          <a:xfrm>
            <a:off x="10018466" y="315058"/>
            <a:ext cx="7174761" cy="641201"/>
          </a:xfrm>
          <a:prstGeom prst="rect">
            <a:avLst/>
          </a:prstGeom>
        </p:spPr>
        <p:txBody>
          <a:bodyPr lIns="0" tIns="0" rIns="0" bIns="0" rtlCol="0" anchor="t">
            <a:spAutoFit/>
          </a:bodyPr>
          <a:lstStyle/>
          <a:p>
            <a:pPr algn="ctr">
              <a:lnSpc>
                <a:spcPts val="5600"/>
              </a:lnSpc>
              <a:spcBef>
                <a:spcPct val="0"/>
              </a:spcBef>
            </a:pPr>
            <a:r>
              <a:rPr lang="en-US" sz="2800" dirty="0">
                <a:ln w="0"/>
                <a:effectLst>
                  <a:outerShdw blurRad="38100" dist="19050" dir="2700000" algn="tl" rotWithShape="0">
                    <a:schemeClr val="dk1">
                      <a:alpha val="40000"/>
                    </a:schemeClr>
                  </a:outerShdw>
                </a:effectLst>
                <a:latin typeface="DM Sans"/>
              </a:rPr>
              <a:t>Student status by failures:</a:t>
            </a:r>
          </a:p>
        </p:txBody>
      </p:sp>
      <p:sp>
        <p:nvSpPr>
          <p:cNvPr id="18" name="Freeform 18"/>
          <p:cNvSpPr/>
          <p:nvPr/>
        </p:nvSpPr>
        <p:spPr>
          <a:xfrm>
            <a:off x="9144000" y="1576116"/>
            <a:ext cx="8658801" cy="5340254"/>
          </a:xfrm>
          <a:custGeom>
            <a:avLst/>
            <a:gdLst/>
            <a:ahLst/>
            <a:cxnLst/>
            <a:rect l="l" t="t" r="r" b="b"/>
            <a:pathLst>
              <a:path w="7833562" h="3750534">
                <a:moveTo>
                  <a:pt x="0" y="0"/>
                </a:moveTo>
                <a:lnTo>
                  <a:pt x="7833562" y="0"/>
                </a:lnTo>
                <a:lnTo>
                  <a:pt x="7833562" y="3750534"/>
                </a:lnTo>
                <a:lnTo>
                  <a:pt x="0" y="3750534"/>
                </a:lnTo>
                <a:lnTo>
                  <a:pt x="0" y="0"/>
                </a:lnTo>
                <a:close/>
              </a:path>
            </a:pathLst>
          </a:custGeom>
          <a:blipFill>
            <a:blip r:embed="rId5"/>
            <a:stretch>
              <a:fillRect/>
            </a:stretch>
          </a:blipFill>
          <a:ln>
            <a:solidFill>
              <a:schemeClr val="tx1"/>
            </a:solidFill>
          </a:ln>
        </p:spPr>
        <p:txBody>
          <a:bodyPr/>
          <a:lstStyle/>
          <a:p>
            <a:endParaRPr lang="en-US"/>
          </a:p>
        </p:txBody>
      </p:sp>
      <p:sp>
        <p:nvSpPr>
          <p:cNvPr id="19" name="TextBox 19"/>
          <p:cNvSpPr txBox="1"/>
          <p:nvPr/>
        </p:nvSpPr>
        <p:spPr>
          <a:xfrm>
            <a:off x="10138933" y="7317062"/>
            <a:ext cx="6933825" cy="1393822"/>
          </a:xfrm>
          <a:prstGeom prst="rect">
            <a:avLst/>
          </a:prstGeom>
        </p:spPr>
        <p:txBody>
          <a:bodyPr lIns="0" tIns="0" rIns="0" bIns="0" rtlCol="0" anchor="t">
            <a:spAutoFit/>
          </a:bodyPr>
          <a:lstStyle/>
          <a:p>
            <a:pPr algn="ctr">
              <a:lnSpc>
                <a:spcPts val="5600"/>
              </a:lnSpc>
              <a:spcBef>
                <a:spcPct val="0"/>
              </a:spcBef>
            </a:pPr>
            <a:r>
              <a:rPr lang="en-US" sz="3200" dirty="0">
                <a:ln w="0"/>
                <a:effectLst>
                  <a:outerShdw blurRad="38100" dist="19050" dir="2700000" algn="tl" rotWithShape="0">
                    <a:schemeClr val="dk1">
                      <a:alpha val="40000"/>
                    </a:schemeClr>
                  </a:outerShdw>
                </a:effectLst>
                <a:latin typeface="DM Sans"/>
              </a:rPr>
              <a:t>most of student who passed the exam had 0 failures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4478000" y="8614893"/>
            <a:ext cx="4899948" cy="3344214"/>
          </a:xfrm>
          <a:custGeom>
            <a:avLst/>
            <a:gdLst/>
            <a:ahLst/>
            <a:cxnLst/>
            <a:rect l="l" t="t" r="r" b="b"/>
            <a:pathLst>
              <a:path w="4899948" h="3344214">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3600"/>
          </a:p>
        </p:txBody>
      </p:sp>
      <p:sp>
        <p:nvSpPr>
          <p:cNvPr id="15" name="Freeform 15"/>
          <p:cNvSpPr/>
          <p:nvPr/>
        </p:nvSpPr>
        <p:spPr>
          <a:xfrm>
            <a:off x="-1" y="1415713"/>
            <a:ext cx="9206321" cy="5669338"/>
          </a:xfrm>
          <a:custGeom>
            <a:avLst/>
            <a:gdLst/>
            <a:ahLst/>
            <a:cxnLst/>
            <a:rect l="l" t="t" r="r" b="b"/>
            <a:pathLst>
              <a:path w="7786052" h="3727787">
                <a:moveTo>
                  <a:pt x="0" y="0"/>
                </a:moveTo>
                <a:lnTo>
                  <a:pt x="7786052" y="0"/>
                </a:lnTo>
                <a:lnTo>
                  <a:pt x="7786052" y="3727787"/>
                </a:lnTo>
                <a:lnTo>
                  <a:pt x="0" y="3727787"/>
                </a:lnTo>
                <a:lnTo>
                  <a:pt x="0" y="0"/>
                </a:lnTo>
                <a:close/>
              </a:path>
            </a:pathLst>
          </a:custGeom>
          <a:blipFill>
            <a:blip r:embed="rId4"/>
            <a:stretch>
              <a:fillRect/>
            </a:stretch>
          </a:blipFill>
        </p:spPr>
        <p:txBody>
          <a:bodyPr/>
          <a:lstStyle/>
          <a:p>
            <a:endParaRPr lang="en-US" sz="3600"/>
          </a:p>
        </p:txBody>
      </p:sp>
      <p:sp>
        <p:nvSpPr>
          <p:cNvPr id="16" name="TextBox 16"/>
          <p:cNvSpPr txBox="1"/>
          <p:nvPr/>
        </p:nvSpPr>
        <p:spPr>
          <a:xfrm>
            <a:off x="-490884" y="-7711"/>
            <a:ext cx="10534086" cy="1029577"/>
          </a:xfrm>
          <a:prstGeom prst="rect">
            <a:avLst/>
          </a:prstGeom>
        </p:spPr>
        <p:txBody>
          <a:bodyPr wrap="square" lIns="0" tIns="0" rIns="0" bIns="0" rtlCol="0" anchor="t">
            <a:spAutoFit/>
          </a:bodyPr>
          <a:lstStyle/>
          <a:p>
            <a:pPr algn="ctr">
              <a:lnSpc>
                <a:spcPts val="3995"/>
              </a:lnSpc>
              <a:spcBef>
                <a:spcPct val="0"/>
              </a:spcBef>
            </a:pPr>
            <a:endParaRPr sz="3600" dirty="0"/>
          </a:p>
          <a:p>
            <a:pPr algn="ctr">
              <a:lnSpc>
                <a:spcPts val="3995"/>
              </a:lnSpc>
              <a:spcBef>
                <a:spcPct val="0"/>
              </a:spcBef>
            </a:pPr>
            <a:r>
              <a:rPr lang="en-US" sz="3600" dirty="0">
                <a:ln w="0"/>
                <a:effectLst>
                  <a:outerShdw blurRad="38100" dist="19050" dir="2700000" algn="tl" rotWithShape="0">
                    <a:schemeClr val="dk1">
                      <a:alpha val="40000"/>
                    </a:schemeClr>
                  </a:outerShdw>
                </a:effectLst>
                <a:latin typeface="DM Sans"/>
              </a:rPr>
              <a:t>Student status by internet accessibility:</a:t>
            </a:r>
          </a:p>
        </p:txBody>
      </p:sp>
      <p:sp>
        <p:nvSpPr>
          <p:cNvPr id="17" name="TextBox 17"/>
          <p:cNvSpPr txBox="1"/>
          <p:nvPr/>
        </p:nvSpPr>
        <p:spPr>
          <a:xfrm>
            <a:off x="-5402" y="6896100"/>
            <a:ext cx="9460885" cy="2600520"/>
          </a:xfrm>
          <a:prstGeom prst="rect">
            <a:avLst/>
          </a:prstGeom>
        </p:spPr>
        <p:txBody>
          <a:bodyPr wrap="square" lIns="0" tIns="0" rIns="0" bIns="0" rtlCol="0" anchor="t">
            <a:spAutoFit/>
          </a:bodyPr>
          <a:lstStyle/>
          <a:p>
            <a:pPr algn="ctr">
              <a:lnSpc>
                <a:spcPts val="7002"/>
              </a:lnSpc>
              <a:spcBef>
                <a:spcPct val="0"/>
              </a:spcBef>
            </a:pPr>
            <a:r>
              <a:rPr lang="en-US" sz="3600" dirty="0">
                <a:ln w="0"/>
                <a:effectLst>
                  <a:outerShdw blurRad="38100" dist="19050" dir="2700000" algn="tl" rotWithShape="0">
                    <a:schemeClr val="dk1">
                      <a:alpha val="40000"/>
                    </a:schemeClr>
                  </a:outerShdw>
                </a:effectLst>
                <a:latin typeface="DM Sans"/>
              </a:rPr>
              <a:t>Most of the students who passed the exam had access to the internet, so we should provide fair educational materials.</a:t>
            </a:r>
          </a:p>
        </p:txBody>
      </p:sp>
      <p:sp>
        <p:nvSpPr>
          <p:cNvPr id="18" name="Freeform 18"/>
          <p:cNvSpPr/>
          <p:nvPr/>
        </p:nvSpPr>
        <p:spPr>
          <a:xfrm>
            <a:off x="9396123" y="1415712"/>
            <a:ext cx="8503210" cy="5632787"/>
          </a:xfrm>
          <a:custGeom>
            <a:avLst/>
            <a:gdLst/>
            <a:ahLst/>
            <a:cxnLst/>
            <a:rect l="l" t="t" r="r" b="b"/>
            <a:pathLst>
              <a:path w="8052979" h="3855586">
                <a:moveTo>
                  <a:pt x="0" y="0"/>
                </a:moveTo>
                <a:lnTo>
                  <a:pt x="8052979" y="0"/>
                </a:lnTo>
                <a:lnTo>
                  <a:pt x="8052979" y="3855586"/>
                </a:lnTo>
                <a:lnTo>
                  <a:pt x="0" y="3855586"/>
                </a:lnTo>
                <a:lnTo>
                  <a:pt x="0" y="0"/>
                </a:lnTo>
                <a:close/>
              </a:path>
            </a:pathLst>
          </a:custGeom>
          <a:blipFill>
            <a:blip r:embed="rId5"/>
            <a:stretch>
              <a:fillRect/>
            </a:stretch>
          </a:blipFill>
        </p:spPr>
        <p:txBody>
          <a:bodyPr/>
          <a:lstStyle/>
          <a:p>
            <a:endParaRPr lang="en-US" sz="3600"/>
          </a:p>
        </p:txBody>
      </p:sp>
      <p:sp>
        <p:nvSpPr>
          <p:cNvPr id="19" name="TextBox 19"/>
          <p:cNvSpPr txBox="1"/>
          <p:nvPr/>
        </p:nvSpPr>
        <p:spPr>
          <a:xfrm>
            <a:off x="10068602" y="7048500"/>
            <a:ext cx="7426208" cy="1478418"/>
          </a:xfrm>
          <a:prstGeom prst="rect">
            <a:avLst/>
          </a:prstGeom>
        </p:spPr>
        <p:txBody>
          <a:bodyPr lIns="0" tIns="0" rIns="0" bIns="0" rtlCol="0" anchor="t">
            <a:spAutoFit/>
          </a:bodyPr>
          <a:lstStyle/>
          <a:p>
            <a:pPr algn="ctr">
              <a:lnSpc>
                <a:spcPts val="6000"/>
              </a:lnSpc>
              <a:spcBef>
                <a:spcPct val="0"/>
              </a:spcBef>
            </a:pPr>
            <a:r>
              <a:rPr lang="en-US" sz="3600" dirty="0">
                <a:ln w="0"/>
                <a:effectLst>
                  <a:outerShdw blurRad="38100" dist="19050" dir="2700000" algn="tl" rotWithShape="0">
                    <a:schemeClr val="dk1">
                      <a:alpha val="40000"/>
                    </a:schemeClr>
                  </a:outerShdw>
                </a:effectLst>
                <a:latin typeface="DM Sans"/>
              </a:rPr>
              <a:t>Most of students who passed the exam study 5-10 hours </a:t>
            </a:r>
            <a:r>
              <a:rPr lang="en-US" sz="3600" dirty="0" err="1">
                <a:ln w="0"/>
                <a:effectLst>
                  <a:outerShdw blurRad="38100" dist="19050" dir="2700000" algn="tl" rotWithShape="0">
                    <a:schemeClr val="dk1">
                      <a:alpha val="40000"/>
                    </a:schemeClr>
                  </a:outerShdw>
                </a:effectLst>
                <a:latin typeface="DM Sans"/>
              </a:rPr>
              <a:t>weekely</a:t>
            </a:r>
            <a:endParaRPr lang="en-US" sz="3600" dirty="0">
              <a:ln w="0"/>
              <a:effectLst>
                <a:outerShdw blurRad="38100" dist="19050" dir="2700000" algn="tl" rotWithShape="0">
                  <a:schemeClr val="dk1">
                    <a:alpha val="40000"/>
                  </a:schemeClr>
                </a:outerShdw>
              </a:effectLst>
              <a:latin typeface="DM Sans"/>
            </a:endParaRPr>
          </a:p>
        </p:txBody>
      </p:sp>
      <p:sp>
        <p:nvSpPr>
          <p:cNvPr id="20" name="TextBox 20"/>
          <p:cNvSpPr txBox="1"/>
          <p:nvPr/>
        </p:nvSpPr>
        <p:spPr>
          <a:xfrm>
            <a:off x="9647632" y="318658"/>
            <a:ext cx="8268147" cy="670505"/>
          </a:xfrm>
          <a:prstGeom prst="rect">
            <a:avLst/>
          </a:prstGeom>
        </p:spPr>
        <p:txBody>
          <a:bodyPr wrap="square" lIns="0" tIns="0" rIns="0" bIns="0" rtlCol="0" anchor="t">
            <a:spAutoFit/>
          </a:bodyPr>
          <a:lstStyle/>
          <a:p>
            <a:pPr algn="ctr">
              <a:lnSpc>
                <a:spcPts val="5600"/>
              </a:lnSpc>
              <a:spcBef>
                <a:spcPct val="0"/>
              </a:spcBef>
            </a:pPr>
            <a:r>
              <a:rPr lang="en-US" sz="3600" dirty="0">
                <a:ln w="0"/>
                <a:effectLst>
                  <a:outerShdw blurRad="38100" dist="19050" dir="2700000" algn="tl" rotWithShape="0">
                    <a:schemeClr val="dk1">
                      <a:alpha val="40000"/>
                    </a:schemeClr>
                  </a:outerShdw>
                </a:effectLst>
                <a:latin typeface="DM Sans"/>
              </a:rPr>
              <a:t>Student status </a:t>
            </a:r>
            <a:r>
              <a:rPr lang="en-US" sz="3600">
                <a:ln w="0"/>
                <a:effectLst>
                  <a:outerShdw blurRad="38100" dist="19050" dir="2700000" algn="tl" rotWithShape="0">
                    <a:schemeClr val="dk1">
                      <a:alpha val="40000"/>
                    </a:schemeClr>
                  </a:outerShdw>
                </a:effectLst>
                <a:latin typeface="DM Sans"/>
              </a:rPr>
              <a:t>by weekly </a:t>
            </a:r>
            <a:r>
              <a:rPr lang="en-US" sz="3600" dirty="0">
                <a:ln w="0"/>
                <a:effectLst>
                  <a:outerShdw blurRad="38100" dist="19050" dir="2700000" algn="tl" rotWithShape="0">
                    <a:schemeClr val="dk1">
                      <a:alpha val="40000"/>
                    </a:schemeClr>
                  </a:outerShdw>
                </a:effectLst>
                <a:latin typeface="DM Sans"/>
              </a:rPr>
              <a:t>Study time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2329398" y="9017983"/>
            <a:ext cx="4899948" cy="3344214"/>
          </a:xfrm>
          <a:custGeom>
            <a:avLst/>
            <a:gdLst/>
            <a:ahLst/>
            <a:cxnLst/>
            <a:rect l="l" t="t" r="r" b="b"/>
            <a:pathLst>
              <a:path w="4899948" h="3344214">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12801533" y="-3053980"/>
            <a:ext cx="4292424" cy="3870986"/>
          </a:xfrm>
          <a:custGeom>
            <a:avLst/>
            <a:gdLst/>
            <a:ahLst/>
            <a:cxnLst/>
            <a:rect l="l" t="t" r="r" b="b"/>
            <a:pathLst>
              <a:path w="4292424" h="3870986">
                <a:moveTo>
                  <a:pt x="0" y="0"/>
                </a:moveTo>
                <a:lnTo>
                  <a:pt x="4292424" y="0"/>
                </a:lnTo>
                <a:lnTo>
                  <a:pt x="4292424" y="3870986"/>
                </a:lnTo>
                <a:lnTo>
                  <a:pt x="0" y="3870986"/>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9" name="Freeform 9"/>
          <p:cNvSpPr/>
          <p:nvPr/>
        </p:nvSpPr>
        <p:spPr>
          <a:xfrm>
            <a:off x="7495522" y="-3297794"/>
            <a:ext cx="5493058" cy="4114800"/>
          </a:xfrm>
          <a:custGeom>
            <a:avLst/>
            <a:gdLst/>
            <a:ahLst/>
            <a:cxnLst/>
            <a:rect l="l" t="t" r="r" b="b"/>
            <a:pathLst>
              <a:path w="5493058" h="4114800">
                <a:moveTo>
                  <a:pt x="0" y="0"/>
                </a:moveTo>
                <a:lnTo>
                  <a:pt x="5493058" y="0"/>
                </a:lnTo>
                <a:lnTo>
                  <a:pt x="549305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US"/>
          </a:p>
        </p:txBody>
      </p:sp>
      <p:sp>
        <p:nvSpPr>
          <p:cNvPr id="10" name="Freeform 10"/>
          <p:cNvSpPr/>
          <p:nvPr/>
        </p:nvSpPr>
        <p:spPr>
          <a:xfrm rot="4747568">
            <a:off x="-2972342" y="3665317"/>
            <a:ext cx="4896097" cy="2735694"/>
          </a:xfrm>
          <a:custGeom>
            <a:avLst/>
            <a:gdLst/>
            <a:ahLst/>
            <a:cxnLst/>
            <a:rect l="l" t="t" r="r" b="b"/>
            <a:pathLst>
              <a:path w="4896097" h="2735694">
                <a:moveTo>
                  <a:pt x="0" y="0"/>
                </a:moveTo>
                <a:lnTo>
                  <a:pt x="4896097" y="0"/>
                </a:lnTo>
                <a:lnTo>
                  <a:pt x="4896097" y="2735694"/>
                </a:lnTo>
                <a:lnTo>
                  <a:pt x="0" y="2735694"/>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n-US"/>
          </a:p>
        </p:txBody>
      </p:sp>
      <p:sp>
        <p:nvSpPr>
          <p:cNvPr id="11" name="Freeform 11"/>
          <p:cNvSpPr/>
          <p:nvPr/>
        </p:nvSpPr>
        <p:spPr>
          <a:xfrm>
            <a:off x="-252338" y="-2310726"/>
            <a:ext cx="2892762" cy="2919301"/>
          </a:xfrm>
          <a:custGeom>
            <a:avLst/>
            <a:gdLst/>
            <a:ahLst/>
            <a:cxnLst/>
            <a:rect l="l" t="t" r="r" b="b"/>
            <a:pathLst>
              <a:path w="2892762" h="2919301">
                <a:moveTo>
                  <a:pt x="0" y="0"/>
                </a:moveTo>
                <a:lnTo>
                  <a:pt x="2892761" y="0"/>
                </a:lnTo>
                <a:lnTo>
                  <a:pt x="2892761" y="2919300"/>
                </a:lnTo>
                <a:lnTo>
                  <a:pt x="0" y="2919300"/>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US"/>
          </a:p>
        </p:txBody>
      </p:sp>
      <p:sp>
        <p:nvSpPr>
          <p:cNvPr id="15" name="Freeform 15"/>
          <p:cNvSpPr/>
          <p:nvPr/>
        </p:nvSpPr>
        <p:spPr>
          <a:xfrm>
            <a:off x="17259300" y="-971659"/>
            <a:ext cx="3104522" cy="3342688"/>
          </a:xfrm>
          <a:custGeom>
            <a:avLst/>
            <a:gdLst/>
            <a:ahLst/>
            <a:cxnLst/>
            <a:rect l="l" t="t" r="r" b="b"/>
            <a:pathLst>
              <a:path w="3104522" h="3342688">
                <a:moveTo>
                  <a:pt x="0" y="0"/>
                </a:moveTo>
                <a:lnTo>
                  <a:pt x="3104522" y="0"/>
                </a:lnTo>
                <a:lnTo>
                  <a:pt x="3104522" y="3342689"/>
                </a:lnTo>
                <a:lnTo>
                  <a:pt x="0" y="3342689"/>
                </a:lnTo>
                <a:lnTo>
                  <a:pt x="0" y="0"/>
                </a:lnTo>
                <a:close/>
              </a:path>
            </a:pathLst>
          </a:custGeom>
          <a:blipFill>
            <a:blip r:embed="rId12">
              <a:extLst>
                <a:ext uri="{96DAC541-7B7A-43D3-8B79-37D633B846F1}">
                  <asvg:svgBlip xmlns:asvg="http://schemas.microsoft.com/office/drawing/2016/SVG/main" r:embed="rId13"/>
                </a:ext>
              </a:extLst>
            </a:blip>
            <a:stretch>
              <a:fillRect/>
            </a:stretch>
          </a:blipFill>
          <a:ln cap="sq">
            <a:noFill/>
            <a:prstDash val="solid"/>
            <a:miter/>
          </a:ln>
        </p:spPr>
        <p:txBody>
          <a:bodyPr/>
          <a:lstStyle/>
          <a:p>
            <a:endParaRPr lang="en-US"/>
          </a:p>
        </p:txBody>
      </p:sp>
      <p:sp>
        <p:nvSpPr>
          <p:cNvPr id="16" name="Freeform 16"/>
          <p:cNvSpPr/>
          <p:nvPr/>
        </p:nvSpPr>
        <p:spPr>
          <a:xfrm>
            <a:off x="2329788" y="2015613"/>
            <a:ext cx="12991886" cy="6541461"/>
          </a:xfrm>
          <a:custGeom>
            <a:avLst/>
            <a:gdLst/>
            <a:ahLst/>
            <a:cxnLst/>
            <a:rect l="l" t="t" r="r" b="b"/>
            <a:pathLst>
              <a:path w="8579516" h="4107680">
                <a:moveTo>
                  <a:pt x="0" y="0"/>
                </a:moveTo>
                <a:lnTo>
                  <a:pt x="8579516" y="0"/>
                </a:lnTo>
                <a:lnTo>
                  <a:pt x="8579516" y="4107680"/>
                </a:lnTo>
                <a:lnTo>
                  <a:pt x="0" y="4107680"/>
                </a:lnTo>
                <a:lnTo>
                  <a:pt x="0" y="0"/>
                </a:lnTo>
                <a:close/>
              </a:path>
            </a:pathLst>
          </a:custGeom>
          <a:blipFill>
            <a:blip r:embed="rId14"/>
            <a:stretch>
              <a:fillRect/>
            </a:stretch>
          </a:blipFill>
        </p:spPr>
        <p:txBody>
          <a:bodyPr/>
          <a:lstStyle/>
          <a:p>
            <a:endParaRPr lang="en-US"/>
          </a:p>
        </p:txBody>
      </p:sp>
      <p:sp>
        <p:nvSpPr>
          <p:cNvPr id="17" name="TextBox 17"/>
          <p:cNvSpPr txBox="1"/>
          <p:nvPr/>
        </p:nvSpPr>
        <p:spPr>
          <a:xfrm>
            <a:off x="-221411" y="392010"/>
            <a:ext cx="11157026" cy="1370312"/>
          </a:xfrm>
          <a:prstGeom prst="rect">
            <a:avLst/>
          </a:prstGeom>
        </p:spPr>
        <p:txBody>
          <a:bodyPr wrap="square" lIns="0" tIns="0" rIns="0" bIns="0" rtlCol="0" anchor="t">
            <a:spAutoFit/>
          </a:bodyPr>
          <a:lstStyle/>
          <a:p>
            <a:pPr algn="ctr">
              <a:lnSpc>
                <a:spcPts val="11200"/>
              </a:lnSpc>
              <a:spcBef>
                <a:spcPct val="0"/>
              </a:spcBef>
            </a:pPr>
            <a:r>
              <a:rPr lang="en-US" sz="6600" spc="-656" dirty="0">
                <a:solidFill>
                  <a:srgbClr val="000000"/>
                </a:solidFill>
                <a:latin typeface="DM Sans"/>
              </a:rPr>
              <a:t>Student status by health:</a:t>
            </a:r>
          </a:p>
        </p:txBody>
      </p:sp>
      <p:sp>
        <p:nvSpPr>
          <p:cNvPr id="18" name="TextBox 18"/>
          <p:cNvSpPr txBox="1"/>
          <p:nvPr/>
        </p:nvSpPr>
        <p:spPr>
          <a:xfrm>
            <a:off x="2043294" y="8796920"/>
            <a:ext cx="14201409" cy="698589"/>
          </a:xfrm>
          <a:prstGeom prst="rect">
            <a:avLst/>
          </a:prstGeom>
        </p:spPr>
        <p:txBody>
          <a:bodyPr wrap="square" lIns="0" tIns="0" rIns="0" bIns="0" rtlCol="0" anchor="t">
            <a:spAutoFit/>
          </a:bodyPr>
          <a:lstStyle/>
          <a:p>
            <a:pPr algn="ctr">
              <a:lnSpc>
                <a:spcPts val="5745"/>
              </a:lnSpc>
              <a:spcBef>
                <a:spcPct val="0"/>
              </a:spcBef>
            </a:pPr>
            <a:r>
              <a:rPr lang="en-US" sz="4104" dirty="0">
                <a:ln w="0"/>
                <a:effectLst>
                  <a:outerShdw blurRad="38100" dist="19050" dir="2700000" algn="tl" rotWithShape="0">
                    <a:schemeClr val="dk1">
                      <a:alpha val="40000"/>
                    </a:schemeClr>
                  </a:outerShdw>
                </a:effectLst>
                <a:latin typeface="DM Sans"/>
              </a:rPr>
              <a:t>Most of student who passed the exam had good health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مربع نص 10">
            <a:extLst>
              <a:ext uri="{FF2B5EF4-FFF2-40B4-BE49-F238E27FC236}">
                <a16:creationId xmlns:a16="http://schemas.microsoft.com/office/drawing/2014/main" id="{354CB052-FB86-B456-B2A6-0E28B776C636}"/>
              </a:ext>
            </a:extLst>
          </p:cNvPr>
          <p:cNvSpPr txBox="1"/>
          <p:nvPr/>
        </p:nvSpPr>
        <p:spPr>
          <a:xfrm>
            <a:off x="0" y="571500"/>
            <a:ext cx="18516600" cy="10407977"/>
          </a:xfrm>
          <a:prstGeom prst="rect">
            <a:avLst/>
          </a:prstGeom>
          <a:noFill/>
          <a:ln>
            <a:noFill/>
          </a:ln>
        </p:spPr>
        <p:txBody>
          <a:bodyPr wrap="square">
            <a:spAutoFit/>
          </a:bodyPr>
          <a:lstStyle/>
          <a:p>
            <a:pPr algn="l" rtl="0">
              <a:spcAft>
                <a:spcPts val="800"/>
              </a:spcAft>
            </a:pPr>
            <a:r>
              <a:rPr lang="en-US" sz="3600" dirty="0">
                <a:effectLst/>
                <a:latin typeface="Aptos" panose="020B0004020202020204" pitchFamily="34" charset="0"/>
                <a:ea typeface="Aptos" panose="020B0004020202020204" pitchFamily="34" charset="0"/>
                <a:cs typeface="Arial" panose="020B0604020202020204" pitchFamily="34" charset="0"/>
              </a:rPr>
              <a:t>By analyzing these visualizations, we can understand which factors most affect student performance. This helps improve the predictive model and guide educational strategies.</a:t>
            </a:r>
          </a:p>
          <a:p>
            <a:pPr algn="l" rtl="0">
              <a:spcAft>
                <a:spcPts val="800"/>
              </a:spcAft>
            </a:pPr>
            <a:endParaRPr lang="en-US" sz="1050" dirty="0">
              <a:effectLst/>
              <a:latin typeface="Aptos" panose="020B0004020202020204" pitchFamily="34" charset="0"/>
              <a:ea typeface="Aptos" panose="020B0004020202020204" pitchFamily="34" charset="0"/>
              <a:cs typeface="Arial" panose="020B0604020202020204" pitchFamily="34" charset="0"/>
            </a:endParaRPr>
          </a:p>
          <a:p>
            <a:pPr algn="l" rtl="0">
              <a:spcAft>
                <a:spcPts val="600"/>
              </a:spcAft>
            </a:pPr>
            <a:r>
              <a:rPr lang="en-US" sz="3200" b="1" dirty="0">
                <a:solidFill>
                  <a:srgbClr val="000000"/>
                </a:solidFill>
                <a:effectLst/>
                <a:highlight>
                  <a:srgbClr val="FFFFFF"/>
                </a:highlight>
                <a:latin typeface="Segoe UI" panose="020B0502040204020203" pitchFamily="34" charset="0"/>
                <a:ea typeface="Aptos" panose="020B0004020202020204" pitchFamily="34" charset="0"/>
                <a:cs typeface="Arial" panose="020B0604020202020204" pitchFamily="34" charset="0"/>
              </a:rPr>
              <a:t>factors affecting students </a:t>
            </a:r>
            <a:r>
              <a:rPr lang="en-US" sz="3200" b="1" dirty="0" err="1">
                <a:solidFill>
                  <a:srgbClr val="000000"/>
                </a:solidFill>
                <a:effectLst/>
                <a:highlight>
                  <a:srgbClr val="FFFFFF"/>
                </a:highlight>
                <a:latin typeface="Segoe UI" panose="020B0502040204020203" pitchFamily="34" charset="0"/>
                <a:ea typeface="Aptos" panose="020B0004020202020204" pitchFamily="34" charset="0"/>
                <a:cs typeface="Arial" panose="020B0604020202020204" pitchFamily="34" charset="0"/>
              </a:rPr>
              <a:t>preformance</a:t>
            </a:r>
            <a:r>
              <a:rPr lang="en-US" sz="3200" b="1" dirty="0">
                <a:solidFill>
                  <a:srgbClr val="000000"/>
                </a:solidFill>
                <a:effectLst/>
                <a:highlight>
                  <a:srgbClr val="FFFFFF"/>
                </a:highlight>
                <a:latin typeface="Segoe UI" panose="020B0502040204020203" pitchFamily="34" charset="0"/>
                <a:ea typeface="Aptos" panose="020B0004020202020204" pitchFamily="34" charset="0"/>
                <a:cs typeface="Arial" panose="020B0604020202020204" pitchFamily="34" charset="0"/>
              </a:rPr>
              <a:t>:</a:t>
            </a:r>
            <a:endParaRPr lang="en-US" sz="3200" dirty="0">
              <a:effectLst/>
              <a:highlight>
                <a:srgbClr val="FFFFFF"/>
              </a:highlight>
              <a:latin typeface="Aptos" panose="020B0004020202020204" pitchFamily="34" charset="0"/>
              <a:ea typeface="Aptos" panose="020B0004020202020204" pitchFamily="34" charset="0"/>
              <a:cs typeface="Arial" panose="020B0604020202020204" pitchFamily="34" charset="0"/>
            </a:endParaRPr>
          </a:p>
          <a:p>
            <a:pPr algn="l" rtl="0">
              <a:spcAft>
                <a:spcPts val="1200"/>
              </a:spcAft>
            </a:pPr>
            <a:r>
              <a:rPr lang="en-US" sz="3200" b="1" dirty="0">
                <a:ln w="0"/>
                <a:solidFill>
                  <a:schemeClr val="accent1"/>
                </a:solidFill>
                <a:highlight>
                  <a:srgbClr val="FFFFFF"/>
                </a:highlight>
                <a:latin typeface="var(--jp-content-font-family)"/>
                <a:ea typeface="Times New Roman" panose="02020603050405020304" pitchFamily="18" charset="0"/>
                <a:cs typeface="Segoe UI" panose="020B0502040204020203" pitchFamily="34" charset="0"/>
              </a:rPr>
              <a:t>1) For the positive impact:</a:t>
            </a:r>
            <a:endParaRPr lang="en-US" sz="3200" b="1" dirty="0">
              <a:ln w="0"/>
              <a:solidFill>
                <a:schemeClr val="accent1"/>
              </a:solidFill>
              <a:highlight>
                <a:srgbClr val="FFFFFF"/>
              </a:highlight>
              <a:latin typeface="Aptos" panose="020B0004020202020204" pitchFamily="34" charset="0"/>
              <a:ea typeface="Aptos" panose="020B0004020202020204" pitchFamily="34" charset="0"/>
              <a:cs typeface="Arial" panose="020B0604020202020204" pitchFamily="34" charset="0"/>
            </a:endParaRPr>
          </a:p>
          <a:p>
            <a:pPr algn="l">
              <a:lnSpc>
                <a:spcPct val="150000"/>
              </a:lnSpc>
              <a:buFont typeface="Arial" panose="020B0604020202020204" pitchFamily="34" charset="0"/>
              <a:buChar char="•"/>
            </a:pPr>
            <a:r>
              <a:rPr lang="en-US" sz="3200" b="1" i="0" dirty="0">
                <a:solidFill>
                  <a:srgbClr val="0D0D0D"/>
                </a:solidFill>
                <a:effectLst/>
                <a:highlight>
                  <a:srgbClr val="FFFFFF"/>
                </a:highlight>
                <a:latin typeface="ui-sans-serif"/>
              </a:rPr>
              <a:t>Higher educational aspirations</a:t>
            </a:r>
            <a:r>
              <a:rPr lang="en-US" sz="3200" b="0" i="0" dirty="0">
                <a:solidFill>
                  <a:srgbClr val="0D0D0D"/>
                </a:solidFill>
                <a:effectLst/>
                <a:highlight>
                  <a:srgbClr val="FFFFFF"/>
                </a:highlight>
                <a:latin typeface="ui-sans-serif"/>
              </a:rPr>
              <a:t>: Students aiming for higher education tend to perform better.</a:t>
            </a:r>
          </a:p>
          <a:p>
            <a:pPr algn="l">
              <a:lnSpc>
                <a:spcPct val="150000"/>
              </a:lnSpc>
              <a:buFont typeface="Arial" panose="020B0604020202020204" pitchFamily="34" charset="0"/>
              <a:buChar char="•"/>
            </a:pPr>
            <a:r>
              <a:rPr lang="en-US" sz="3200" b="1" i="0" dirty="0">
                <a:solidFill>
                  <a:srgbClr val="0D0D0D"/>
                </a:solidFill>
                <a:effectLst/>
                <a:highlight>
                  <a:srgbClr val="FFFFFF"/>
                </a:highlight>
                <a:latin typeface="ui-sans-serif"/>
              </a:rPr>
              <a:t>Parental education</a:t>
            </a:r>
            <a:r>
              <a:rPr lang="en-US" sz="3200" b="0" i="0" dirty="0">
                <a:solidFill>
                  <a:srgbClr val="0D0D0D"/>
                </a:solidFill>
                <a:effectLst/>
                <a:highlight>
                  <a:srgbClr val="FFFFFF"/>
                </a:highlight>
                <a:latin typeface="ui-sans-serif"/>
              </a:rPr>
              <a:t>: Higher education levels of parents positively influence student performance.</a:t>
            </a:r>
          </a:p>
          <a:p>
            <a:pPr algn="l">
              <a:lnSpc>
                <a:spcPct val="150000"/>
              </a:lnSpc>
              <a:buFont typeface="Arial" panose="020B0604020202020204" pitchFamily="34" charset="0"/>
              <a:buChar char="•"/>
            </a:pPr>
            <a:r>
              <a:rPr lang="en-US" sz="3200" b="1" i="0" dirty="0">
                <a:solidFill>
                  <a:srgbClr val="0D0D0D"/>
                </a:solidFill>
                <a:effectLst/>
                <a:highlight>
                  <a:srgbClr val="FFFFFF"/>
                </a:highlight>
                <a:latin typeface="ui-sans-serif"/>
              </a:rPr>
              <a:t>Study time</a:t>
            </a:r>
            <a:r>
              <a:rPr lang="en-US" sz="3200" b="0" i="0" dirty="0">
                <a:solidFill>
                  <a:srgbClr val="0D0D0D"/>
                </a:solidFill>
                <a:effectLst/>
                <a:highlight>
                  <a:srgbClr val="FFFFFF"/>
                </a:highlight>
                <a:latin typeface="ui-sans-serif"/>
              </a:rPr>
              <a:t>: More study hours lead to better academic results.</a:t>
            </a:r>
            <a:endParaRPr lang="en-US" sz="3200" b="1" dirty="0">
              <a:ln w="0"/>
              <a:solidFill>
                <a:schemeClr val="accent1"/>
              </a:solidFill>
              <a:highlight>
                <a:srgbClr val="FFFFFF"/>
              </a:highlight>
              <a:latin typeface="var(--jp-content-font-family)"/>
              <a:ea typeface="Times New Roman" panose="02020603050405020304" pitchFamily="18" charset="0"/>
              <a:cs typeface="Segoe UI" panose="020B0502040204020203" pitchFamily="34" charset="0"/>
            </a:endParaRPr>
          </a:p>
          <a:p>
            <a:pPr algn="l" rtl="0">
              <a:lnSpc>
                <a:spcPct val="150000"/>
              </a:lnSpc>
              <a:spcAft>
                <a:spcPts val="1200"/>
              </a:spcAft>
            </a:pPr>
            <a:r>
              <a:rPr lang="en-US" sz="3200" b="1" dirty="0">
                <a:ln w="0"/>
                <a:solidFill>
                  <a:schemeClr val="accent1"/>
                </a:solidFill>
                <a:highlight>
                  <a:srgbClr val="FFFFFF"/>
                </a:highlight>
                <a:latin typeface="var(--jp-content-font-family)"/>
                <a:ea typeface="Times New Roman" panose="02020603050405020304" pitchFamily="18" charset="0"/>
                <a:cs typeface="Segoe UI" panose="020B0502040204020203" pitchFamily="34" charset="0"/>
              </a:rPr>
              <a:t>2) For the negative impact:</a:t>
            </a:r>
            <a:endParaRPr lang="ar-SA" sz="3200" b="1" dirty="0">
              <a:ln w="0"/>
              <a:solidFill>
                <a:schemeClr val="accent1"/>
              </a:solidFill>
              <a:highlight>
                <a:srgbClr val="FFFFFF"/>
              </a:highlight>
              <a:latin typeface="var(--jp-content-font-family)"/>
              <a:ea typeface="Times New Roman" panose="02020603050405020304" pitchFamily="18" charset="0"/>
              <a:cs typeface="Segoe UI" panose="020B0502040204020203" pitchFamily="34" charset="0"/>
            </a:endParaRPr>
          </a:p>
          <a:p>
            <a:pPr algn="l">
              <a:lnSpc>
                <a:spcPct val="150000"/>
              </a:lnSpc>
              <a:buFont typeface="Arial" panose="020B0604020202020204" pitchFamily="34" charset="0"/>
              <a:buChar char="•"/>
            </a:pPr>
            <a:r>
              <a:rPr lang="en-US" sz="3200" b="1" i="0" dirty="0">
                <a:solidFill>
                  <a:srgbClr val="0D0D0D"/>
                </a:solidFill>
                <a:effectLst/>
                <a:highlight>
                  <a:srgbClr val="FFFFFF"/>
                </a:highlight>
                <a:latin typeface="ui-sans-serif"/>
              </a:rPr>
              <a:t>Social activities</a:t>
            </a:r>
            <a:r>
              <a:rPr lang="en-US" sz="3200" b="0" i="0" dirty="0">
                <a:solidFill>
                  <a:srgbClr val="0D0D0D"/>
                </a:solidFill>
                <a:effectLst/>
                <a:highlight>
                  <a:srgbClr val="FFFFFF"/>
                </a:highlight>
                <a:latin typeface="ui-sans-serif"/>
              </a:rPr>
              <a:t>: Spending a lot of time with friends can hurt academic performance.</a:t>
            </a:r>
          </a:p>
          <a:p>
            <a:pPr algn="l">
              <a:lnSpc>
                <a:spcPct val="150000"/>
              </a:lnSpc>
              <a:buFont typeface="Arial" panose="020B0604020202020204" pitchFamily="34" charset="0"/>
              <a:buChar char="•"/>
            </a:pPr>
            <a:r>
              <a:rPr lang="en-US" sz="3200" b="1" i="0" dirty="0">
                <a:solidFill>
                  <a:srgbClr val="0D0D0D"/>
                </a:solidFill>
                <a:effectLst/>
                <a:highlight>
                  <a:srgbClr val="FFFFFF"/>
                </a:highlight>
                <a:latin typeface="ui-sans-serif"/>
              </a:rPr>
              <a:t>Previous academic failures</a:t>
            </a:r>
            <a:r>
              <a:rPr lang="en-US" sz="3200" b="0" i="0" dirty="0">
                <a:solidFill>
                  <a:srgbClr val="0D0D0D"/>
                </a:solidFill>
                <a:effectLst/>
                <a:highlight>
                  <a:srgbClr val="FFFFFF"/>
                </a:highlight>
                <a:latin typeface="ui-sans-serif"/>
              </a:rPr>
              <a:t>: Failing exams in the past often predicts future failures.</a:t>
            </a:r>
          </a:p>
          <a:p>
            <a:pPr algn="l">
              <a:lnSpc>
                <a:spcPct val="150000"/>
              </a:lnSpc>
              <a:buFont typeface="Arial" panose="020B0604020202020204" pitchFamily="34" charset="0"/>
              <a:buChar char="•"/>
            </a:pPr>
            <a:r>
              <a:rPr lang="en-US" sz="3200" b="1" i="0" dirty="0">
                <a:solidFill>
                  <a:srgbClr val="0D0D0D"/>
                </a:solidFill>
                <a:effectLst/>
                <a:highlight>
                  <a:srgbClr val="FFFFFF"/>
                </a:highlight>
                <a:latin typeface="ui-sans-serif"/>
              </a:rPr>
              <a:t>Health issues</a:t>
            </a:r>
            <a:r>
              <a:rPr lang="en-US" sz="3200" b="0" i="0" dirty="0">
                <a:solidFill>
                  <a:srgbClr val="0D0D0D"/>
                </a:solidFill>
                <a:effectLst/>
                <a:highlight>
                  <a:srgbClr val="FFFFFF"/>
                </a:highlight>
                <a:latin typeface="ui-sans-serif"/>
              </a:rPr>
              <a:t>: Poor health can significantly affect academic achievement.</a:t>
            </a:r>
          </a:p>
          <a:p>
            <a:pPr algn="l">
              <a:lnSpc>
                <a:spcPct val="150000"/>
              </a:lnSpc>
              <a:buFont typeface="Arial" panose="020B0604020202020204" pitchFamily="34" charset="0"/>
              <a:buChar char="•"/>
            </a:pPr>
            <a:r>
              <a:rPr lang="en-US" sz="3200" b="1" i="0" dirty="0">
                <a:solidFill>
                  <a:srgbClr val="0D0D0D"/>
                </a:solidFill>
                <a:effectLst/>
                <a:highlight>
                  <a:srgbClr val="FFFFFF"/>
                </a:highlight>
                <a:latin typeface="ui-sans-serif"/>
              </a:rPr>
              <a:t>High absenteeism</a:t>
            </a:r>
            <a:r>
              <a:rPr lang="en-US" sz="3200" b="0" i="0" dirty="0">
                <a:solidFill>
                  <a:srgbClr val="0D0D0D"/>
                </a:solidFill>
                <a:effectLst/>
                <a:highlight>
                  <a:srgbClr val="FFFFFF"/>
                </a:highlight>
                <a:latin typeface="ui-sans-serif"/>
              </a:rPr>
              <a:t>: Frequent school absences can hinder academic performance.</a:t>
            </a:r>
          </a:p>
          <a:p>
            <a:pPr algn="l">
              <a:lnSpc>
                <a:spcPct val="150000"/>
              </a:lnSpc>
              <a:buFont typeface="Arial" panose="020B0604020202020204" pitchFamily="34" charset="0"/>
              <a:buChar char="•"/>
            </a:pPr>
            <a:r>
              <a:rPr lang="en-US" sz="3200" b="1" i="0" dirty="0">
                <a:solidFill>
                  <a:srgbClr val="0D0D0D"/>
                </a:solidFill>
                <a:effectLst/>
                <a:highlight>
                  <a:srgbClr val="FFFFFF"/>
                </a:highlight>
                <a:latin typeface="ui-sans-serif"/>
              </a:rPr>
              <a:t>Romantic relationships</a:t>
            </a:r>
            <a:r>
              <a:rPr lang="en-US" sz="3200" b="0" i="0" dirty="0">
                <a:solidFill>
                  <a:srgbClr val="0D0D0D"/>
                </a:solidFill>
                <a:effectLst/>
                <a:highlight>
                  <a:srgbClr val="FFFFFF"/>
                </a:highlight>
                <a:latin typeface="ui-sans-serif"/>
              </a:rPr>
              <a:t>: Being in a romantic relationship might distract from academic goals.</a:t>
            </a:r>
          </a:p>
          <a:p>
            <a:pPr algn="l" rtl="0">
              <a:spcAft>
                <a:spcPts val="1200"/>
              </a:spcAft>
            </a:pPr>
            <a:endParaRPr lang="en-US" sz="3200" b="1" dirty="0">
              <a:ln w="0"/>
              <a:solidFill>
                <a:schemeClr val="accent1"/>
              </a:solidFill>
              <a:highlight>
                <a:srgbClr val="FFFFFF"/>
              </a:highlight>
              <a:latin typeface="Aptos" panose="020B0004020202020204" pitchFamily="34" charset="0"/>
              <a:ea typeface="Aptos" panose="020B0004020202020204" pitchFamily="34" charset="0"/>
              <a:cs typeface="Arial" panose="020B0604020202020204" pitchFamily="34" charset="0"/>
            </a:endParaRPr>
          </a:p>
        </p:txBody>
      </p:sp>
      <p:sp>
        <p:nvSpPr>
          <p:cNvPr id="12" name="Freeform 3">
            <a:extLst>
              <a:ext uri="{FF2B5EF4-FFF2-40B4-BE49-F238E27FC236}">
                <a16:creationId xmlns:a16="http://schemas.microsoft.com/office/drawing/2014/main" id="{A6D1ADD3-4425-680D-F9E5-63DBFBB5BE45}"/>
              </a:ext>
            </a:extLst>
          </p:cNvPr>
          <p:cNvSpPr/>
          <p:nvPr/>
        </p:nvSpPr>
        <p:spPr>
          <a:xfrm rot="16200000">
            <a:off x="16062333" y="1349367"/>
            <a:ext cx="4899948" cy="3344214"/>
          </a:xfrm>
          <a:custGeom>
            <a:avLst/>
            <a:gdLst/>
            <a:ahLst/>
            <a:cxnLst/>
            <a:rect l="l" t="t" r="r" b="b"/>
            <a:pathLst>
              <a:path w="4899948" h="3344214">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36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948771" y="134158"/>
            <a:ext cx="10228238" cy="1377944"/>
          </a:xfrm>
          <a:prstGeom prst="rect">
            <a:avLst/>
          </a:prstGeom>
        </p:spPr>
        <p:txBody>
          <a:bodyPr wrap="square" lIns="0" tIns="0" rIns="0" bIns="0" rtlCol="0" anchor="t">
            <a:spAutoFit/>
          </a:bodyPr>
          <a:lstStyle/>
          <a:p>
            <a:pPr algn="ctr">
              <a:lnSpc>
                <a:spcPts val="11200"/>
              </a:lnSpc>
              <a:spcBef>
                <a:spcPct val="0"/>
              </a:spcBef>
            </a:pPr>
            <a:r>
              <a:rPr lang="en-US" sz="7200" spc="-656" dirty="0">
                <a:solidFill>
                  <a:srgbClr val="000000"/>
                </a:solidFill>
                <a:latin typeface="DM Sans"/>
              </a:rPr>
              <a:t>5. Algorithm Selection</a:t>
            </a:r>
          </a:p>
        </p:txBody>
      </p:sp>
      <p:pic>
        <p:nvPicPr>
          <p:cNvPr id="7" name="صورة 6">
            <a:extLst>
              <a:ext uri="{FF2B5EF4-FFF2-40B4-BE49-F238E27FC236}">
                <a16:creationId xmlns:a16="http://schemas.microsoft.com/office/drawing/2014/main" id="{061FF8A7-788A-6EBE-BC80-470364AABA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29800" y="135334"/>
            <a:ext cx="8194005" cy="10016331"/>
          </a:xfrm>
          <a:prstGeom prst="rect">
            <a:avLst/>
          </a:prstGeom>
          <a:ln>
            <a:solidFill>
              <a:schemeClr val="tx1"/>
            </a:solidFill>
          </a:ln>
        </p:spPr>
      </p:pic>
      <p:sp>
        <p:nvSpPr>
          <p:cNvPr id="9" name="مربع نص 8">
            <a:extLst>
              <a:ext uri="{FF2B5EF4-FFF2-40B4-BE49-F238E27FC236}">
                <a16:creationId xmlns:a16="http://schemas.microsoft.com/office/drawing/2014/main" id="{D0807C7F-4B12-2B99-5BF9-30F31F463AD0}"/>
              </a:ext>
            </a:extLst>
          </p:cNvPr>
          <p:cNvSpPr txBox="1"/>
          <p:nvPr/>
        </p:nvSpPr>
        <p:spPr>
          <a:xfrm>
            <a:off x="187994" y="6344814"/>
            <a:ext cx="9413206" cy="1655966"/>
          </a:xfrm>
          <a:prstGeom prst="rect">
            <a:avLst/>
          </a:prstGeom>
          <a:noFill/>
        </p:spPr>
        <p:txBody>
          <a:bodyPr wrap="square">
            <a:spAutoFit/>
          </a:bodyPr>
          <a:lstStyle/>
          <a:p>
            <a:pPr rtl="0">
              <a:lnSpc>
                <a:spcPct val="115000"/>
              </a:lnSpc>
              <a:spcAft>
                <a:spcPts val="800"/>
              </a:spcAft>
            </a:pPr>
            <a:r>
              <a:rPr lang="en-US" sz="2800" dirty="0">
                <a:effectLst/>
                <a:latin typeface="var(--jp-code-font-family)"/>
                <a:ea typeface="Times New Roman" panose="02020603050405020304" pitchFamily="18" charset="0"/>
                <a:cs typeface="Courier New" panose="02070309020205020404" pitchFamily="49" charset="0"/>
              </a:rPr>
              <a:t>Best Model: Logistic Regression</a:t>
            </a:r>
            <a:endParaRPr lang="en-US" sz="2800" dirty="0">
              <a:effectLst/>
              <a:latin typeface="Aptos" panose="020B0004020202020204" pitchFamily="34" charset="0"/>
              <a:ea typeface="Aptos" panose="020B0004020202020204" pitchFamily="34" charset="0"/>
              <a:cs typeface="Arial" panose="020B0604020202020204" pitchFamily="34" charset="0"/>
            </a:endParaRPr>
          </a:p>
          <a:p>
            <a:pPr rtl="0">
              <a:lnSpc>
                <a:spcPct val="115000"/>
              </a:lnSpc>
              <a:spcAft>
                <a:spcPts val="800"/>
              </a:spcAft>
            </a:pPr>
            <a:r>
              <a:rPr lang="en-US" sz="2800" dirty="0" err="1">
                <a:effectLst/>
                <a:latin typeface="var(--jp-code-font-family)"/>
                <a:ea typeface="Times New Roman" panose="02020603050405020304" pitchFamily="18" charset="0"/>
                <a:cs typeface="Courier New" panose="02070309020205020404" pitchFamily="49" charset="0"/>
              </a:rPr>
              <a:t>Reason:Logistic</a:t>
            </a:r>
            <a:r>
              <a:rPr lang="en-US" sz="2800" dirty="0">
                <a:effectLst/>
                <a:latin typeface="var(--jp-code-font-family)"/>
                <a:ea typeface="Times New Roman" panose="02020603050405020304" pitchFamily="18" charset="0"/>
                <a:cs typeface="Courier New" panose="02070309020205020404" pitchFamily="49" charset="0"/>
              </a:rPr>
              <a:t> Regression was chosen for its high accuracy and low risk of overfitting, making it well-suited for the dataset.</a:t>
            </a:r>
            <a:endParaRPr lang="en-US" sz="2800" dirty="0">
              <a:effectLst/>
              <a:latin typeface="Aptos" panose="020B0004020202020204" pitchFamily="34" charset="0"/>
              <a:ea typeface="Aptos" panose="020B0004020202020204" pitchFamily="34" charset="0"/>
              <a:cs typeface="Arial" panose="020B0604020202020204" pitchFamily="34" charset="0"/>
            </a:endParaRPr>
          </a:p>
        </p:txBody>
      </p:sp>
      <p:sp>
        <p:nvSpPr>
          <p:cNvPr id="11" name="مربع نص 10">
            <a:extLst>
              <a:ext uri="{FF2B5EF4-FFF2-40B4-BE49-F238E27FC236}">
                <a16:creationId xmlns:a16="http://schemas.microsoft.com/office/drawing/2014/main" id="{B2B1B560-5AA0-8C8A-7CA7-C670252E4BEB}"/>
              </a:ext>
            </a:extLst>
          </p:cNvPr>
          <p:cNvSpPr txBox="1"/>
          <p:nvPr/>
        </p:nvSpPr>
        <p:spPr>
          <a:xfrm>
            <a:off x="264195" y="1790700"/>
            <a:ext cx="9032205" cy="4134658"/>
          </a:xfrm>
          <a:prstGeom prst="rect">
            <a:avLst/>
          </a:prstGeom>
          <a:noFill/>
        </p:spPr>
        <p:txBody>
          <a:bodyPr wrap="square">
            <a:spAutoFit/>
          </a:bodyPr>
          <a:lstStyle/>
          <a:p>
            <a:pPr algn="l" rtl="0">
              <a:lnSpc>
                <a:spcPct val="115000"/>
              </a:lnSpc>
              <a:spcAft>
                <a:spcPts val="800"/>
              </a:spcAft>
            </a:pPr>
            <a:r>
              <a:rPr lang="en-US" sz="2800" dirty="0">
                <a:effectLst/>
                <a:latin typeface="Aptos" panose="020B0004020202020204" pitchFamily="34" charset="0"/>
                <a:ea typeface="Aptos" panose="020B0004020202020204" pitchFamily="34" charset="0"/>
                <a:cs typeface="Arial" panose="020B0604020202020204" pitchFamily="34" charset="0"/>
              </a:rPr>
              <a:t>We chose three algorithms, </a:t>
            </a:r>
            <a:r>
              <a:rPr lang="en-US" sz="2800" b="1" dirty="0">
                <a:effectLst/>
                <a:latin typeface="Aptos" panose="020B0004020202020204" pitchFamily="34" charset="0"/>
                <a:ea typeface="Aptos" panose="020B0004020202020204" pitchFamily="34" charset="0"/>
                <a:cs typeface="Arial" panose="020B0604020202020204" pitchFamily="34" charset="0"/>
              </a:rPr>
              <a:t>Logistic Regression</a:t>
            </a:r>
            <a:r>
              <a:rPr lang="en-US" sz="2800" dirty="0">
                <a:effectLst/>
                <a:latin typeface="Aptos" panose="020B0004020202020204" pitchFamily="34" charset="0"/>
                <a:ea typeface="Aptos" panose="020B0004020202020204" pitchFamily="34" charset="0"/>
                <a:cs typeface="Arial" panose="020B0604020202020204" pitchFamily="34" charset="0"/>
              </a:rPr>
              <a:t>, </a:t>
            </a:r>
            <a:r>
              <a:rPr lang="en-US" sz="2800" b="1" dirty="0">
                <a:effectLst/>
                <a:latin typeface="Aptos" panose="020B0004020202020204" pitchFamily="34" charset="0"/>
                <a:ea typeface="Aptos" panose="020B0004020202020204" pitchFamily="34" charset="0"/>
                <a:cs typeface="Arial" panose="020B0604020202020204" pitchFamily="34" charset="0"/>
              </a:rPr>
              <a:t>Decision Tree</a:t>
            </a:r>
            <a:r>
              <a:rPr lang="en-US" sz="2800" dirty="0">
                <a:effectLst/>
                <a:latin typeface="Aptos" panose="020B0004020202020204" pitchFamily="34" charset="0"/>
                <a:ea typeface="Aptos" panose="020B0004020202020204" pitchFamily="34" charset="0"/>
                <a:cs typeface="Arial" panose="020B0604020202020204" pitchFamily="34" charset="0"/>
              </a:rPr>
              <a:t>, and </a:t>
            </a:r>
            <a:r>
              <a:rPr lang="en-US" sz="2800" b="1" dirty="0">
                <a:effectLst/>
                <a:latin typeface="Aptos" panose="020B0004020202020204" pitchFamily="34" charset="0"/>
                <a:ea typeface="Aptos" panose="020B0004020202020204" pitchFamily="34" charset="0"/>
                <a:cs typeface="Arial" panose="020B0604020202020204" pitchFamily="34" charset="0"/>
              </a:rPr>
              <a:t>SVM</a:t>
            </a:r>
            <a:r>
              <a:rPr lang="en-US" sz="2800" dirty="0">
                <a:effectLst/>
                <a:latin typeface="Aptos" panose="020B0004020202020204" pitchFamily="34" charset="0"/>
                <a:ea typeface="Aptos" panose="020B0004020202020204" pitchFamily="34" charset="0"/>
                <a:cs typeface="Arial" panose="020B0604020202020204" pitchFamily="34" charset="0"/>
              </a:rPr>
              <a:t> to choose from to train the prediction model. The reason was because Logistic Regression is simple and interpretable, Decision Tree captures complex relationships visually, and SVM handles nonlinear relationships well in smaller data sets. </a:t>
            </a:r>
          </a:p>
          <a:p>
            <a:pPr algn="l" rtl="0">
              <a:lnSpc>
                <a:spcPct val="115000"/>
              </a:lnSpc>
              <a:spcAft>
                <a:spcPts val="800"/>
              </a:spcAft>
            </a:pPr>
            <a:r>
              <a:rPr lang="en-US" sz="2800" dirty="0">
                <a:effectLst/>
                <a:latin typeface="Aptos" panose="020B0004020202020204" pitchFamily="34" charset="0"/>
                <a:ea typeface="Aptos" panose="020B0004020202020204" pitchFamily="34" charset="0"/>
                <a:cs typeface="Arial" panose="020B0604020202020204" pitchFamily="34" charset="0"/>
              </a:rPr>
              <a:t>We created a models and train them and got the result shows the best model for train our dataset.</a:t>
            </a:r>
          </a:p>
        </p:txBody>
      </p:sp>
      <p:sp>
        <p:nvSpPr>
          <p:cNvPr id="12" name="Freeform 3">
            <a:extLst>
              <a:ext uri="{FF2B5EF4-FFF2-40B4-BE49-F238E27FC236}">
                <a16:creationId xmlns:a16="http://schemas.microsoft.com/office/drawing/2014/main" id="{6521F8FC-72E7-ACB9-3FB5-0AF125CBA767}"/>
              </a:ext>
            </a:extLst>
          </p:cNvPr>
          <p:cNvSpPr/>
          <p:nvPr/>
        </p:nvSpPr>
        <p:spPr>
          <a:xfrm>
            <a:off x="-1524000" y="8343900"/>
            <a:ext cx="4899948" cy="3344214"/>
          </a:xfrm>
          <a:custGeom>
            <a:avLst/>
            <a:gdLst/>
            <a:ahLst/>
            <a:cxnLst/>
            <a:rect l="l" t="t" r="r" b="b"/>
            <a:pathLst>
              <a:path w="4899948" h="3344214">
                <a:moveTo>
                  <a:pt x="0" y="0"/>
                </a:moveTo>
                <a:lnTo>
                  <a:pt x="4899947" y="0"/>
                </a:lnTo>
                <a:lnTo>
                  <a:pt x="4899947" y="3344214"/>
                </a:lnTo>
                <a:lnTo>
                  <a:pt x="0" y="334421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600200" y="8749342"/>
            <a:ext cx="4899948" cy="3344214"/>
          </a:xfrm>
          <a:custGeom>
            <a:avLst/>
            <a:gdLst/>
            <a:ahLst/>
            <a:cxnLst/>
            <a:rect l="l" t="t" r="r" b="b"/>
            <a:pathLst>
              <a:path w="4899948" h="3344214">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12801533" y="-3053980"/>
            <a:ext cx="4292424" cy="3870986"/>
          </a:xfrm>
          <a:custGeom>
            <a:avLst/>
            <a:gdLst/>
            <a:ahLst/>
            <a:cxnLst/>
            <a:rect l="l" t="t" r="r" b="b"/>
            <a:pathLst>
              <a:path w="4292424" h="3870986">
                <a:moveTo>
                  <a:pt x="0" y="0"/>
                </a:moveTo>
                <a:lnTo>
                  <a:pt x="4292424" y="0"/>
                </a:lnTo>
                <a:lnTo>
                  <a:pt x="4292424" y="3870986"/>
                </a:lnTo>
                <a:lnTo>
                  <a:pt x="0" y="3870986"/>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13" name="Freeform 13"/>
          <p:cNvSpPr/>
          <p:nvPr/>
        </p:nvSpPr>
        <p:spPr>
          <a:xfrm>
            <a:off x="16002000" y="-430761"/>
            <a:ext cx="3104522" cy="3342688"/>
          </a:xfrm>
          <a:custGeom>
            <a:avLst/>
            <a:gdLst/>
            <a:ahLst/>
            <a:cxnLst/>
            <a:rect l="l" t="t" r="r" b="b"/>
            <a:pathLst>
              <a:path w="3104522" h="3342688">
                <a:moveTo>
                  <a:pt x="0" y="0"/>
                </a:moveTo>
                <a:lnTo>
                  <a:pt x="3104522" y="0"/>
                </a:lnTo>
                <a:lnTo>
                  <a:pt x="3104522" y="3342689"/>
                </a:lnTo>
                <a:lnTo>
                  <a:pt x="0" y="3342689"/>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US"/>
          </a:p>
        </p:txBody>
      </p:sp>
      <p:sp>
        <p:nvSpPr>
          <p:cNvPr id="15" name="TextBox 15"/>
          <p:cNvSpPr txBox="1"/>
          <p:nvPr/>
        </p:nvSpPr>
        <p:spPr>
          <a:xfrm>
            <a:off x="66442" y="431259"/>
            <a:ext cx="12110628" cy="809324"/>
          </a:xfrm>
          <a:prstGeom prst="rect">
            <a:avLst/>
          </a:prstGeom>
        </p:spPr>
        <p:txBody>
          <a:bodyPr wrap="square" lIns="0" tIns="0" rIns="0" bIns="0" rtlCol="0" anchor="t">
            <a:spAutoFit/>
          </a:bodyPr>
          <a:lstStyle/>
          <a:p>
            <a:pPr algn="ctr">
              <a:lnSpc>
                <a:spcPts val="5871"/>
              </a:lnSpc>
              <a:spcBef>
                <a:spcPct val="0"/>
              </a:spcBef>
            </a:pPr>
            <a:r>
              <a:rPr lang="en-US" sz="6600" spc="-343" dirty="0">
                <a:solidFill>
                  <a:srgbClr val="000000"/>
                </a:solidFill>
                <a:latin typeface="DM Sans"/>
              </a:rPr>
              <a:t>6. Model </a:t>
            </a:r>
            <a:r>
              <a:rPr lang="en-US" sz="6600" spc="-343" dirty="0" err="1">
                <a:solidFill>
                  <a:srgbClr val="000000"/>
                </a:solidFill>
                <a:latin typeface="DM Sans"/>
              </a:rPr>
              <a:t>Traning</a:t>
            </a:r>
            <a:r>
              <a:rPr lang="en-US" sz="6600" spc="-343" dirty="0">
                <a:solidFill>
                  <a:srgbClr val="000000"/>
                </a:solidFill>
                <a:latin typeface="DM Sans"/>
              </a:rPr>
              <a:t> and Evaluation </a:t>
            </a:r>
          </a:p>
        </p:txBody>
      </p:sp>
      <p:sp>
        <p:nvSpPr>
          <p:cNvPr id="16" name="TextBox 16"/>
          <p:cNvSpPr txBox="1"/>
          <p:nvPr/>
        </p:nvSpPr>
        <p:spPr>
          <a:xfrm>
            <a:off x="-152400" y="2361242"/>
            <a:ext cx="8024667" cy="679673"/>
          </a:xfrm>
          <a:prstGeom prst="rect">
            <a:avLst/>
          </a:prstGeom>
        </p:spPr>
        <p:txBody>
          <a:bodyPr lIns="0" tIns="0" rIns="0" bIns="0" rtlCol="0" anchor="t">
            <a:spAutoFit/>
          </a:bodyPr>
          <a:lstStyle/>
          <a:p>
            <a:pPr algn="ctr">
              <a:lnSpc>
                <a:spcPts val="6010"/>
              </a:lnSpc>
              <a:spcBef>
                <a:spcPct val="0"/>
              </a:spcBef>
            </a:pPr>
            <a:r>
              <a:rPr lang="en-US" sz="2800" b="1" dirty="0">
                <a:ln w="0"/>
                <a:effectLst>
                  <a:outerShdw blurRad="38100" dist="19050" dir="2700000" algn="tl" rotWithShape="0">
                    <a:schemeClr val="dk1">
                      <a:alpha val="40000"/>
                    </a:schemeClr>
                  </a:outerShdw>
                </a:effectLst>
                <a:latin typeface="DM Sans"/>
              </a:rPr>
              <a:t>Training </a:t>
            </a:r>
            <a:r>
              <a:rPr lang="en-US" sz="2800" b="1" dirty="0" err="1">
                <a:ln w="0"/>
                <a:effectLst>
                  <a:outerShdw blurRad="38100" dist="19050" dir="2700000" algn="tl" rotWithShape="0">
                    <a:schemeClr val="dk1">
                      <a:alpha val="40000"/>
                    </a:schemeClr>
                  </a:outerShdw>
                </a:effectLst>
                <a:latin typeface="DM Sans"/>
              </a:rPr>
              <a:t>modle</a:t>
            </a:r>
            <a:r>
              <a:rPr lang="en-US" sz="2800" b="1" dirty="0">
                <a:ln w="0"/>
                <a:effectLst>
                  <a:outerShdw blurRad="38100" dist="19050" dir="2700000" algn="tl" rotWithShape="0">
                    <a:schemeClr val="dk1">
                      <a:alpha val="40000"/>
                    </a:schemeClr>
                  </a:outerShdw>
                </a:effectLst>
                <a:latin typeface="DM Sans"/>
              </a:rPr>
              <a:t> :Logistic Regression:       </a:t>
            </a:r>
          </a:p>
        </p:txBody>
      </p:sp>
      <p:sp>
        <p:nvSpPr>
          <p:cNvPr id="18" name="TextBox 18"/>
          <p:cNvSpPr txBox="1"/>
          <p:nvPr/>
        </p:nvSpPr>
        <p:spPr>
          <a:xfrm>
            <a:off x="9144000" y="2476500"/>
            <a:ext cx="9200520" cy="7312708"/>
          </a:xfrm>
          <a:prstGeom prst="rect">
            <a:avLst/>
          </a:prstGeom>
        </p:spPr>
        <p:txBody>
          <a:bodyPr wrap="square" lIns="0" tIns="0" rIns="0" bIns="0" rtlCol="0" anchor="t">
            <a:spAutoFit/>
          </a:bodyPr>
          <a:lstStyle/>
          <a:p>
            <a:pPr>
              <a:lnSpc>
                <a:spcPct val="115000"/>
              </a:lnSpc>
              <a:spcAft>
                <a:spcPts val="800"/>
              </a:spcAft>
            </a:pPr>
            <a:r>
              <a:rPr lang="en-US" sz="2800" b="1" dirty="0">
                <a:effectLst/>
                <a:latin typeface="Aptos" panose="020B0004020202020204" pitchFamily="34" charset="0"/>
                <a:ea typeface="Aptos" panose="020B0004020202020204" pitchFamily="34" charset="0"/>
                <a:cs typeface="Arial" panose="020B0604020202020204" pitchFamily="34" charset="0"/>
              </a:rPr>
              <a:t>Model evaluation:</a:t>
            </a:r>
            <a:endParaRPr lang="ar-SA" sz="2800" dirty="0">
              <a:effectLst/>
              <a:latin typeface="Aptos" panose="020B0004020202020204" pitchFamily="34" charset="0"/>
              <a:ea typeface="Aptos" panose="020B0004020202020204" pitchFamily="34" charset="0"/>
              <a:cs typeface="Arial" panose="020B0604020202020204" pitchFamily="34" charset="0"/>
            </a:endParaRPr>
          </a:p>
          <a:p>
            <a:pPr rtl="0">
              <a:lnSpc>
                <a:spcPct val="115000"/>
              </a:lnSpc>
              <a:spcAft>
                <a:spcPts val="800"/>
              </a:spcAft>
            </a:pPr>
            <a:r>
              <a:rPr lang="en-US" sz="2800" dirty="0">
                <a:effectLst/>
                <a:latin typeface="Aptos" panose="020B0004020202020204" pitchFamily="34" charset="0"/>
                <a:ea typeface="Aptos" panose="020B0004020202020204" pitchFamily="34" charset="0"/>
                <a:cs typeface="Arial" panose="020B0604020202020204" pitchFamily="34" charset="0"/>
              </a:rPr>
              <a:t>To evaluate a classification model, we will:</a:t>
            </a:r>
            <a:endParaRPr lang="ar-SA" sz="2800" dirty="0">
              <a:effectLst/>
              <a:latin typeface="Aptos" panose="020B0004020202020204" pitchFamily="34" charset="0"/>
              <a:ea typeface="Aptos" panose="020B0004020202020204" pitchFamily="34" charset="0"/>
              <a:cs typeface="Arial" panose="020B0604020202020204" pitchFamily="34" charset="0"/>
            </a:endParaRPr>
          </a:p>
          <a:p>
            <a:pPr rtl="0">
              <a:lnSpc>
                <a:spcPct val="115000"/>
              </a:lnSpc>
              <a:spcAft>
                <a:spcPts val="800"/>
              </a:spcAft>
            </a:pPr>
            <a:endParaRPr lang="en-US" sz="100" dirty="0">
              <a:effectLst/>
              <a:latin typeface="Aptos" panose="020B0004020202020204" pitchFamily="34" charset="0"/>
              <a:ea typeface="Aptos" panose="020B0004020202020204" pitchFamily="34" charset="0"/>
              <a:cs typeface="Arial" panose="020B0604020202020204" pitchFamily="34" charset="0"/>
            </a:endParaRPr>
          </a:p>
          <a:p>
            <a:pPr marL="457200" lvl="0" indent="-457200" rtl="0">
              <a:lnSpc>
                <a:spcPct val="115000"/>
              </a:lnSpc>
              <a:spcAft>
                <a:spcPts val="800"/>
              </a:spcAft>
              <a:buFont typeface="Arial" panose="020B0604020202020204" pitchFamily="34" charset="0"/>
              <a:buChar char="•"/>
              <a:tabLst>
                <a:tab pos="457200" algn="l"/>
              </a:tabLst>
            </a:pPr>
            <a:r>
              <a:rPr lang="en-US" sz="2800" b="1" dirty="0">
                <a:effectLst/>
                <a:latin typeface="Aptos" panose="020B0004020202020204" pitchFamily="34" charset="0"/>
                <a:ea typeface="Aptos" panose="020B0004020202020204" pitchFamily="34" charset="0"/>
                <a:cs typeface="Arial" panose="020B0604020202020204" pitchFamily="34" charset="0"/>
              </a:rPr>
              <a:t>Calculate Accuracy:</a:t>
            </a:r>
            <a:r>
              <a:rPr lang="en-US" sz="2800" dirty="0">
                <a:effectLst/>
                <a:latin typeface="Aptos" panose="020B0004020202020204" pitchFamily="34" charset="0"/>
                <a:ea typeface="Aptos" panose="020B0004020202020204" pitchFamily="34" charset="0"/>
                <a:cs typeface="Arial" panose="020B0604020202020204" pitchFamily="34" charset="0"/>
              </a:rPr>
              <a:t> Measures the percentage of correct predictions.</a:t>
            </a:r>
          </a:p>
          <a:p>
            <a:pPr marL="457200" lvl="0" indent="-457200" rtl="0">
              <a:lnSpc>
                <a:spcPct val="115000"/>
              </a:lnSpc>
              <a:spcAft>
                <a:spcPts val="800"/>
              </a:spcAft>
              <a:buFont typeface="Arial" panose="020B0604020202020204" pitchFamily="34" charset="0"/>
              <a:buChar char="•"/>
              <a:tabLst>
                <a:tab pos="457200" algn="l"/>
              </a:tabLst>
            </a:pPr>
            <a:r>
              <a:rPr lang="en-US" sz="2800" b="1" dirty="0">
                <a:effectLst/>
                <a:latin typeface="Aptos" panose="020B0004020202020204" pitchFamily="34" charset="0"/>
                <a:ea typeface="Aptos" panose="020B0004020202020204" pitchFamily="34" charset="0"/>
                <a:cs typeface="Arial" panose="020B0604020202020204" pitchFamily="34" charset="0"/>
              </a:rPr>
              <a:t>Visualize the Confusion Matrix:</a:t>
            </a:r>
            <a:r>
              <a:rPr lang="en-US" sz="2800" dirty="0">
                <a:effectLst/>
                <a:latin typeface="Aptos" panose="020B0004020202020204" pitchFamily="34" charset="0"/>
                <a:ea typeface="Aptos" panose="020B0004020202020204" pitchFamily="34" charset="0"/>
                <a:cs typeface="Arial" panose="020B0604020202020204" pitchFamily="34" charset="0"/>
              </a:rPr>
              <a:t> Displays correct and incorrect predictions by class.</a:t>
            </a:r>
          </a:p>
          <a:p>
            <a:pPr marL="457200" lvl="0" indent="-457200" rtl="0">
              <a:lnSpc>
                <a:spcPct val="115000"/>
              </a:lnSpc>
              <a:spcAft>
                <a:spcPts val="800"/>
              </a:spcAft>
              <a:buFont typeface="Arial" panose="020B0604020202020204" pitchFamily="34" charset="0"/>
              <a:buChar char="•"/>
              <a:tabLst>
                <a:tab pos="457200" algn="l"/>
              </a:tabLst>
            </a:pPr>
            <a:r>
              <a:rPr lang="en-US" sz="2800" b="1" dirty="0">
                <a:effectLst/>
                <a:latin typeface="Aptos" panose="020B0004020202020204" pitchFamily="34" charset="0"/>
                <a:ea typeface="Aptos" panose="020B0004020202020204" pitchFamily="34" charset="0"/>
                <a:cs typeface="Arial" panose="020B0604020202020204" pitchFamily="34" charset="0"/>
              </a:rPr>
              <a:t>Plot the ROC Curve:</a:t>
            </a:r>
            <a:r>
              <a:rPr lang="en-US" sz="2800" dirty="0">
                <a:effectLst/>
                <a:latin typeface="Aptos" panose="020B0004020202020204" pitchFamily="34" charset="0"/>
                <a:ea typeface="Aptos" panose="020B0004020202020204" pitchFamily="34" charset="0"/>
                <a:cs typeface="Arial" panose="020B0604020202020204" pitchFamily="34" charset="0"/>
              </a:rPr>
              <a:t>  shows how well the model performs at different thresholds, with AUC measuring how good the model is at distinguishing between positive and negative cases.</a:t>
            </a:r>
          </a:p>
          <a:p>
            <a:pPr marL="457200" lvl="0" indent="-457200" rtl="0">
              <a:lnSpc>
                <a:spcPct val="115000"/>
              </a:lnSpc>
              <a:spcAft>
                <a:spcPts val="800"/>
              </a:spcAft>
              <a:buFont typeface="Arial" panose="020B0604020202020204" pitchFamily="34" charset="0"/>
              <a:buChar char="•"/>
              <a:tabLst>
                <a:tab pos="457200" algn="l"/>
              </a:tabLst>
            </a:pPr>
            <a:r>
              <a:rPr lang="en-US" sz="2800" b="1" dirty="0">
                <a:effectLst/>
                <a:latin typeface="Aptos" panose="020B0004020202020204" pitchFamily="34" charset="0"/>
                <a:ea typeface="Aptos" panose="020B0004020202020204" pitchFamily="34" charset="0"/>
                <a:cs typeface="Arial" panose="020B0604020202020204" pitchFamily="34" charset="0"/>
              </a:rPr>
              <a:t>Recall Evaluation:</a:t>
            </a:r>
            <a:r>
              <a:rPr lang="en-US" sz="2800" dirty="0">
                <a:effectLst/>
                <a:latin typeface="Aptos" panose="020B0004020202020204" pitchFamily="34" charset="0"/>
                <a:ea typeface="Aptos" panose="020B0004020202020204" pitchFamily="34" charset="0"/>
                <a:cs typeface="Arial" panose="020B0604020202020204" pitchFamily="34" charset="0"/>
              </a:rPr>
              <a:t> Assesses the model's ability to identify positive cases.</a:t>
            </a:r>
          </a:p>
          <a:p>
            <a:pPr>
              <a:lnSpc>
                <a:spcPts val="3738"/>
              </a:lnSpc>
              <a:spcBef>
                <a:spcPct val="0"/>
              </a:spcBef>
            </a:pPr>
            <a:endParaRPr lang="en-US" sz="2670" spc="-218" dirty="0">
              <a:solidFill>
                <a:srgbClr val="000000"/>
              </a:solidFill>
              <a:latin typeface="DM Sans"/>
            </a:endParaRPr>
          </a:p>
        </p:txBody>
      </p:sp>
      <p:pic>
        <p:nvPicPr>
          <p:cNvPr id="19" name="صورة 18">
            <a:extLst>
              <a:ext uri="{FF2B5EF4-FFF2-40B4-BE49-F238E27FC236}">
                <a16:creationId xmlns:a16="http://schemas.microsoft.com/office/drawing/2014/main" id="{4637C022-A1C6-4D37-4112-E0D3C659E2A1}"/>
              </a:ext>
            </a:extLst>
          </p:cNvPr>
          <p:cNvPicPr>
            <a:picLocks noChangeAspect="1"/>
          </p:cNvPicPr>
          <p:nvPr/>
        </p:nvPicPr>
        <p:blipFill rotWithShape="1">
          <a:blip r:embed="rId8">
            <a:extLst>
              <a:ext uri="{28A0092B-C50C-407E-A947-70E740481C1C}">
                <a14:useLocalDpi xmlns:a14="http://schemas.microsoft.com/office/drawing/2010/main" val="0"/>
              </a:ext>
            </a:extLst>
          </a:blip>
          <a:srcRect r="16946"/>
          <a:stretch/>
        </p:blipFill>
        <p:spPr>
          <a:xfrm>
            <a:off x="228600" y="3321272"/>
            <a:ext cx="8258002" cy="5428070"/>
          </a:xfrm>
          <a:prstGeom prst="rect">
            <a:avLst/>
          </a:prstGeom>
          <a:ln>
            <a:solidFill>
              <a:schemeClr val="tx1"/>
            </a:solid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مربع نص 17">
            <a:extLst>
              <a:ext uri="{FF2B5EF4-FFF2-40B4-BE49-F238E27FC236}">
                <a16:creationId xmlns:a16="http://schemas.microsoft.com/office/drawing/2014/main" id="{8957A1D0-2FE8-B882-48C4-F15E3B04F8EA}"/>
              </a:ext>
            </a:extLst>
          </p:cNvPr>
          <p:cNvSpPr txBox="1"/>
          <p:nvPr/>
        </p:nvSpPr>
        <p:spPr>
          <a:xfrm>
            <a:off x="302818" y="190500"/>
            <a:ext cx="8021270" cy="10260438"/>
          </a:xfrm>
          <a:prstGeom prst="rect">
            <a:avLst/>
          </a:prstGeom>
          <a:noFill/>
        </p:spPr>
        <p:txBody>
          <a:bodyPr wrap="square">
            <a:spAutoFit/>
          </a:bodyPr>
          <a:lstStyle/>
          <a:p>
            <a:pPr marL="342900" lvl="0" indent="-342900" algn="l" rtl="0">
              <a:lnSpc>
                <a:spcPct val="115000"/>
              </a:lnSpc>
              <a:spcAft>
                <a:spcPts val="800"/>
              </a:spcAft>
              <a:buFont typeface="+mj-lt"/>
              <a:buAutoNum type="arabicPeriod"/>
            </a:pPr>
            <a:r>
              <a:rPr lang="en-US" sz="4000" b="1" dirty="0">
                <a:ln w="0"/>
                <a:solidFill>
                  <a:schemeClr val="accent1"/>
                </a:solidFill>
                <a:latin typeface="Aptos" panose="020B0004020202020204" pitchFamily="34" charset="0"/>
                <a:ea typeface="Aptos" panose="020B0004020202020204" pitchFamily="34" charset="0"/>
                <a:cs typeface="Arial" panose="020B0604020202020204" pitchFamily="34" charset="0"/>
              </a:rPr>
              <a:t>Calculate the Accuracy:</a:t>
            </a:r>
            <a:endParaRPr lang="ar-SA" sz="4000" b="1" dirty="0">
              <a:ln w="0"/>
              <a:solidFill>
                <a:schemeClr val="accent1"/>
              </a:solidFill>
              <a:latin typeface="Aptos" panose="020B0004020202020204" pitchFamily="34" charset="0"/>
              <a:ea typeface="Aptos" panose="020B0004020202020204" pitchFamily="34" charset="0"/>
              <a:cs typeface="Arial" panose="020B0604020202020204" pitchFamily="34" charset="0"/>
            </a:endParaRPr>
          </a:p>
          <a:p>
            <a:pPr marL="342900" lvl="0" indent="-342900" algn="l" rtl="0">
              <a:lnSpc>
                <a:spcPct val="115000"/>
              </a:lnSpc>
              <a:spcAft>
                <a:spcPts val="800"/>
              </a:spcAft>
              <a:buFont typeface="+mj-lt"/>
              <a:buAutoNum type="arabicPeriod"/>
            </a:pPr>
            <a:endParaRPr lang="en-US" sz="4400" dirty="0">
              <a:effectLst/>
              <a:latin typeface="Aptos" panose="020B0004020202020204" pitchFamily="34" charset="0"/>
              <a:ea typeface="Aptos" panose="020B0004020202020204" pitchFamily="34" charset="0"/>
              <a:cs typeface="Arial" panose="020B0604020202020204" pitchFamily="34" charset="0"/>
            </a:endParaRPr>
          </a:p>
          <a:p>
            <a:pPr marL="914400" indent="-457200" algn="l" rtl="0">
              <a:lnSpc>
                <a:spcPct val="150000"/>
              </a:lnSpc>
              <a:spcAft>
                <a:spcPts val="800"/>
              </a:spcAft>
              <a:buFont typeface="Arial" panose="020B0604020202020204" pitchFamily="34" charset="0"/>
              <a:buChar char="•"/>
            </a:pPr>
            <a:r>
              <a:rPr lang="en-US" sz="2800" dirty="0">
                <a:effectLst/>
                <a:latin typeface="Aptos" panose="020B0004020202020204" pitchFamily="34" charset="0"/>
                <a:ea typeface="Aptos" panose="020B0004020202020204" pitchFamily="34" charset="0"/>
                <a:cs typeface="Arial" panose="020B0604020202020204" pitchFamily="34" charset="0"/>
              </a:rPr>
              <a:t>Accuracy test is:  0.6582278481012658</a:t>
            </a:r>
            <a:endParaRPr lang="en-US" sz="4400" dirty="0">
              <a:effectLst/>
              <a:latin typeface="Aptos" panose="020B0004020202020204" pitchFamily="34" charset="0"/>
              <a:ea typeface="Aptos" panose="020B0004020202020204" pitchFamily="34" charset="0"/>
              <a:cs typeface="Arial" panose="020B0604020202020204" pitchFamily="34" charset="0"/>
            </a:endParaRPr>
          </a:p>
          <a:p>
            <a:pPr marL="914400" indent="-457200" algn="l" rtl="0">
              <a:lnSpc>
                <a:spcPct val="150000"/>
              </a:lnSpc>
              <a:spcAft>
                <a:spcPts val="800"/>
              </a:spcAft>
              <a:buFont typeface="Arial" panose="020B0604020202020204" pitchFamily="34" charset="0"/>
              <a:buChar char="•"/>
            </a:pPr>
            <a:r>
              <a:rPr lang="en-US" sz="2800" dirty="0">
                <a:effectLst/>
                <a:latin typeface="Aptos" panose="020B0004020202020204" pitchFamily="34" charset="0"/>
                <a:ea typeface="Aptos" panose="020B0004020202020204" pitchFamily="34" charset="0"/>
                <a:cs typeface="Arial" panose="020B0604020202020204" pitchFamily="34" charset="0"/>
              </a:rPr>
              <a:t>Accuracy train is:  0.6867088607594937</a:t>
            </a:r>
            <a:endParaRPr lang="en-US" sz="4400" dirty="0">
              <a:effectLst/>
              <a:latin typeface="Aptos" panose="020B0004020202020204" pitchFamily="34" charset="0"/>
              <a:ea typeface="Aptos" panose="020B0004020202020204" pitchFamily="34" charset="0"/>
              <a:cs typeface="Arial" panose="020B0604020202020204" pitchFamily="34" charset="0"/>
            </a:endParaRPr>
          </a:p>
          <a:p>
            <a:pPr marL="914400" indent="-457200" algn="l" rtl="0">
              <a:lnSpc>
                <a:spcPct val="150000"/>
              </a:lnSpc>
              <a:spcAft>
                <a:spcPts val="800"/>
              </a:spcAft>
              <a:buFont typeface="Arial" panose="020B0604020202020204" pitchFamily="34" charset="0"/>
              <a:buChar char="•"/>
            </a:pPr>
            <a:r>
              <a:rPr lang="en-US" sz="2800" dirty="0">
                <a:effectLst/>
                <a:latin typeface="Aptos" panose="020B0004020202020204" pitchFamily="34" charset="0"/>
                <a:ea typeface="Aptos" panose="020B0004020202020204" pitchFamily="34" charset="0"/>
                <a:cs typeface="Arial" panose="020B0604020202020204" pitchFamily="34" charset="0"/>
              </a:rPr>
              <a:t>f1 score is:  0.6294945284002085</a:t>
            </a:r>
            <a:endParaRPr lang="en-US" sz="4400" dirty="0">
              <a:effectLst/>
              <a:latin typeface="Aptos" panose="020B0004020202020204" pitchFamily="34" charset="0"/>
              <a:ea typeface="Aptos" panose="020B0004020202020204" pitchFamily="34" charset="0"/>
              <a:cs typeface="Arial" panose="020B0604020202020204" pitchFamily="34" charset="0"/>
            </a:endParaRPr>
          </a:p>
          <a:p>
            <a:pPr marL="457200" algn="l" rtl="0">
              <a:lnSpc>
                <a:spcPct val="115000"/>
              </a:lnSpc>
              <a:spcAft>
                <a:spcPts val="800"/>
              </a:spcAft>
            </a:pPr>
            <a:r>
              <a:rPr lang="en-US" sz="3200" dirty="0">
                <a:effectLst/>
                <a:latin typeface="Aptos" panose="020B0004020202020204" pitchFamily="34" charset="0"/>
                <a:ea typeface="Aptos" panose="020B0004020202020204" pitchFamily="34" charset="0"/>
                <a:cs typeface="Arial" panose="020B0604020202020204" pitchFamily="34" charset="0"/>
              </a:rPr>
              <a:t> </a:t>
            </a:r>
            <a:endParaRPr lang="ar-SA" sz="3200" dirty="0">
              <a:latin typeface="Aptos" panose="020B0004020202020204" pitchFamily="34" charset="0"/>
              <a:ea typeface="Aptos" panose="020B0004020202020204" pitchFamily="34" charset="0"/>
              <a:cs typeface="Arial" panose="020B0604020202020204" pitchFamily="34" charset="0"/>
            </a:endParaRPr>
          </a:p>
          <a:p>
            <a:pPr marL="457200" algn="l" rtl="0">
              <a:lnSpc>
                <a:spcPct val="115000"/>
              </a:lnSpc>
              <a:spcAft>
                <a:spcPts val="800"/>
              </a:spcAft>
            </a:pPr>
            <a:endParaRPr lang="en-US" sz="4800" dirty="0">
              <a:effectLst/>
              <a:latin typeface="Aptos" panose="020B0004020202020204" pitchFamily="34" charset="0"/>
              <a:ea typeface="Aptos" panose="020B0004020202020204" pitchFamily="34" charset="0"/>
              <a:cs typeface="Arial" panose="020B0604020202020204" pitchFamily="34" charset="0"/>
            </a:endParaRPr>
          </a:p>
          <a:p>
            <a:pPr marL="457200" algn="l" rtl="0">
              <a:lnSpc>
                <a:spcPct val="115000"/>
              </a:lnSpc>
              <a:spcAft>
                <a:spcPts val="800"/>
              </a:spcAft>
            </a:pPr>
            <a:r>
              <a:rPr lang="en-US" sz="2800" dirty="0">
                <a:effectLst/>
                <a:latin typeface="Aptos" panose="020B0004020202020204" pitchFamily="34" charset="0"/>
                <a:ea typeface="Aptos" panose="020B0004020202020204" pitchFamily="34" charset="0"/>
                <a:cs typeface="Arial" panose="020B0604020202020204" pitchFamily="34" charset="0"/>
              </a:rPr>
              <a:t>We obtained two accuracy values, one was obtained using the training set and the other was obtained using the test set</a:t>
            </a:r>
            <a:r>
              <a:rPr lang="ar-SA" sz="2800" dirty="0">
                <a:effectLst/>
                <a:latin typeface="Aptos" panose="020B0004020202020204" pitchFamily="34" charset="0"/>
                <a:ea typeface="Aptos" panose="020B0004020202020204" pitchFamily="34" charset="0"/>
                <a:cs typeface="Arial" panose="020B0604020202020204" pitchFamily="34" charset="0"/>
              </a:rPr>
              <a:t>.</a:t>
            </a:r>
            <a:endParaRPr lang="en-US" sz="4400" dirty="0">
              <a:effectLst/>
              <a:latin typeface="Aptos" panose="020B0004020202020204" pitchFamily="34" charset="0"/>
              <a:ea typeface="Aptos" panose="020B0004020202020204" pitchFamily="34" charset="0"/>
              <a:cs typeface="Arial" panose="020B0604020202020204" pitchFamily="34" charset="0"/>
            </a:endParaRPr>
          </a:p>
          <a:p>
            <a:pPr marL="457200" algn="l" rtl="0">
              <a:lnSpc>
                <a:spcPct val="115000"/>
              </a:lnSpc>
              <a:spcAft>
                <a:spcPts val="800"/>
              </a:spcAft>
            </a:pPr>
            <a:r>
              <a:rPr lang="en-US" sz="2800" dirty="0">
                <a:effectLst/>
                <a:latin typeface="Aptos" panose="020B0004020202020204" pitchFamily="34" charset="0"/>
                <a:ea typeface="Aptos" panose="020B0004020202020204" pitchFamily="34" charset="0"/>
                <a:cs typeface="Arial" panose="020B0604020202020204" pitchFamily="34" charset="0"/>
              </a:rPr>
              <a:t>It may be a good idea to compare the two, as a case where the accuracy of the training set is much higher may indicate overfitting. Test set accuracy is more relevant for evaluating performance on unseen data since it is unbiased.</a:t>
            </a:r>
            <a:endParaRPr lang="en-US" sz="4400" dirty="0">
              <a:effectLst/>
              <a:latin typeface="Aptos" panose="020B0004020202020204" pitchFamily="34" charset="0"/>
              <a:ea typeface="Aptos" panose="020B0004020202020204" pitchFamily="34" charset="0"/>
              <a:cs typeface="Arial" panose="020B0604020202020204" pitchFamily="34" charset="0"/>
            </a:endParaRPr>
          </a:p>
        </p:txBody>
      </p:sp>
      <p:sp>
        <p:nvSpPr>
          <p:cNvPr id="20" name="مربع نص 19">
            <a:extLst>
              <a:ext uri="{FF2B5EF4-FFF2-40B4-BE49-F238E27FC236}">
                <a16:creationId xmlns:a16="http://schemas.microsoft.com/office/drawing/2014/main" id="{3E64879E-87CA-9883-8656-2412D06713D5}"/>
              </a:ext>
            </a:extLst>
          </p:cNvPr>
          <p:cNvSpPr txBox="1"/>
          <p:nvPr/>
        </p:nvSpPr>
        <p:spPr>
          <a:xfrm>
            <a:off x="9372600" y="190500"/>
            <a:ext cx="10538846" cy="626133"/>
          </a:xfrm>
          <a:prstGeom prst="rect">
            <a:avLst/>
          </a:prstGeom>
          <a:noFill/>
        </p:spPr>
        <p:txBody>
          <a:bodyPr wrap="square">
            <a:spAutoFit/>
          </a:bodyPr>
          <a:lstStyle/>
          <a:p>
            <a:pPr algn="l" rtl="0">
              <a:lnSpc>
                <a:spcPct val="115000"/>
              </a:lnSpc>
              <a:spcAft>
                <a:spcPts val="1200"/>
              </a:spcAft>
            </a:pPr>
            <a:r>
              <a:rPr lang="en-US" sz="3200" b="1" dirty="0">
                <a:ln w="0"/>
                <a:solidFill>
                  <a:schemeClr val="accent1"/>
                </a:solidFill>
                <a:highlight>
                  <a:srgbClr val="FFFFFF"/>
                </a:highlight>
                <a:latin typeface="Segoe UI" panose="020B0502040204020203" pitchFamily="34" charset="0"/>
                <a:ea typeface="Times New Roman" panose="02020603050405020304" pitchFamily="18" charset="0"/>
                <a:cs typeface="Arial" panose="020B0604020202020204" pitchFamily="34" charset="0"/>
              </a:rPr>
              <a:t>2- Visualize the Confusion Matrix:</a:t>
            </a:r>
            <a:endParaRPr lang="en-US" sz="3200" b="1" dirty="0">
              <a:ln w="0"/>
              <a:solidFill>
                <a:schemeClr val="accent1"/>
              </a:solidFill>
              <a:highlight>
                <a:srgbClr val="FFFFFF"/>
              </a:highlight>
              <a:latin typeface="Aptos" panose="020B0004020202020204" pitchFamily="34" charset="0"/>
              <a:ea typeface="Aptos" panose="020B0004020202020204" pitchFamily="34" charset="0"/>
              <a:cs typeface="Arial" panose="020B0604020202020204" pitchFamily="34" charset="0"/>
            </a:endParaRPr>
          </a:p>
        </p:txBody>
      </p:sp>
      <p:sp>
        <p:nvSpPr>
          <p:cNvPr id="22" name="مربع نص 21">
            <a:extLst>
              <a:ext uri="{FF2B5EF4-FFF2-40B4-BE49-F238E27FC236}">
                <a16:creationId xmlns:a16="http://schemas.microsoft.com/office/drawing/2014/main" id="{9725E6CD-C03F-59AB-89E3-BC866AE7CA95}"/>
              </a:ext>
            </a:extLst>
          </p:cNvPr>
          <p:cNvSpPr txBox="1"/>
          <p:nvPr/>
        </p:nvSpPr>
        <p:spPr>
          <a:xfrm>
            <a:off x="8915400" y="6705605"/>
            <a:ext cx="8382000" cy="3287951"/>
          </a:xfrm>
          <a:prstGeom prst="rect">
            <a:avLst/>
          </a:prstGeom>
          <a:noFill/>
        </p:spPr>
        <p:txBody>
          <a:bodyPr wrap="square">
            <a:spAutoFit/>
          </a:bodyPr>
          <a:lstStyle/>
          <a:p>
            <a:pPr algn="ctr" rtl="0">
              <a:spcAft>
                <a:spcPts val="1200"/>
              </a:spcAft>
            </a:pPr>
            <a:r>
              <a:rPr lang="en-US" sz="2400" dirty="0">
                <a:solidFill>
                  <a:srgbClr val="000000"/>
                </a:solidFill>
                <a:effectLst/>
                <a:highlight>
                  <a:srgbClr val="FFFFFF"/>
                </a:highlight>
                <a:latin typeface="Segoe UI" panose="020B0502040204020203" pitchFamily="34" charset="0"/>
                <a:ea typeface="Times New Roman" panose="02020603050405020304" pitchFamily="18" charset="0"/>
                <a:cs typeface="Arial" panose="020B0604020202020204" pitchFamily="34" charset="0"/>
              </a:rPr>
              <a:t>A confusion matrix is a table used to evaluate the performance of a classification model</a:t>
            </a:r>
            <a:endParaRPr lang="en-US" sz="2000" b="1" dirty="0">
              <a:solidFill>
                <a:srgbClr val="000000"/>
              </a:solidFill>
              <a:effectLst/>
              <a:highlight>
                <a:srgbClr val="FFFFFF"/>
              </a:highlight>
              <a:latin typeface="Segoe UI" panose="020B0502040204020203" pitchFamily="34" charset="0"/>
              <a:ea typeface="Times New Roman" panose="02020603050405020304" pitchFamily="18" charset="0"/>
              <a:cs typeface="Arial" panose="020B0604020202020204" pitchFamily="34" charset="0"/>
            </a:endParaRPr>
          </a:p>
          <a:p>
            <a:pPr algn="ctr">
              <a:buFont typeface="Arial" panose="020B0604020202020204" pitchFamily="34" charset="0"/>
              <a:buChar char="•"/>
            </a:pPr>
            <a:r>
              <a:rPr lang="en-US" sz="2800" b="1" dirty="0">
                <a:solidFill>
                  <a:srgbClr val="0D0D0D"/>
                </a:solidFill>
                <a:highlight>
                  <a:srgbClr val="FFFFFF"/>
                </a:highlight>
                <a:latin typeface="ui-sans-serif"/>
              </a:rPr>
              <a:t>T</a:t>
            </a:r>
            <a:r>
              <a:rPr lang="en-US" sz="2800" b="1" i="0" dirty="0">
                <a:solidFill>
                  <a:srgbClr val="0D0D0D"/>
                </a:solidFill>
                <a:effectLst/>
                <a:highlight>
                  <a:srgbClr val="FFFFFF"/>
                </a:highlight>
                <a:latin typeface="ui-sans-serif"/>
              </a:rPr>
              <a:t>P  (30)</a:t>
            </a:r>
            <a:r>
              <a:rPr lang="en-US" sz="2800" b="0" i="0" dirty="0">
                <a:solidFill>
                  <a:srgbClr val="0D0D0D"/>
                </a:solidFill>
                <a:effectLst/>
                <a:highlight>
                  <a:srgbClr val="FFFFFF"/>
                </a:highlight>
                <a:latin typeface="ui-sans-serif"/>
              </a:rPr>
              <a:t>: True Positives (actual 1, predicted 1)</a:t>
            </a:r>
          </a:p>
          <a:p>
            <a:pPr algn="ctr">
              <a:lnSpc>
                <a:spcPct val="150000"/>
              </a:lnSpc>
              <a:buFont typeface="Arial" panose="020B0604020202020204" pitchFamily="34" charset="0"/>
              <a:buChar char="•"/>
            </a:pPr>
            <a:r>
              <a:rPr lang="en-US" sz="2800" b="1" i="0" dirty="0">
                <a:solidFill>
                  <a:srgbClr val="0D0D0D"/>
                </a:solidFill>
                <a:effectLst/>
                <a:highlight>
                  <a:srgbClr val="FFFFFF"/>
                </a:highlight>
                <a:latin typeface="ui-sans-serif"/>
              </a:rPr>
              <a:t>FP (15)</a:t>
            </a:r>
            <a:r>
              <a:rPr lang="en-US" sz="2800" b="0" i="0" dirty="0">
                <a:solidFill>
                  <a:srgbClr val="0D0D0D"/>
                </a:solidFill>
                <a:effectLst/>
                <a:highlight>
                  <a:srgbClr val="FFFFFF"/>
                </a:highlight>
                <a:latin typeface="ui-sans-serif"/>
              </a:rPr>
              <a:t>: False Positives (actual 0, predicted 1)</a:t>
            </a:r>
          </a:p>
          <a:p>
            <a:pPr algn="ctr">
              <a:lnSpc>
                <a:spcPct val="150000"/>
              </a:lnSpc>
              <a:buFont typeface="Arial" panose="020B0604020202020204" pitchFamily="34" charset="0"/>
              <a:buChar char="•"/>
            </a:pPr>
            <a:r>
              <a:rPr lang="en-US" sz="2800" b="1" dirty="0">
                <a:solidFill>
                  <a:srgbClr val="000000"/>
                </a:solidFill>
                <a:highlight>
                  <a:srgbClr val="FFFFFF"/>
                </a:highlight>
                <a:latin typeface="Segoe UI" panose="020B0502040204020203" pitchFamily="34" charset="0"/>
                <a:ea typeface="Times New Roman" panose="02020603050405020304" pitchFamily="18" charset="0"/>
                <a:cs typeface="Arial" panose="020B0604020202020204" pitchFamily="34" charset="0"/>
              </a:rPr>
              <a:t> </a:t>
            </a:r>
            <a:r>
              <a:rPr lang="en-US" sz="2800" b="1" dirty="0">
                <a:solidFill>
                  <a:srgbClr val="0D0D0D"/>
                </a:solidFill>
                <a:highlight>
                  <a:srgbClr val="FFFFFF"/>
                </a:highlight>
                <a:latin typeface="ui-sans-serif"/>
                <a:ea typeface="Times New Roman" panose="02020603050405020304" pitchFamily="18" charset="0"/>
                <a:cs typeface="Arial" panose="020B0604020202020204" pitchFamily="34" charset="0"/>
              </a:rPr>
              <a:t>TN (</a:t>
            </a:r>
            <a:r>
              <a:rPr lang="en-US" sz="2800" b="1" i="0" dirty="0">
                <a:solidFill>
                  <a:srgbClr val="0D0D0D"/>
                </a:solidFill>
                <a:effectLst/>
                <a:highlight>
                  <a:srgbClr val="FFFFFF"/>
                </a:highlight>
                <a:latin typeface="ui-sans-serif"/>
              </a:rPr>
              <a:t>15)</a:t>
            </a:r>
            <a:r>
              <a:rPr lang="en-US" sz="2800" b="0" i="0" dirty="0">
                <a:solidFill>
                  <a:srgbClr val="0D0D0D"/>
                </a:solidFill>
                <a:effectLst/>
                <a:highlight>
                  <a:srgbClr val="FFFFFF"/>
                </a:highlight>
                <a:latin typeface="ui-sans-serif"/>
              </a:rPr>
              <a:t>: True Negatives (actual 0, predicted 0)</a:t>
            </a:r>
          </a:p>
          <a:p>
            <a:pPr algn="ctr">
              <a:lnSpc>
                <a:spcPct val="150000"/>
              </a:lnSpc>
              <a:buFont typeface="Arial" panose="020B0604020202020204" pitchFamily="34" charset="0"/>
              <a:buChar char="•"/>
            </a:pPr>
            <a:r>
              <a:rPr lang="en-US" sz="2800" b="1" i="0" dirty="0">
                <a:solidFill>
                  <a:srgbClr val="0D0D0D"/>
                </a:solidFill>
                <a:effectLst/>
                <a:highlight>
                  <a:srgbClr val="FFFFFF"/>
                </a:highlight>
                <a:latin typeface="ui-sans-serif"/>
              </a:rPr>
              <a:t>FN (0)</a:t>
            </a:r>
            <a:r>
              <a:rPr lang="en-US" sz="2800" b="0" i="0" dirty="0">
                <a:solidFill>
                  <a:srgbClr val="0D0D0D"/>
                </a:solidFill>
                <a:effectLst/>
                <a:highlight>
                  <a:srgbClr val="FFFFFF"/>
                </a:highlight>
                <a:latin typeface="ui-sans-serif"/>
              </a:rPr>
              <a:t>: False Negatives (actual 1, predicted 0)</a:t>
            </a:r>
          </a:p>
        </p:txBody>
      </p:sp>
      <p:sp>
        <p:nvSpPr>
          <p:cNvPr id="2" name="مستطيل 1">
            <a:extLst>
              <a:ext uri="{FF2B5EF4-FFF2-40B4-BE49-F238E27FC236}">
                <a16:creationId xmlns:a16="http://schemas.microsoft.com/office/drawing/2014/main" id="{1199714E-29A8-987B-F734-626A86F405B6}"/>
              </a:ext>
            </a:extLst>
          </p:cNvPr>
          <p:cNvSpPr/>
          <p:nvPr/>
        </p:nvSpPr>
        <p:spPr>
          <a:xfrm>
            <a:off x="732053" y="1638300"/>
            <a:ext cx="7162800" cy="2819400"/>
          </a:xfrm>
          <a:prstGeom prst="rect">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صورة 3" descr="صورة تحتوي على لقطة شاشة, نص, مستطيل, رسم بياني&#10;&#10;تم إنشاء الوصف تلقائياً">
            <a:extLst>
              <a:ext uri="{FF2B5EF4-FFF2-40B4-BE49-F238E27FC236}">
                <a16:creationId xmlns:a16="http://schemas.microsoft.com/office/drawing/2014/main" id="{E6030A05-902C-B8A5-AC82-D749C0BD60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4678" y="896778"/>
            <a:ext cx="7187193" cy="5808827"/>
          </a:xfrm>
          <a:prstGeom prst="rect">
            <a:avLst/>
          </a:prstGeom>
          <a:ln>
            <a:solidFill>
              <a:schemeClr val="tx1"/>
            </a:solid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مربع نص 16">
            <a:extLst>
              <a:ext uri="{FF2B5EF4-FFF2-40B4-BE49-F238E27FC236}">
                <a16:creationId xmlns:a16="http://schemas.microsoft.com/office/drawing/2014/main" id="{4E50C3FD-153C-1F85-859D-7B2B71F112F7}"/>
              </a:ext>
            </a:extLst>
          </p:cNvPr>
          <p:cNvSpPr txBox="1"/>
          <p:nvPr/>
        </p:nvSpPr>
        <p:spPr>
          <a:xfrm>
            <a:off x="457200" y="419100"/>
            <a:ext cx="8686800" cy="7103676"/>
          </a:xfrm>
          <a:prstGeom prst="rect">
            <a:avLst/>
          </a:prstGeom>
          <a:noFill/>
        </p:spPr>
        <p:txBody>
          <a:bodyPr wrap="square">
            <a:spAutoFit/>
          </a:bodyPr>
          <a:lstStyle/>
          <a:p>
            <a:pPr algn="l" rtl="0">
              <a:lnSpc>
                <a:spcPct val="115000"/>
              </a:lnSpc>
              <a:spcAft>
                <a:spcPts val="800"/>
              </a:spcAft>
            </a:pPr>
            <a:r>
              <a:rPr lang="en-US" sz="4000" b="1" dirty="0">
                <a:ln w="0"/>
                <a:solidFill>
                  <a:schemeClr val="accent1"/>
                </a:solidFill>
                <a:latin typeface="Segoe UI" panose="020B0502040204020203" pitchFamily="34" charset="0"/>
                <a:ea typeface="Aptos" panose="020B0004020202020204" pitchFamily="34" charset="0"/>
                <a:cs typeface="Arial" panose="020B0604020202020204" pitchFamily="34" charset="0"/>
              </a:rPr>
              <a:t>3- Plot the ROC Curve:</a:t>
            </a:r>
            <a:endParaRPr lang="en-US" sz="6000" b="1" dirty="0">
              <a:ln w="0"/>
              <a:solidFill>
                <a:schemeClr val="accent1"/>
              </a:solidFill>
              <a:latin typeface="Aptos" panose="020B0004020202020204" pitchFamily="34" charset="0"/>
              <a:ea typeface="Aptos" panose="020B0004020202020204" pitchFamily="34" charset="0"/>
              <a:cs typeface="Arial" panose="020B0604020202020204" pitchFamily="34" charset="0"/>
            </a:endParaRPr>
          </a:p>
          <a:p>
            <a:pPr algn="l" rtl="0">
              <a:lnSpc>
                <a:spcPct val="115000"/>
              </a:lnSpc>
              <a:spcAft>
                <a:spcPts val="1200"/>
              </a:spcAft>
            </a:pPr>
            <a:r>
              <a:rPr lang="en-US" sz="2400" b="1" dirty="0">
                <a:solidFill>
                  <a:srgbClr val="000000"/>
                </a:solidFill>
                <a:effectLst/>
                <a:highlight>
                  <a:srgbClr val="FFFFFF"/>
                </a:highlight>
                <a:latin typeface="Segoe UI" panose="020B0502040204020203" pitchFamily="34" charset="0"/>
                <a:ea typeface="Times New Roman" panose="02020603050405020304" pitchFamily="18" charset="0"/>
                <a:cs typeface="Arial" panose="020B0604020202020204" pitchFamily="34" charset="0"/>
              </a:rPr>
              <a:t>ROC Curve:</a:t>
            </a:r>
            <a:endParaRPr lang="en-US" sz="4400" dirty="0">
              <a:effectLst/>
              <a:highlight>
                <a:srgbClr val="FFFFFF"/>
              </a:highlight>
              <a:latin typeface="Aptos" panose="020B0004020202020204" pitchFamily="34" charset="0"/>
              <a:ea typeface="Aptos" panose="020B0004020202020204" pitchFamily="34" charset="0"/>
              <a:cs typeface="Arial" panose="020B0604020202020204" pitchFamily="34" charset="0"/>
            </a:endParaRPr>
          </a:p>
          <a:p>
            <a:pPr algn="l" rtl="0">
              <a:lnSpc>
                <a:spcPct val="115000"/>
              </a:lnSpc>
              <a:spcAft>
                <a:spcPts val="1200"/>
              </a:spcAft>
            </a:pPr>
            <a:r>
              <a:rPr lang="en-US" sz="2400" dirty="0">
                <a:solidFill>
                  <a:srgbClr val="000000"/>
                </a:solidFill>
                <a:effectLst/>
                <a:highlight>
                  <a:srgbClr val="FFFFFF"/>
                </a:highlight>
                <a:latin typeface="Segoe UI" panose="020B0502040204020203" pitchFamily="34" charset="0"/>
                <a:ea typeface="Times New Roman" panose="02020603050405020304" pitchFamily="18" charset="0"/>
                <a:cs typeface="Arial" panose="020B0604020202020204" pitchFamily="34" charset="0"/>
              </a:rPr>
              <a:t>The ROC curve is a graph that shows how well a binary classification model performs as the threshold for deciding between classes is changed. </a:t>
            </a:r>
            <a:endParaRPr lang="en-US" dirty="0">
              <a:effectLst/>
              <a:highlight>
                <a:srgbClr val="FFFFFF"/>
              </a:highlight>
              <a:latin typeface="Aptos" panose="020B0004020202020204" pitchFamily="34" charset="0"/>
              <a:ea typeface="Aptos" panose="020B0004020202020204" pitchFamily="34" charset="0"/>
              <a:cs typeface="Arial" panose="020B0604020202020204" pitchFamily="34" charset="0"/>
            </a:endParaRPr>
          </a:p>
          <a:p>
            <a:pPr algn="l" rtl="0">
              <a:lnSpc>
                <a:spcPct val="115000"/>
              </a:lnSpc>
              <a:spcAft>
                <a:spcPts val="1200"/>
              </a:spcAft>
            </a:pPr>
            <a:r>
              <a:rPr lang="en-US" sz="2400" b="1" dirty="0">
                <a:solidFill>
                  <a:srgbClr val="000000"/>
                </a:solidFill>
                <a:effectLst/>
                <a:highlight>
                  <a:srgbClr val="FFFFFF"/>
                </a:highlight>
                <a:latin typeface="Segoe UI" panose="020B0502040204020203" pitchFamily="34" charset="0"/>
                <a:ea typeface="Times New Roman" panose="02020603050405020304" pitchFamily="18" charset="0"/>
                <a:cs typeface="Arial" panose="020B0604020202020204" pitchFamily="34" charset="0"/>
              </a:rPr>
              <a:t>Key Components of the ROC Curve</a:t>
            </a:r>
            <a:endParaRPr lang="en-US" sz="4400" dirty="0">
              <a:effectLst/>
              <a:highlight>
                <a:srgbClr val="FFFFFF"/>
              </a:highlight>
              <a:latin typeface="Aptos" panose="020B0004020202020204" pitchFamily="34" charset="0"/>
              <a:ea typeface="Aptos" panose="020B0004020202020204" pitchFamily="34" charset="0"/>
              <a:cs typeface="Arial" panose="020B0604020202020204" pitchFamily="34" charset="0"/>
            </a:endParaRPr>
          </a:p>
          <a:p>
            <a:pPr marL="342900" lvl="0" indent="-342900" algn="l" rtl="0">
              <a:lnSpc>
                <a:spcPct val="115000"/>
              </a:lnSpc>
              <a:spcAft>
                <a:spcPts val="800"/>
              </a:spcAft>
              <a:buSzPts val="1000"/>
              <a:buFont typeface="Symbol" panose="05050102010706020507" pitchFamily="18" charset="2"/>
              <a:buChar char=""/>
              <a:tabLst>
                <a:tab pos="457200" algn="l"/>
              </a:tabLst>
            </a:pPr>
            <a:r>
              <a:rPr lang="en-US" sz="2400" dirty="0">
                <a:solidFill>
                  <a:srgbClr val="000000"/>
                </a:solidFill>
                <a:effectLst/>
                <a:highlight>
                  <a:srgbClr val="FFFFFF"/>
                </a:highlight>
                <a:latin typeface="Segoe UI" panose="020B0502040204020203" pitchFamily="34" charset="0"/>
                <a:ea typeface="Times New Roman" panose="02020603050405020304" pitchFamily="18" charset="0"/>
                <a:cs typeface="Arial" panose="020B0604020202020204" pitchFamily="34" charset="0"/>
              </a:rPr>
              <a:t>True Positive Rate (TPR): </a:t>
            </a:r>
          </a:p>
          <a:p>
            <a:pPr lvl="0" algn="l" rtl="0">
              <a:lnSpc>
                <a:spcPct val="115000"/>
              </a:lnSpc>
              <a:spcAft>
                <a:spcPts val="800"/>
              </a:spcAft>
              <a:buSzPts val="1000"/>
              <a:tabLst>
                <a:tab pos="457200" algn="l"/>
              </a:tabLst>
            </a:pPr>
            <a:r>
              <a:rPr lang="en-US" sz="2400" dirty="0">
                <a:solidFill>
                  <a:srgbClr val="000000"/>
                </a:solidFill>
                <a:effectLst/>
                <a:highlight>
                  <a:srgbClr val="FFFFFF"/>
                </a:highlight>
                <a:latin typeface="Segoe UI" panose="020B0502040204020203" pitchFamily="34" charset="0"/>
                <a:ea typeface="Times New Roman" panose="02020603050405020304" pitchFamily="18" charset="0"/>
                <a:cs typeface="Arial" panose="020B0604020202020204" pitchFamily="34" charset="0"/>
              </a:rPr>
              <a:t>TPR=True Positives/True </a:t>
            </a:r>
            <a:r>
              <a:rPr lang="en-US" sz="2400" dirty="0" err="1">
                <a:solidFill>
                  <a:srgbClr val="000000"/>
                </a:solidFill>
                <a:effectLst/>
                <a:highlight>
                  <a:srgbClr val="FFFFFF"/>
                </a:highlight>
                <a:latin typeface="Segoe UI" panose="020B0502040204020203" pitchFamily="34" charset="0"/>
                <a:ea typeface="Times New Roman" panose="02020603050405020304" pitchFamily="18" charset="0"/>
                <a:cs typeface="Arial" panose="020B0604020202020204" pitchFamily="34" charset="0"/>
              </a:rPr>
              <a:t>Positives+False</a:t>
            </a:r>
            <a:r>
              <a:rPr lang="en-US" sz="2400" dirty="0">
                <a:solidFill>
                  <a:srgbClr val="000000"/>
                </a:solidFill>
                <a:effectLst/>
                <a:highlight>
                  <a:srgbClr val="FFFFFF"/>
                </a:highlight>
                <a:latin typeface="Segoe UI" panose="020B0502040204020203" pitchFamily="34" charset="0"/>
                <a:ea typeface="Times New Roman" panose="02020603050405020304" pitchFamily="18" charset="0"/>
                <a:cs typeface="Arial" panose="020B0604020202020204" pitchFamily="34" charset="0"/>
              </a:rPr>
              <a:t> Negatives</a:t>
            </a:r>
            <a:endParaRPr lang="en-US" sz="4400" dirty="0">
              <a:effectLst/>
              <a:highlight>
                <a:srgbClr val="FFFFFF"/>
              </a:highlight>
              <a:latin typeface="Aptos" panose="020B0004020202020204" pitchFamily="34" charset="0"/>
              <a:ea typeface="Aptos" panose="020B0004020202020204" pitchFamily="34" charset="0"/>
              <a:cs typeface="Arial" panose="020B0604020202020204" pitchFamily="34" charset="0"/>
            </a:endParaRPr>
          </a:p>
          <a:p>
            <a:pPr marL="342900" lvl="0" indent="-342900" algn="l" rtl="0">
              <a:lnSpc>
                <a:spcPct val="115000"/>
              </a:lnSpc>
              <a:spcAft>
                <a:spcPts val="1200"/>
              </a:spcAft>
              <a:buSzPts val="1000"/>
              <a:buFont typeface="Symbol" panose="05050102010706020507" pitchFamily="18" charset="2"/>
              <a:buChar char=""/>
              <a:tabLst>
                <a:tab pos="457200" algn="l"/>
              </a:tabLst>
            </a:pPr>
            <a:r>
              <a:rPr lang="en-US" sz="2400" dirty="0">
                <a:solidFill>
                  <a:srgbClr val="000000"/>
                </a:solidFill>
                <a:effectLst/>
                <a:highlight>
                  <a:srgbClr val="FFFFFF"/>
                </a:highlight>
                <a:latin typeface="Segoe UI" panose="020B0502040204020203" pitchFamily="34" charset="0"/>
                <a:ea typeface="Times New Roman" panose="02020603050405020304" pitchFamily="18" charset="0"/>
                <a:cs typeface="Arial" panose="020B0604020202020204" pitchFamily="34" charset="0"/>
              </a:rPr>
              <a:t>False Positive Rate (FPR) :</a:t>
            </a:r>
          </a:p>
          <a:p>
            <a:pPr lvl="0" algn="l" rtl="0">
              <a:lnSpc>
                <a:spcPct val="115000"/>
              </a:lnSpc>
              <a:spcAft>
                <a:spcPts val="1200"/>
              </a:spcAft>
              <a:buSzPts val="1000"/>
              <a:tabLst>
                <a:tab pos="457200" algn="l"/>
              </a:tabLst>
            </a:pPr>
            <a:r>
              <a:rPr lang="en-US" sz="2400" dirty="0">
                <a:solidFill>
                  <a:srgbClr val="000000"/>
                </a:solidFill>
                <a:effectLst/>
                <a:highlight>
                  <a:srgbClr val="FFFFFF"/>
                </a:highlight>
                <a:latin typeface="Segoe UI" panose="020B0502040204020203" pitchFamily="34" charset="0"/>
                <a:ea typeface="Times New Roman" panose="02020603050405020304" pitchFamily="18" charset="0"/>
                <a:cs typeface="Arial" panose="020B0604020202020204" pitchFamily="34" charset="0"/>
              </a:rPr>
              <a:t>FPR=False Positives/False </a:t>
            </a:r>
            <a:r>
              <a:rPr lang="en-US" sz="2400" dirty="0" err="1">
                <a:solidFill>
                  <a:srgbClr val="000000"/>
                </a:solidFill>
                <a:effectLst/>
                <a:highlight>
                  <a:srgbClr val="FFFFFF"/>
                </a:highlight>
                <a:latin typeface="Segoe UI" panose="020B0502040204020203" pitchFamily="34" charset="0"/>
                <a:ea typeface="Times New Roman" panose="02020603050405020304" pitchFamily="18" charset="0"/>
                <a:cs typeface="Arial" panose="020B0604020202020204" pitchFamily="34" charset="0"/>
              </a:rPr>
              <a:t>Positives+True</a:t>
            </a:r>
            <a:r>
              <a:rPr lang="en-US" sz="2400" dirty="0">
                <a:solidFill>
                  <a:srgbClr val="000000"/>
                </a:solidFill>
                <a:effectLst/>
                <a:highlight>
                  <a:srgbClr val="FFFFFF"/>
                </a:highlight>
                <a:latin typeface="Segoe UI" panose="020B0502040204020203" pitchFamily="34" charset="0"/>
                <a:ea typeface="Times New Roman" panose="02020603050405020304" pitchFamily="18" charset="0"/>
                <a:cs typeface="Arial" panose="020B0604020202020204" pitchFamily="34" charset="0"/>
              </a:rPr>
              <a:t> Negatives</a:t>
            </a:r>
            <a:endParaRPr lang="en-US" sz="4400" dirty="0">
              <a:effectLst/>
              <a:highlight>
                <a:srgbClr val="FFFFFF"/>
              </a:highlight>
              <a:latin typeface="Aptos" panose="020B0004020202020204" pitchFamily="34" charset="0"/>
              <a:ea typeface="Aptos" panose="020B0004020202020204" pitchFamily="34" charset="0"/>
              <a:cs typeface="Arial" panose="020B0604020202020204" pitchFamily="34" charset="0"/>
            </a:endParaRPr>
          </a:p>
          <a:p>
            <a:pPr marL="342900" lvl="0" indent="-342900" algn="l" rtl="0">
              <a:lnSpc>
                <a:spcPct val="115000"/>
              </a:lnSpc>
              <a:spcAft>
                <a:spcPts val="1200"/>
              </a:spcAft>
              <a:buSzPts val="1000"/>
              <a:buFont typeface="Symbol" panose="05050102010706020507" pitchFamily="18" charset="2"/>
              <a:buChar char=""/>
              <a:tabLst>
                <a:tab pos="457200" algn="l"/>
              </a:tabLst>
            </a:pPr>
            <a:r>
              <a:rPr lang="en-US" sz="2400" dirty="0">
                <a:solidFill>
                  <a:srgbClr val="000000"/>
                </a:solidFill>
                <a:effectLst/>
                <a:highlight>
                  <a:srgbClr val="FFFFFF"/>
                </a:highlight>
                <a:latin typeface="Segoe UI" panose="020B0502040204020203" pitchFamily="34" charset="0"/>
                <a:ea typeface="Times New Roman" panose="02020603050405020304" pitchFamily="18" charset="0"/>
                <a:cs typeface="Arial" panose="020B0604020202020204" pitchFamily="34" charset="0"/>
              </a:rPr>
              <a:t>Diagonal Line:</a:t>
            </a:r>
          </a:p>
          <a:p>
            <a:pPr lvl="0" algn="l" rtl="0">
              <a:lnSpc>
                <a:spcPct val="115000"/>
              </a:lnSpc>
              <a:spcAft>
                <a:spcPts val="1200"/>
              </a:spcAft>
              <a:buSzPts val="1000"/>
              <a:tabLst>
                <a:tab pos="457200" algn="l"/>
              </a:tabLst>
            </a:pPr>
            <a:r>
              <a:rPr lang="en-US" sz="2400" dirty="0">
                <a:solidFill>
                  <a:srgbClr val="000000"/>
                </a:solidFill>
                <a:effectLst/>
                <a:highlight>
                  <a:srgbClr val="FFFFFF"/>
                </a:highlight>
                <a:latin typeface="Segoe UI" panose="020B0502040204020203" pitchFamily="34" charset="0"/>
                <a:ea typeface="Times New Roman" panose="02020603050405020304" pitchFamily="18" charset="0"/>
                <a:cs typeface="Arial" panose="020B0604020202020204" pitchFamily="34" charset="0"/>
              </a:rPr>
              <a:t> he dashed diagonal line represents a random classifier that does no better than random guessing.</a:t>
            </a:r>
            <a:endParaRPr lang="en-US" sz="4400" dirty="0">
              <a:effectLst/>
              <a:highlight>
                <a:srgbClr val="FFFFFF"/>
              </a:highlight>
              <a:latin typeface="Aptos" panose="020B0004020202020204" pitchFamily="34" charset="0"/>
              <a:ea typeface="Aptos" panose="020B0004020202020204" pitchFamily="34" charset="0"/>
              <a:cs typeface="Arial" panose="020B0604020202020204" pitchFamily="34" charset="0"/>
            </a:endParaRPr>
          </a:p>
        </p:txBody>
      </p:sp>
      <p:pic>
        <p:nvPicPr>
          <p:cNvPr id="19" name="صورة 18" descr="صورة تحتوي على نص, خط, تخطيط, لقطة شاشة&#10;&#10;تم إنشاء الوصف تلقائياً">
            <a:extLst>
              <a:ext uri="{FF2B5EF4-FFF2-40B4-BE49-F238E27FC236}">
                <a16:creationId xmlns:a16="http://schemas.microsoft.com/office/drawing/2014/main" id="{5C0CF955-E44C-ED8D-63F0-E1C4ECDE7C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0" y="162426"/>
            <a:ext cx="8395970" cy="5470235"/>
          </a:xfrm>
          <a:prstGeom prst="rect">
            <a:avLst/>
          </a:prstGeom>
          <a:ln>
            <a:solidFill>
              <a:schemeClr val="tx1"/>
            </a:solidFill>
          </a:ln>
        </p:spPr>
      </p:pic>
      <p:sp>
        <p:nvSpPr>
          <p:cNvPr id="21" name="مربع نص 20">
            <a:extLst>
              <a:ext uri="{FF2B5EF4-FFF2-40B4-BE49-F238E27FC236}">
                <a16:creationId xmlns:a16="http://schemas.microsoft.com/office/drawing/2014/main" id="{0C56F606-7C81-4DEA-D7F9-5B1C85998842}"/>
              </a:ext>
            </a:extLst>
          </p:cNvPr>
          <p:cNvSpPr txBox="1"/>
          <p:nvPr/>
        </p:nvSpPr>
        <p:spPr>
          <a:xfrm>
            <a:off x="8877233" y="5755946"/>
            <a:ext cx="9172074" cy="1766830"/>
          </a:xfrm>
          <a:prstGeom prst="rect">
            <a:avLst/>
          </a:prstGeom>
          <a:noFill/>
        </p:spPr>
        <p:txBody>
          <a:bodyPr wrap="square">
            <a:spAutoFit/>
          </a:bodyPr>
          <a:lstStyle/>
          <a:p>
            <a:pPr algn="ctr" rtl="0">
              <a:lnSpc>
                <a:spcPct val="115000"/>
              </a:lnSpc>
              <a:spcAft>
                <a:spcPts val="800"/>
              </a:spcAft>
            </a:pPr>
            <a:r>
              <a:rPr lang="en-US" sz="2400" dirty="0">
                <a:solidFill>
                  <a:srgbClr val="000000"/>
                </a:solidFill>
                <a:effectLst/>
                <a:highlight>
                  <a:srgbClr val="FFFFFF"/>
                </a:highlight>
                <a:latin typeface="Segoe UI" panose="020B0502040204020203" pitchFamily="34" charset="0"/>
                <a:ea typeface="Aptos" panose="020B0004020202020204" pitchFamily="34" charset="0"/>
                <a:cs typeface="Arial" panose="020B0604020202020204" pitchFamily="34" charset="0"/>
              </a:rPr>
              <a:t>the ROC curve shows a modest performance, with the true positive rate (TPR) increasing as the false positive rate (FPR) increases. The curve is above the diagonal, indicating the model performs better than random guessing but </a:t>
            </a:r>
            <a:r>
              <a:rPr lang="en-US" sz="2400" dirty="0">
                <a:solidFill>
                  <a:srgbClr val="000000"/>
                </a:solidFill>
                <a:highlight>
                  <a:srgbClr val="FFFFFF"/>
                </a:highlight>
                <a:latin typeface="Segoe UI" panose="020B0502040204020203" pitchFamily="34" charset="0"/>
                <a:ea typeface="Aptos" panose="020B0004020202020204" pitchFamily="34" charset="0"/>
                <a:cs typeface="Arial" panose="020B0604020202020204" pitchFamily="34" charset="0"/>
              </a:rPr>
              <a:t>could be more </a:t>
            </a:r>
            <a:r>
              <a:rPr lang="en-US" sz="2400" dirty="0">
                <a:solidFill>
                  <a:srgbClr val="000000"/>
                </a:solidFill>
                <a:effectLst/>
                <a:highlight>
                  <a:srgbClr val="FFFFFF"/>
                </a:highlight>
                <a:latin typeface="Segoe UI" panose="020B0502040204020203" pitchFamily="34" charset="0"/>
                <a:ea typeface="Aptos" panose="020B0004020202020204" pitchFamily="34" charset="0"/>
                <a:cs typeface="Arial" panose="020B0604020202020204" pitchFamily="34" charset="0"/>
              </a:rPr>
              <a:t>improve.</a:t>
            </a:r>
            <a:endParaRPr lang="en-US" sz="2400" dirty="0">
              <a:effectLst/>
              <a:latin typeface="Aptos" panose="020B0004020202020204" pitchFamily="34" charset="0"/>
              <a:ea typeface="Aptos" panose="020B0004020202020204" pitchFamily="34" charset="0"/>
              <a:cs typeface="Arial" panose="020B0604020202020204" pitchFamily="34" charset="0"/>
            </a:endParaRPr>
          </a:p>
        </p:txBody>
      </p:sp>
      <p:sp>
        <p:nvSpPr>
          <p:cNvPr id="23" name="مربع نص 22">
            <a:extLst>
              <a:ext uri="{FF2B5EF4-FFF2-40B4-BE49-F238E27FC236}">
                <a16:creationId xmlns:a16="http://schemas.microsoft.com/office/drawing/2014/main" id="{5ADA155A-92FF-9E01-BD56-8E2402CDA9FD}"/>
              </a:ext>
            </a:extLst>
          </p:cNvPr>
          <p:cNvSpPr txBox="1"/>
          <p:nvPr/>
        </p:nvSpPr>
        <p:spPr>
          <a:xfrm>
            <a:off x="461211" y="7912062"/>
            <a:ext cx="8474242" cy="2705549"/>
          </a:xfrm>
          <a:prstGeom prst="rect">
            <a:avLst/>
          </a:prstGeom>
          <a:noFill/>
        </p:spPr>
        <p:txBody>
          <a:bodyPr wrap="square">
            <a:spAutoFit/>
          </a:bodyPr>
          <a:lstStyle/>
          <a:p>
            <a:pPr algn="l" rtl="0">
              <a:lnSpc>
                <a:spcPct val="115000"/>
              </a:lnSpc>
              <a:spcAft>
                <a:spcPts val="1200"/>
              </a:spcAft>
            </a:pPr>
            <a:r>
              <a:rPr lang="en-US" sz="4000" b="1" dirty="0">
                <a:ln w="0"/>
                <a:solidFill>
                  <a:schemeClr val="accent1"/>
                </a:solidFill>
                <a:highlight>
                  <a:srgbClr val="FFFFFF"/>
                </a:highlight>
                <a:latin typeface="Segoe UI" panose="020B0502040204020203" pitchFamily="34" charset="0"/>
                <a:ea typeface="Times New Roman" panose="02020603050405020304" pitchFamily="18" charset="0"/>
                <a:cs typeface="Arial" panose="020B0604020202020204" pitchFamily="34" charset="0"/>
              </a:rPr>
              <a:t>4- Recall Evaluation:</a:t>
            </a:r>
            <a:endParaRPr lang="en-US" sz="6000" b="1" dirty="0">
              <a:ln w="0"/>
              <a:solidFill>
                <a:schemeClr val="accent1"/>
              </a:solidFill>
              <a:highlight>
                <a:srgbClr val="FFFFFF"/>
              </a:highlight>
              <a:latin typeface="Aptos" panose="020B0004020202020204" pitchFamily="34" charset="0"/>
              <a:ea typeface="Aptos" panose="020B0004020202020204" pitchFamily="34" charset="0"/>
              <a:cs typeface="Arial" panose="020B0604020202020204" pitchFamily="34" charset="0"/>
            </a:endParaRPr>
          </a:p>
          <a:p>
            <a:pPr algn="l" rtl="0">
              <a:lnSpc>
                <a:spcPct val="115000"/>
              </a:lnSpc>
              <a:spcAft>
                <a:spcPts val="600"/>
              </a:spcAft>
            </a:pPr>
            <a:r>
              <a:rPr lang="en-US" sz="2400" dirty="0">
                <a:solidFill>
                  <a:srgbClr val="000000"/>
                </a:solidFill>
                <a:effectLst/>
                <a:highlight>
                  <a:srgbClr val="FFFFFF"/>
                </a:highlight>
                <a:latin typeface="Segoe UI" panose="020B0502040204020203" pitchFamily="34" charset="0"/>
                <a:ea typeface="Times New Roman" panose="02020603050405020304" pitchFamily="18" charset="0"/>
                <a:cs typeface="Arial" panose="020B0604020202020204" pitchFamily="34" charset="0"/>
              </a:rPr>
              <a:t>Recall measures the model's ability to correctly identify positive cases, ensuring the model's effectiveness in predicting students' academic performance.</a:t>
            </a:r>
            <a:endParaRPr lang="en-US" sz="4400" dirty="0">
              <a:effectLst/>
              <a:highlight>
                <a:srgbClr val="FFFFFF"/>
              </a:highlight>
              <a:latin typeface="Aptos" panose="020B0004020202020204" pitchFamily="34" charset="0"/>
              <a:ea typeface="Aptos" panose="020B0004020202020204" pitchFamily="34" charset="0"/>
              <a:cs typeface="Arial" panose="020B0604020202020204" pitchFamily="34" charset="0"/>
            </a:endParaRPr>
          </a:p>
          <a:p>
            <a:pPr algn="l" rtl="0">
              <a:lnSpc>
                <a:spcPct val="115000"/>
              </a:lnSpc>
              <a:spcAft>
                <a:spcPts val="600"/>
              </a:spcAft>
            </a:pPr>
            <a:r>
              <a:rPr lang="en-US" sz="2400" dirty="0">
                <a:effectLst/>
                <a:highlight>
                  <a:srgbClr val="FFFFFF"/>
                </a:highlight>
                <a:latin typeface="Segoe UI" panose="020B0502040204020203" pitchFamily="34" charset="0"/>
                <a:ea typeface="Times New Roman" panose="02020603050405020304" pitchFamily="18" charset="0"/>
                <a:cs typeface="Arial" panose="020B0604020202020204" pitchFamily="34" charset="0"/>
              </a:rPr>
              <a:t> </a:t>
            </a:r>
            <a:endParaRPr lang="en-US" sz="4400" dirty="0">
              <a:effectLst/>
              <a:highlight>
                <a:srgbClr val="FFFFFF"/>
              </a:highlight>
              <a:latin typeface="Aptos" panose="020B0004020202020204" pitchFamily="34" charset="0"/>
              <a:ea typeface="Aptos" panose="020B0004020202020204" pitchFamily="34" charset="0"/>
              <a:cs typeface="Arial" panose="020B0604020202020204" pitchFamily="34" charset="0"/>
            </a:endParaRPr>
          </a:p>
        </p:txBody>
      </p:sp>
      <p:sp>
        <p:nvSpPr>
          <p:cNvPr id="25" name="مربع نص 24">
            <a:extLst>
              <a:ext uri="{FF2B5EF4-FFF2-40B4-BE49-F238E27FC236}">
                <a16:creationId xmlns:a16="http://schemas.microsoft.com/office/drawing/2014/main" id="{F9B8C014-FB93-30EF-2B2B-31BC6CA7A2EA}"/>
              </a:ext>
            </a:extLst>
          </p:cNvPr>
          <p:cNvSpPr txBox="1"/>
          <p:nvPr/>
        </p:nvSpPr>
        <p:spPr>
          <a:xfrm>
            <a:off x="9386570" y="8426787"/>
            <a:ext cx="8153400" cy="1676100"/>
          </a:xfrm>
          <a:prstGeom prst="rect">
            <a:avLst/>
          </a:prstGeom>
          <a:noFill/>
          <a:ln>
            <a:solidFill>
              <a:schemeClr val="tx1"/>
            </a:solidFill>
          </a:ln>
        </p:spPr>
        <p:txBody>
          <a:bodyPr wrap="square">
            <a:spAutoFit/>
          </a:bodyPr>
          <a:lstStyle/>
          <a:p>
            <a:pPr algn="l" rtl="0">
              <a:lnSpc>
                <a:spcPct val="115000"/>
              </a:lnSpc>
              <a:spcAft>
                <a:spcPts val="600"/>
              </a:spcAft>
            </a:pPr>
            <a:endParaRPr lang="en-US" sz="2400" dirty="0">
              <a:effectLst/>
              <a:highlight>
                <a:srgbClr val="FFFFFF"/>
              </a:highlight>
              <a:latin typeface="Aptos" panose="020B0004020202020204" pitchFamily="34" charset="0"/>
              <a:ea typeface="Aptos" panose="020B0004020202020204" pitchFamily="34" charset="0"/>
              <a:cs typeface="Arial" panose="020B0604020202020204" pitchFamily="34" charset="0"/>
            </a:endParaRPr>
          </a:p>
          <a:p>
            <a:pPr algn="ctr" rtl="0" latinLnBrk="1">
              <a:lnSpc>
                <a:spcPct val="115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3600" dirty="0">
                <a:solidFill>
                  <a:srgbClr val="000000"/>
                </a:solidFill>
                <a:effectLst/>
                <a:highlight>
                  <a:srgbClr val="FFFFFF"/>
                </a:highlight>
                <a:latin typeface="var(--jp-code-font-family)"/>
                <a:ea typeface="Times New Roman" panose="02020603050405020304" pitchFamily="18" charset="0"/>
                <a:cs typeface="Courier New" panose="02070309020205020404" pitchFamily="49" charset="0"/>
              </a:rPr>
              <a:t>Recall: 0.7551020408163265</a:t>
            </a:r>
            <a:endParaRPr lang="ar-SA" sz="3600" dirty="0">
              <a:solidFill>
                <a:srgbClr val="000000"/>
              </a:solidFill>
              <a:effectLst/>
              <a:highlight>
                <a:srgbClr val="FFFFFF"/>
              </a:highlight>
              <a:latin typeface="var(--jp-code-font-family)"/>
              <a:ea typeface="Times New Roman" panose="02020603050405020304" pitchFamily="18" charset="0"/>
              <a:cs typeface="Courier New" panose="02070309020205020404" pitchFamily="49" charset="0"/>
            </a:endParaRPr>
          </a:p>
          <a:p>
            <a:pPr algn="ctr" rtl="0" latinLnBrk="1">
              <a:lnSpc>
                <a:spcPct val="115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ar-SA" sz="2000" dirty="0">
              <a:solidFill>
                <a:srgbClr val="000000"/>
              </a:solidFill>
              <a:effectLst/>
              <a:highlight>
                <a:srgbClr val="FFFFFF"/>
              </a:highlight>
              <a:latin typeface="var(--jp-code-font-family)"/>
              <a:ea typeface="Times New Roman" panose="02020603050405020304" pitchFamily="18" charset="0"/>
              <a:cs typeface="Courier New" panose="02070309020205020404" pitchFamily="49"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مربع نص 12">
            <a:extLst>
              <a:ext uri="{FF2B5EF4-FFF2-40B4-BE49-F238E27FC236}">
                <a16:creationId xmlns:a16="http://schemas.microsoft.com/office/drawing/2014/main" id="{05076208-CDFB-C437-5AD4-F8C3D6F82033}"/>
              </a:ext>
            </a:extLst>
          </p:cNvPr>
          <p:cNvSpPr txBox="1"/>
          <p:nvPr/>
        </p:nvSpPr>
        <p:spPr>
          <a:xfrm>
            <a:off x="304800" y="2082432"/>
            <a:ext cx="13868400" cy="6986528"/>
          </a:xfrm>
          <a:prstGeom prst="rect">
            <a:avLst/>
          </a:prstGeom>
          <a:noFill/>
        </p:spPr>
        <p:txBody>
          <a:bodyPr wrap="square">
            <a:spAutoFit/>
          </a:bodyPr>
          <a:lstStyle/>
          <a:p>
            <a:pPr algn="l"/>
            <a:r>
              <a:rPr lang="en-US" sz="3200" b="1" i="0" dirty="0">
                <a:solidFill>
                  <a:srgbClr val="0D0D0D"/>
                </a:solidFill>
                <a:effectLst/>
                <a:highlight>
                  <a:srgbClr val="FFFFFF"/>
                </a:highlight>
                <a:latin typeface="ui-sans-serif"/>
              </a:rPr>
              <a:t>Techniques Used to Improve Model Accuracy:</a:t>
            </a:r>
          </a:p>
          <a:p>
            <a:pPr algn="l"/>
            <a:endParaRPr lang="en-US" sz="3200" b="0" i="0" dirty="0">
              <a:solidFill>
                <a:srgbClr val="0D0D0D"/>
              </a:solidFill>
              <a:effectLst/>
              <a:highlight>
                <a:srgbClr val="FFFFFF"/>
              </a:highlight>
              <a:latin typeface="ui-sans-serif"/>
            </a:endParaRPr>
          </a:p>
          <a:p>
            <a:pPr algn="l">
              <a:buFont typeface="+mj-lt"/>
              <a:buAutoNum type="arabicPeriod"/>
            </a:pPr>
            <a:r>
              <a:rPr lang="en-US" sz="3200" b="1" i="0" dirty="0">
                <a:solidFill>
                  <a:srgbClr val="0D0D0D"/>
                </a:solidFill>
                <a:effectLst/>
                <a:highlight>
                  <a:srgbClr val="FFFFFF"/>
                </a:highlight>
                <a:latin typeface="ui-sans-serif"/>
              </a:rPr>
              <a:t>Recall Evaluation</a:t>
            </a:r>
            <a:r>
              <a:rPr lang="en-US" sz="3200" b="0" i="0" dirty="0">
                <a:solidFill>
                  <a:srgbClr val="0D0D0D"/>
                </a:solidFill>
                <a:effectLst/>
                <a:highlight>
                  <a:srgbClr val="FFFFFF"/>
                </a:highlight>
                <a:latin typeface="ui-sans-serif"/>
              </a:rPr>
              <a:t>: We assessed the model using recall, focusing on its ability to correctly identify positive cases and predict students' academic performance.</a:t>
            </a:r>
          </a:p>
          <a:p>
            <a:pPr algn="l">
              <a:buFont typeface="+mj-lt"/>
              <a:buAutoNum type="arabicPeriod"/>
            </a:pPr>
            <a:endParaRPr lang="en-US" sz="3200" b="0" i="0" dirty="0">
              <a:solidFill>
                <a:srgbClr val="0D0D0D"/>
              </a:solidFill>
              <a:effectLst/>
              <a:highlight>
                <a:srgbClr val="FFFFFF"/>
              </a:highlight>
              <a:latin typeface="ui-sans-serif"/>
            </a:endParaRPr>
          </a:p>
          <a:p>
            <a:pPr algn="l">
              <a:buFont typeface="+mj-lt"/>
              <a:buAutoNum type="arabicPeriod"/>
            </a:pPr>
            <a:r>
              <a:rPr lang="en-US" sz="3200" b="1" i="0" dirty="0">
                <a:solidFill>
                  <a:srgbClr val="0D0D0D"/>
                </a:solidFill>
                <a:effectLst/>
                <a:highlight>
                  <a:srgbClr val="FFFFFF"/>
                </a:highlight>
                <a:latin typeface="ui-sans-serif"/>
              </a:rPr>
              <a:t>Hyperparameter Tuning</a:t>
            </a:r>
            <a:r>
              <a:rPr lang="en-US" sz="3200" b="0" i="0" dirty="0">
                <a:solidFill>
                  <a:srgbClr val="0D0D0D"/>
                </a:solidFill>
                <a:effectLst/>
                <a:highlight>
                  <a:srgbClr val="FFFFFF"/>
                </a:highlight>
                <a:latin typeface="ui-sans-serif"/>
              </a:rPr>
              <a:t>: Using </a:t>
            </a:r>
            <a:r>
              <a:rPr lang="en-US" sz="3200" b="0" i="0" dirty="0" err="1">
                <a:solidFill>
                  <a:srgbClr val="0D0D0D"/>
                </a:solidFill>
                <a:effectLst/>
                <a:highlight>
                  <a:srgbClr val="FFFFFF"/>
                </a:highlight>
                <a:latin typeface="ui-sans-serif"/>
              </a:rPr>
              <a:t>GridSearchCV</a:t>
            </a:r>
            <a:r>
              <a:rPr lang="en-US" sz="3200" b="0" i="0" dirty="0">
                <a:solidFill>
                  <a:srgbClr val="0D0D0D"/>
                </a:solidFill>
                <a:effectLst/>
                <a:highlight>
                  <a:srgbClr val="FFFFFF"/>
                </a:highlight>
                <a:latin typeface="ui-sans-serif"/>
              </a:rPr>
              <a:t>, we optimized hyperparameters, testing various values for the C and solver parameters ('</a:t>
            </a:r>
            <a:r>
              <a:rPr lang="en-US" sz="3200" b="0" i="0" dirty="0" err="1">
                <a:solidFill>
                  <a:srgbClr val="0D0D0D"/>
                </a:solidFill>
                <a:effectLst/>
                <a:highlight>
                  <a:srgbClr val="FFFFFF"/>
                </a:highlight>
                <a:latin typeface="ui-sans-serif"/>
              </a:rPr>
              <a:t>liblinear</a:t>
            </a:r>
            <a:r>
              <a:rPr lang="en-US" sz="3200" b="0" i="0" dirty="0">
                <a:solidFill>
                  <a:srgbClr val="0D0D0D"/>
                </a:solidFill>
                <a:effectLst/>
                <a:highlight>
                  <a:srgbClr val="FFFFFF"/>
                </a:highlight>
                <a:latin typeface="ui-sans-serif"/>
              </a:rPr>
              <a:t>', '</a:t>
            </a:r>
            <a:r>
              <a:rPr lang="en-US" sz="3200" b="0" i="0" dirty="0" err="1">
                <a:solidFill>
                  <a:srgbClr val="0D0D0D"/>
                </a:solidFill>
                <a:effectLst/>
                <a:highlight>
                  <a:srgbClr val="FFFFFF"/>
                </a:highlight>
                <a:latin typeface="ui-sans-serif"/>
              </a:rPr>
              <a:t>lbfgs</a:t>
            </a:r>
            <a:r>
              <a:rPr lang="en-US" sz="3200" b="0" i="0" dirty="0">
                <a:solidFill>
                  <a:srgbClr val="0D0D0D"/>
                </a:solidFill>
                <a:effectLst/>
                <a:highlight>
                  <a:srgbClr val="FFFFFF"/>
                </a:highlight>
                <a:latin typeface="ui-sans-serif"/>
              </a:rPr>
              <a:t>') to enhance accuracy based on recall.</a:t>
            </a:r>
          </a:p>
          <a:p>
            <a:pPr algn="l">
              <a:buFont typeface="+mj-lt"/>
              <a:buAutoNum type="arabicPeriod"/>
            </a:pPr>
            <a:endParaRPr lang="en-US" sz="3200" b="0" i="0" dirty="0">
              <a:solidFill>
                <a:srgbClr val="0D0D0D"/>
              </a:solidFill>
              <a:effectLst/>
              <a:highlight>
                <a:srgbClr val="FFFFFF"/>
              </a:highlight>
              <a:latin typeface="ui-sans-serif"/>
            </a:endParaRPr>
          </a:p>
          <a:p>
            <a:pPr algn="l">
              <a:buFont typeface="+mj-lt"/>
              <a:buAutoNum type="arabicPeriod"/>
            </a:pPr>
            <a:r>
              <a:rPr lang="en-US" sz="3200" b="1" i="0" dirty="0">
                <a:solidFill>
                  <a:srgbClr val="0D0D0D"/>
                </a:solidFill>
                <a:effectLst/>
                <a:highlight>
                  <a:srgbClr val="FFFFFF"/>
                </a:highlight>
                <a:latin typeface="ui-sans-serif"/>
              </a:rPr>
              <a:t>Optimal Data Splitting</a:t>
            </a:r>
            <a:r>
              <a:rPr lang="en-US" sz="3200" b="0" i="0" dirty="0">
                <a:solidFill>
                  <a:srgbClr val="0D0D0D"/>
                </a:solidFill>
                <a:effectLst/>
                <a:highlight>
                  <a:srgbClr val="FFFFFF"/>
                </a:highlight>
                <a:latin typeface="ui-sans-serif"/>
              </a:rPr>
              <a:t>: By testing several random splits, we identified an optimal random state (78657622) that ensured high performance and reproducibility.</a:t>
            </a:r>
          </a:p>
          <a:p>
            <a:pPr algn="l">
              <a:buFont typeface="+mj-lt"/>
              <a:buAutoNum type="arabicPeriod"/>
            </a:pPr>
            <a:endParaRPr lang="en-US" sz="3200" b="0" i="0" dirty="0">
              <a:solidFill>
                <a:srgbClr val="0D0D0D"/>
              </a:solidFill>
              <a:effectLst/>
              <a:highlight>
                <a:srgbClr val="FFFFFF"/>
              </a:highlight>
              <a:latin typeface="ui-sans-serif"/>
            </a:endParaRPr>
          </a:p>
          <a:p>
            <a:pPr algn="l">
              <a:buFont typeface="+mj-lt"/>
              <a:buAutoNum type="arabicPeriod"/>
            </a:pPr>
            <a:r>
              <a:rPr lang="en-US" sz="3200" b="1" i="0" dirty="0">
                <a:solidFill>
                  <a:srgbClr val="0D0D0D"/>
                </a:solidFill>
                <a:effectLst/>
                <a:highlight>
                  <a:srgbClr val="FFFFFF"/>
                </a:highlight>
                <a:latin typeface="ui-sans-serif"/>
              </a:rPr>
              <a:t>Final Model Evaluation</a:t>
            </a:r>
            <a:r>
              <a:rPr lang="en-US" sz="3200" b="0" i="0" dirty="0">
                <a:solidFill>
                  <a:srgbClr val="0D0D0D"/>
                </a:solidFill>
                <a:effectLst/>
                <a:highlight>
                  <a:srgbClr val="FFFFFF"/>
                </a:highlight>
                <a:latin typeface="ui-sans-serif"/>
              </a:rPr>
              <a:t>: After improvements, we re-evaluated the model to confirm its effectiveness.</a:t>
            </a:r>
          </a:p>
        </p:txBody>
      </p:sp>
      <p:sp>
        <p:nvSpPr>
          <p:cNvPr id="14" name="TextBox 15">
            <a:extLst>
              <a:ext uri="{FF2B5EF4-FFF2-40B4-BE49-F238E27FC236}">
                <a16:creationId xmlns:a16="http://schemas.microsoft.com/office/drawing/2014/main" id="{BA4C283F-235D-7BF5-526D-C19344E66589}"/>
              </a:ext>
            </a:extLst>
          </p:cNvPr>
          <p:cNvSpPr txBox="1"/>
          <p:nvPr/>
        </p:nvSpPr>
        <p:spPr>
          <a:xfrm>
            <a:off x="-1219200" y="516490"/>
            <a:ext cx="12110628" cy="1565942"/>
          </a:xfrm>
          <a:prstGeom prst="rect">
            <a:avLst/>
          </a:prstGeom>
        </p:spPr>
        <p:txBody>
          <a:bodyPr wrap="square" lIns="0" tIns="0" rIns="0" bIns="0" rtlCol="0" anchor="t">
            <a:spAutoFit/>
          </a:bodyPr>
          <a:lstStyle/>
          <a:p>
            <a:pPr algn="ctr">
              <a:lnSpc>
                <a:spcPts val="5871"/>
              </a:lnSpc>
              <a:spcBef>
                <a:spcPct val="0"/>
              </a:spcBef>
            </a:pPr>
            <a:r>
              <a:rPr lang="en-US" sz="6600" spc="-343" dirty="0">
                <a:solidFill>
                  <a:srgbClr val="000000"/>
                </a:solidFill>
                <a:latin typeface="DM Sans"/>
              </a:rPr>
              <a:t>7. Model Improvements</a:t>
            </a:r>
          </a:p>
          <a:p>
            <a:pPr algn="ctr">
              <a:lnSpc>
                <a:spcPts val="5871"/>
              </a:lnSpc>
              <a:spcBef>
                <a:spcPct val="0"/>
              </a:spcBef>
            </a:pPr>
            <a:r>
              <a:rPr lang="en-US" sz="6600" spc="-343" dirty="0">
                <a:solidFill>
                  <a:srgbClr val="000000"/>
                </a:solidFill>
                <a:latin typeface="DM Sans"/>
              </a:rPr>
              <a:t> </a:t>
            </a:r>
          </a:p>
        </p:txBody>
      </p:sp>
      <p:sp>
        <p:nvSpPr>
          <p:cNvPr id="15" name="Freeform 7">
            <a:extLst>
              <a:ext uri="{FF2B5EF4-FFF2-40B4-BE49-F238E27FC236}">
                <a16:creationId xmlns:a16="http://schemas.microsoft.com/office/drawing/2014/main" id="{B09164D9-6F2E-0BFF-0290-7DCA13540F53}"/>
              </a:ext>
            </a:extLst>
          </p:cNvPr>
          <p:cNvSpPr/>
          <p:nvPr/>
        </p:nvSpPr>
        <p:spPr>
          <a:xfrm>
            <a:off x="14325600" y="5575696"/>
            <a:ext cx="4382226" cy="4801244"/>
          </a:xfrm>
          <a:custGeom>
            <a:avLst/>
            <a:gdLst/>
            <a:ahLst/>
            <a:cxnLst/>
            <a:rect l="l" t="t" r="r" b="b"/>
            <a:pathLst>
              <a:path w="4382226" h="4801244">
                <a:moveTo>
                  <a:pt x="0" y="0"/>
                </a:moveTo>
                <a:lnTo>
                  <a:pt x="4382226" y="0"/>
                </a:lnTo>
                <a:lnTo>
                  <a:pt x="4382226" y="4801244"/>
                </a:lnTo>
                <a:lnTo>
                  <a:pt x="0" y="48012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3">
            <a:extLst>
              <a:ext uri="{FF2B5EF4-FFF2-40B4-BE49-F238E27FC236}">
                <a16:creationId xmlns:a16="http://schemas.microsoft.com/office/drawing/2014/main" id="{58945CB8-2FBD-3F4F-62F8-394DEA24A187}"/>
              </a:ext>
            </a:extLst>
          </p:cNvPr>
          <p:cNvSpPr/>
          <p:nvPr/>
        </p:nvSpPr>
        <p:spPr>
          <a:xfrm rot="15348523">
            <a:off x="15838025" y="1989334"/>
            <a:ext cx="4899948" cy="3344214"/>
          </a:xfrm>
          <a:custGeom>
            <a:avLst/>
            <a:gdLst/>
            <a:ahLst/>
            <a:cxnLst/>
            <a:rect l="l" t="t" r="r" b="b"/>
            <a:pathLst>
              <a:path w="4899948" h="3344214">
                <a:moveTo>
                  <a:pt x="0" y="0"/>
                </a:moveTo>
                <a:lnTo>
                  <a:pt x="4899947" y="0"/>
                </a:lnTo>
                <a:lnTo>
                  <a:pt x="4899947" y="3344214"/>
                </a:lnTo>
                <a:lnTo>
                  <a:pt x="0" y="33442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7" name="Freeform 13">
            <a:extLst>
              <a:ext uri="{FF2B5EF4-FFF2-40B4-BE49-F238E27FC236}">
                <a16:creationId xmlns:a16="http://schemas.microsoft.com/office/drawing/2014/main" id="{3F47AC53-F651-A984-6962-82F6E896A1AC}"/>
              </a:ext>
            </a:extLst>
          </p:cNvPr>
          <p:cNvSpPr/>
          <p:nvPr/>
        </p:nvSpPr>
        <p:spPr>
          <a:xfrm>
            <a:off x="12620752" y="-1260256"/>
            <a:ext cx="3104522" cy="3342688"/>
          </a:xfrm>
          <a:custGeom>
            <a:avLst/>
            <a:gdLst/>
            <a:ahLst/>
            <a:cxnLst/>
            <a:rect l="l" t="t" r="r" b="b"/>
            <a:pathLst>
              <a:path w="3104522" h="3342688">
                <a:moveTo>
                  <a:pt x="0" y="0"/>
                </a:moveTo>
                <a:lnTo>
                  <a:pt x="3104522" y="0"/>
                </a:lnTo>
                <a:lnTo>
                  <a:pt x="3104522" y="3342689"/>
                </a:lnTo>
                <a:lnTo>
                  <a:pt x="0" y="3342689"/>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5"/>
          <p:cNvSpPr txBox="1"/>
          <p:nvPr/>
        </p:nvSpPr>
        <p:spPr>
          <a:xfrm>
            <a:off x="1035698" y="167946"/>
            <a:ext cx="6470002" cy="1179810"/>
          </a:xfrm>
          <a:prstGeom prst="rect">
            <a:avLst/>
          </a:prstGeom>
        </p:spPr>
        <p:txBody>
          <a:bodyPr wrap="square" lIns="0" tIns="0" rIns="0" bIns="0" rtlCol="0" anchor="t">
            <a:spAutoFit/>
          </a:bodyPr>
          <a:lstStyle/>
          <a:p>
            <a:pPr algn="ctr">
              <a:lnSpc>
                <a:spcPts val="11200"/>
              </a:lnSpc>
              <a:spcBef>
                <a:spcPct val="0"/>
              </a:spcBef>
            </a:pPr>
            <a:r>
              <a:rPr lang="en-US" sz="2800" b="1" dirty="0" err="1">
                <a:ln w="0"/>
                <a:effectLst>
                  <a:outerShdw blurRad="38100" dist="19050" dir="2700000" algn="tl" rotWithShape="0">
                    <a:schemeClr val="dk1">
                      <a:alpha val="40000"/>
                    </a:schemeClr>
                  </a:outerShdw>
                </a:effectLst>
                <a:latin typeface="DM Sans"/>
              </a:rPr>
              <a:t>Accurcy&amp;Recall</a:t>
            </a:r>
            <a:endParaRPr lang="en-US" sz="2800" b="1" dirty="0">
              <a:ln w="0"/>
              <a:effectLst>
                <a:outerShdw blurRad="38100" dist="19050" dir="2700000" algn="tl" rotWithShape="0">
                  <a:schemeClr val="dk1">
                    <a:alpha val="40000"/>
                  </a:schemeClr>
                </a:outerShdw>
              </a:effectLst>
              <a:latin typeface="DM Sans"/>
            </a:endParaRPr>
          </a:p>
        </p:txBody>
      </p:sp>
      <p:sp>
        <p:nvSpPr>
          <p:cNvPr id="16" name="TextBox 16"/>
          <p:cNvSpPr txBox="1"/>
          <p:nvPr/>
        </p:nvSpPr>
        <p:spPr>
          <a:xfrm>
            <a:off x="12039600" y="576392"/>
            <a:ext cx="3871616" cy="1179810"/>
          </a:xfrm>
          <a:prstGeom prst="rect">
            <a:avLst/>
          </a:prstGeom>
        </p:spPr>
        <p:txBody>
          <a:bodyPr wrap="square" lIns="0" tIns="0" rIns="0" bIns="0" rtlCol="0" anchor="t">
            <a:spAutoFit/>
          </a:bodyPr>
          <a:lstStyle/>
          <a:p>
            <a:pPr algn="ctr">
              <a:lnSpc>
                <a:spcPts val="11200"/>
              </a:lnSpc>
              <a:spcBef>
                <a:spcPct val="0"/>
              </a:spcBef>
            </a:pPr>
            <a:r>
              <a:rPr lang="en-US" sz="2800" b="1" dirty="0">
                <a:ln w="0"/>
                <a:effectLst>
                  <a:outerShdw blurRad="38100" dist="19050" dir="2700000" algn="tl" rotWithShape="0">
                    <a:schemeClr val="dk1">
                      <a:alpha val="40000"/>
                    </a:schemeClr>
                  </a:outerShdw>
                </a:effectLst>
                <a:latin typeface="DM Sans"/>
              </a:rPr>
              <a:t>ROC curve</a:t>
            </a:r>
          </a:p>
        </p:txBody>
      </p:sp>
      <p:sp>
        <p:nvSpPr>
          <p:cNvPr id="18" name="TextBox 18"/>
          <p:cNvSpPr txBox="1"/>
          <p:nvPr/>
        </p:nvSpPr>
        <p:spPr>
          <a:xfrm>
            <a:off x="479749" y="2805546"/>
            <a:ext cx="7581900" cy="891270"/>
          </a:xfrm>
          <a:prstGeom prst="rect">
            <a:avLst/>
          </a:prstGeom>
        </p:spPr>
        <p:txBody>
          <a:bodyPr wrap="square" lIns="0" tIns="0" rIns="0" bIns="0" rtlCol="0" anchor="t">
            <a:spAutoFit/>
          </a:bodyPr>
          <a:lstStyle/>
          <a:p>
            <a:pPr algn="ctr">
              <a:lnSpc>
                <a:spcPts val="8215"/>
              </a:lnSpc>
              <a:spcBef>
                <a:spcPct val="0"/>
              </a:spcBef>
            </a:pPr>
            <a:r>
              <a:rPr lang="en-US" sz="2800" b="1" dirty="0">
                <a:ln w="0"/>
                <a:effectLst>
                  <a:outerShdw blurRad="38100" dist="19050" dir="2700000" algn="tl" rotWithShape="0">
                    <a:schemeClr val="dk1">
                      <a:alpha val="40000"/>
                    </a:schemeClr>
                  </a:outerShdw>
                </a:effectLst>
                <a:latin typeface="DM Sans"/>
              </a:rPr>
              <a:t>Confusion Matrix</a:t>
            </a:r>
          </a:p>
        </p:txBody>
      </p:sp>
      <p:sp>
        <p:nvSpPr>
          <p:cNvPr id="22" name="مربع نص 21">
            <a:extLst>
              <a:ext uri="{FF2B5EF4-FFF2-40B4-BE49-F238E27FC236}">
                <a16:creationId xmlns:a16="http://schemas.microsoft.com/office/drawing/2014/main" id="{DCDFFC27-C955-DC28-E689-300361ACC441}"/>
              </a:ext>
            </a:extLst>
          </p:cNvPr>
          <p:cNvSpPr txBox="1"/>
          <p:nvPr/>
        </p:nvSpPr>
        <p:spPr>
          <a:xfrm>
            <a:off x="2971800" y="88381"/>
            <a:ext cx="11702714" cy="707886"/>
          </a:xfrm>
          <a:prstGeom prst="rect">
            <a:avLst/>
          </a:prstGeom>
          <a:noFill/>
        </p:spPr>
        <p:txBody>
          <a:bodyPr wrap="square">
            <a:spAutoFit/>
          </a:bodyPr>
          <a:lstStyle/>
          <a:p>
            <a:pPr algn="ctr"/>
            <a:r>
              <a:rPr lang="en-US" sz="4000" b="1" i="0" dirty="0">
                <a:solidFill>
                  <a:srgbClr val="0D0D0D"/>
                </a:solidFill>
                <a:effectLst/>
                <a:highlight>
                  <a:srgbClr val="FFFFFF"/>
                </a:highlight>
                <a:latin typeface="ui-sans-serif"/>
              </a:rPr>
              <a:t>Final Model Evaluation</a:t>
            </a:r>
            <a:endParaRPr lang="en-US" sz="4000" dirty="0"/>
          </a:p>
        </p:txBody>
      </p:sp>
      <p:pic>
        <p:nvPicPr>
          <p:cNvPr id="24" name="صورة 23" descr="صورة تحتوي على نص, خط, لقطة شاشة, تخطيط&#10;&#10;تم إنشاء الوصف تلقائياً">
            <a:extLst>
              <a:ext uri="{FF2B5EF4-FFF2-40B4-BE49-F238E27FC236}">
                <a16:creationId xmlns:a16="http://schemas.microsoft.com/office/drawing/2014/main" id="{D1BF8D21-5440-1DFD-A16F-C093968A77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04548" y="1924585"/>
            <a:ext cx="7030976" cy="5617341"/>
          </a:xfrm>
          <a:prstGeom prst="rect">
            <a:avLst/>
          </a:prstGeom>
          <a:ln>
            <a:solidFill>
              <a:schemeClr val="tx1"/>
            </a:solidFill>
          </a:ln>
        </p:spPr>
      </p:pic>
      <p:pic>
        <p:nvPicPr>
          <p:cNvPr id="26" name="صورة 25" descr="صورة تحتوي على نص, لقطة شاشة, رسم بياني&#10;&#10;تم إنشاء الوصف تلقائياً">
            <a:extLst>
              <a:ext uri="{FF2B5EF4-FFF2-40B4-BE49-F238E27FC236}">
                <a16:creationId xmlns:a16="http://schemas.microsoft.com/office/drawing/2014/main" id="{7CC7504F-737E-E747-D567-1D0F86ABB3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919" y="3696816"/>
            <a:ext cx="7030977" cy="5028084"/>
          </a:xfrm>
          <a:prstGeom prst="rect">
            <a:avLst/>
          </a:prstGeom>
          <a:ln>
            <a:solidFill>
              <a:schemeClr val="tx1"/>
            </a:solidFill>
          </a:ln>
        </p:spPr>
      </p:pic>
      <p:sp>
        <p:nvSpPr>
          <p:cNvPr id="28" name="مربع نص 27">
            <a:extLst>
              <a:ext uri="{FF2B5EF4-FFF2-40B4-BE49-F238E27FC236}">
                <a16:creationId xmlns:a16="http://schemas.microsoft.com/office/drawing/2014/main" id="{5A60F806-5F58-5B84-56D8-C6356E547CFF}"/>
              </a:ext>
            </a:extLst>
          </p:cNvPr>
          <p:cNvSpPr txBox="1"/>
          <p:nvPr/>
        </p:nvSpPr>
        <p:spPr>
          <a:xfrm>
            <a:off x="10334291" y="7928751"/>
            <a:ext cx="7771489" cy="1770293"/>
          </a:xfrm>
          <a:prstGeom prst="rect">
            <a:avLst/>
          </a:prstGeom>
          <a:noFill/>
        </p:spPr>
        <p:txBody>
          <a:bodyPr wrap="square">
            <a:spAutoFit/>
          </a:bodyPr>
          <a:lstStyle/>
          <a:p>
            <a:pPr algn="ctr" rtl="0">
              <a:lnSpc>
                <a:spcPct val="115000"/>
              </a:lnSpc>
              <a:spcAft>
                <a:spcPts val="800"/>
              </a:spcAft>
            </a:pPr>
            <a:r>
              <a:rPr lang="en-US" sz="2400" dirty="0">
                <a:effectLst/>
                <a:latin typeface="Aptos" panose="020B0004020202020204" pitchFamily="34" charset="0"/>
                <a:ea typeface="Aptos" panose="020B0004020202020204" pitchFamily="34" charset="0"/>
                <a:cs typeface="Arial" panose="020B0604020202020204" pitchFamily="34" charset="0"/>
              </a:rPr>
              <a:t>The ROC curve of the improved Logistic Regression model is closer to the top-left corner, showing a higher true positive rate for a given false positive rate. This indicates a significant increase in the model's predictive power.</a:t>
            </a:r>
          </a:p>
        </p:txBody>
      </p:sp>
      <p:sp>
        <p:nvSpPr>
          <p:cNvPr id="30" name="مربع نص 29">
            <a:extLst>
              <a:ext uri="{FF2B5EF4-FFF2-40B4-BE49-F238E27FC236}">
                <a16:creationId xmlns:a16="http://schemas.microsoft.com/office/drawing/2014/main" id="{89558157-11A4-E4A0-C5BF-BC63578954D3}"/>
              </a:ext>
            </a:extLst>
          </p:cNvPr>
          <p:cNvSpPr txBox="1"/>
          <p:nvPr/>
        </p:nvSpPr>
        <p:spPr>
          <a:xfrm>
            <a:off x="549723" y="1425425"/>
            <a:ext cx="7033731" cy="1825756"/>
          </a:xfrm>
          <a:prstGeom prst="rect">
            <a:avLst/>
          </a:prstGeom>
          <a:noFill/>
          <a:ln>
            <a:solidFill>
              <a:schemeClr val="tx1"/>
            </a:solidFill>
          </a:ln>
        </p:spPr>
        <p:txBody>
          <a:bodyPr wrap="square">
            <a:spAutoFit/>
          </a:bodyPr>
          <a:lstStyle/>
          <a:p>
            <a:pPr algn="ctr" rtl="0" latinLnBrk="1">
              <a:lnSpc>
                <a:spcPct val="115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dirty="0">
                <a:solidFill>
                  <a:srgbClr val="000000"/>
                </a:solidFill>
                <a:effectLst/>
                <a:highlight>
                  <a:srgbClr val="FFFFFF"/>
                </a:highlight>
                <a:latin typeface="var(--jp-code-font-family)"/>
                <a:ea typeface="Times New Roman" panose="02020603050405020304" pitchFamily="18" charset="0"/>
                <a:cs typeface="Courier New" panose="02070309020205020404" pitchFamily="49" charset="0"/>
              </a:rPr>
              <a:t>*Accuracy is: 79.74683544303798                                                                                       </a:t>
            </a:r>
            <a:endParaRPr lang="en-US" sz="4000" dirty="0">
              <a:effectLst/>
              <a:highlight>
                <a:srgbClr val="FFFFFF"/>
              </a:highlight>
              <a:latin typeface="Aptos" panose="020B0004020202020204" pitchFamily="34" charset="0"/>
              <a:ea typeface="Aptos" panose="020B0004020202020204" pitchFamily="34" charset="0"/>
              <a:cs typeface="Arial" panose="020B0604020202020204" pitchFamily="34" charset="0"/>
            </a:endParaRPr>
          </a:p>
          <a:p>
            <a:pPr algn="ctr" rtl="0" latinLnBrk="1">
              <a:lnSpc>
                <a:spcPct val="115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dirty="0">
                <a:solidFill>
                  <a:srgbClr val="000000"/>
                </a:solidFill>
                <a:effectLst/>
                <a:highlight>
                  <a:srgbClr val="FFFFFF"/>
                </a:highlight>
                <a:latin typeface="var(--jp-code-font-family)"/>
                <a:ea typeface="Times New Roman" panose="02020603050405020304" pitchFamily="18" charset="0"/>
                <a:cs typeface="Courier New" panose="02070309020205020404" pitchFamily="49" charset="0"/>
              </a:rPr>
              <a:t>*f1 score is: 0.7606060606060607   </a:t>
            </a:r>
            <a:endParaRPr lang="en-US" sz="4000" dirty="0">
              <a:effectLst/>
              <a:highlight>
                <a:srgbClr val="FFFFFF"/>
              </a:highlight>
              <a:latin typeface="Aptos" panose="020B0004020202020204" pitchFamily="34" charset="0"/>
              <a:ea typeface="Aptos" panose="020B0004020202020204" pitchFamily="34" charset="0"/>
              <a:cs typeface="Arial" panose="020B0604020202020204" pitchFamily="34" charset="0"/>
            </a:endParaRPr>
          </a:p>
          <a:p>
            <a:pPr algn="ctr" rtl="0" latinLnBrk="1">
              <a:lnSpc>
                <a:spcPct val="115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dirty="0">
                <a:solidFill>
                  <a:srgbClr val="000000"/>
                </a:solidFill>
                <a:effectLst/>
                <a:highlight>
                  <a:srgbClr val="FFFFFF"/>
                </a:highlight>
                <a:latin typeface="var(--jp-code-font-family)"/>
                <a:ea typeface="Times New Roman" panose="02020603050405020304" pitchFamily="18" charset="0"/>
                <a:cs typeface="Courier New" panose="02070309020205020404" pitchFamily="49" charset="0"/>
              </a:rPr>
              <a:t>* Recall: 0.8245614035087719                                                      </a:t>
            </a:r>
            <a:endParaRPr lang="en-US" sz="4000" dirty="0">
              <a:effectLst/>
              <a:highlight>
                <a:srgbClr val="FFFFFF"/>
              </a:highlight>
              <a:latin typeface="Aptos" panose="020B0004020202020204" pitchFamily="34" charset="0"/>
              <a:ea typeface="Aptos" panose="020B0004020202020204" pitchFamily="34" charset="0"/>
              <a:cs typeface="Arial" panose="020B0604020202020204" pitchFamily="34" charset="0"/>
            </a:endParaRPr>
          </a:p>
        </p:txBody>
      </p:sp>
      <p:sp>
        <p:nvSpPr>
          <p:cNvPr id="3" name="مربع نص 2">
            <a:extLst>
              <a:ext uri="{FF2B5EF4-FFF2-40B4-BE49-F238E27FC236}">
                <a16:creationId xmlns:a16="http://schemas.microsoft.com/office/drawing/2014/main" id="{6F2FE13E-64C6-FAB8-2038-ACD271584305}"/>
              </a:ext>
            </a:extLst>
          </p:cNvPr>
          <p:cNvSpPr txBox="1"/>
          <p:nvPr/>
        </p:nvSpPr>
        <p:spPr>
          <a:xfrm>
            <a:off x="-498593" y="8861575"/>
            <a:ext cx="9144000" cy="1323439"/>
          </a:xfrm>
          <a:prstGeom prst="rect">
            <a:avLst/>
          </a:prstGeom>
          <a:noFill/>
        </p:spPr>
        <p:txBody>
          <a:bodyPr wrap="square">
            <a:spAutoFit/>
          </a:bodyPr>
          <a:lstStyle/>
          <a:p>
            <a:pPr algn="ctr">
              <a:buFont typeface="Arial" panose="020B0604020202020204" pitchFamily="34" charset="0"/>
              <a:buChar char="•"/>
            </a:pPr>
            <a:r>
              <a:rPr lang="en-US" sz="2000" b="1" i="0" dirty="0">
                <a:solidFill>
                  <a:srgbClr val="0D0D0D"/>
                </a:solidFill>
                <a:effectLst/>
                <a:highlight>
                  <a:srgbClr val="FFFFFF"/>
                </a:highlight>
                <a:latin typeface="ui-sans-serif"/>
              </a:rPr>
              <a:t>TP (30)</a:t>
            </a:r>
            <a:r>
              <a:rPr lang="en-US" sz="2000" b="0" i="0" dirty="0">
                <a:solidFill>
                  <a:srgbClr val="0D0D0D"/>
                </a:solidFill>
                <a:effectLst/>
                <a:highlight>
                  <a:srgbClr val="FFFFFF"/>
                </a:highlight>
                <a:latin typeface="ui-sans-serif"/>
              </a:rPr>
              <a:t>: True Positives (actual class 1, predicted class 1)</a:t>
            </a:r>
          </a:p>
          <a:p>
            <a:pPr algn="ctr">
              <a:buFont typeface="Arial" panose="020B0604020202020204" pitchFamily="34" charset="0"/>
              <a:buChar char="•"/>
            </a:pPr>
            <a:r>
              <a:rPr lang="en-US" sz="2000" b="1" i="0" dirty="0">
                <a:solidFill>
                  <a:srgbClr val="0D0D0D"/>
                </a:solidFill>
                <a:effectLst/>
                <a:highlight>
                  <a:srgbClr val="FFFFFF"/>
                </a:highlight>
                <a:latin typeface="ui-sans-serif"/>
              </a:rPr>
              <a:t>FP (6)</a:t>
            </a:r>
            <a:r>
              <a:rPr lang="en-US" sz="2000" b="0" i="0" dirty="0">
                <a:solidFill>
                  <a:srgbClr val="0D0D0D"/>
                </a:solidFill>
                <a:effectLst/>
                <a:highlight>
                  <a:srgbClr val="FFFFFF"/>
                </a:highlight>
                <a:latin typeface="ui-sans-serif"/>
              </a:rPr>
              <a:t>: False Positives (actual class 0, predicted class 1)</a:t>
            </a:r>
          </a:p>
          <a:p>
            <a:pPr algn="ctr">
              <a:buFont typeface="Arial" panose="020B0604020202020204" pitchFamily="34" charset="0"/>
              <a:buChar char="•"/>
            </a:pPr>
            <a:r>
              <a:rPr lang="en-US" sz="2000" b="1" i="0" dirty="0">
                <a:solidFill>
                  <a:srgbClr val="0D0D0D"/>
                </a:solidFill>
                <a:effectLst/>
                <a:highlight>
                  <a:srgbClr val="FFFFFF"/>
                </a:highlight>
                <a:latin typeface="ui-sans-serif"/>
              </a:rPr>
              <a:t>TN(16)</a:t>
            </a:r>
            <a:r>
              <a:rPr lang="en-US" sz="2000" b="0" i="0" dirty="0">
                <a:solidFill>
                  <a:srgbClr val="0D0D0D"/>
                </a:solidFill>
                <a:effectLst/>
                <a:highlight>
                  <a:srgbClr val="FFFFFF"/>
                </a:highlight>
                <a:latin typeface="ui-sans-serif"/>
              </a:rPr>
              <a:t>: True Negatives (actual class 0, predicted class 0)</a:t>
            </a:r>
          </a:p>
          <a:p>
            <a:pPr algn="ctr">
              <a:buFont typeface="Arial" panose="020B0604020202020204" pitchFamily="34" charset="0"/>
              <a:buChar char="•"/>
            </a:pPr>
            <a:r>
              <a:rPr lang="en-US" sz="2000" b="1" i="0" dirty="0">
                <a:solidFill>
                  <a:srgbClr val="0D0D0D"/>
                </a:solidFill>
                <a:effectLst/>
                <a:highlight>
                  <a:srgbClr val="FFFFFF"/>
                </a:highlight>
                <a:latin typeface="ui-sans-serif"/>
              </a:rPr>
              <a:t>FN (0)</a:t>
            </a:r>
            <a:r>
              <a:rPr lang="en-US" sz="2000" b="0" i="0" dirty="0">
                <a:solidFill>
                  <a:srgbClr val="0D0D0D"/>
                </a:solidFill>
                <a:effectLst/>
                <a:highlight>
                  <a:srgbClr val="FFFFFF"/>
                </a:highlight>
                <a:latin typeface="ui-sans-serif"/>
              </a:rPr>
              <a:t>: False Negatives (actual class 1, predicted class 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صورة 20" descr="صورة تحتوي على نص, لقطة شاشة, الخط, رقم&#10;&#10;تم إنشاء الوصف تلقائياً">
            <a:extLst>
              <a:ext uri="{FF2B5EF4-FFF2-40B4-BE49-F238E27FC236}">
                <a16:creationId xmlns:a16="http://schemas.microsoft.com/office/drawing/2014/main" id="{B9C05DBB-6BA0-8E70-51C9-C5EBB7E5B5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97716" y="1127221"/>
            <a:ext cx="7879027" cy="8886511"/>
          </a:xfrm>
          <a:prstGeom prst="rect">
            <a:avLst/>
          </a:prstGeom>
          <a:ln>
            <a:solidFill>
              <a:schemeClr val="tx1"/>
            </a:solidFill>
          </a:ln>
        </p:spPr>
      </p:pic>
      <p:sp>
        <p:nvSpPr>
          <p:cNvPr id="24" name="TextBox 15">
            <a:extLst>
              <a:ext uri="{FF2B5EF4-FFF2-40B4-BE49-F238E27FC236}">
                <a16:creationId xmlns:a16="http://schemas.microsoft.com/office/drawing/2014/main" id="{4A583605-2614-7D81-796C-DF81B3EEBB06}"/>
              </a:ext>
            </a:extLst>
          </p:cNvPr>
          <p:cNvSpPr txBox="1"/>
          <p:nvPr/>
        </p:nvSpPr>
        <p:spPr>
          <a:xfrm>
            <a:off x="-2516978" y="273268"/>
            <a:ext cx="12110628" cy="2322559"/>
          </a:xfrm>
          <a:prstGeom prst="rect">
            <a:avLst/>
          </a:prstGeom>
        </p:spPr>
        <p:txBody>
          <a:bodyPr wrap="square" lIns="0" tIns="0" rIns="0" bIns="0" rtlCol="0" anchor="t">
            <a:spAutoFit/>
          </a:bodyPr>
          <a:lstStyle/>
          <a:p>
            <a:pPr algn="ctr">
              <a:lnSpc>
                <a:spcPts val="5871"/>
              </a:lnSpc>
              <a:spcBef>
                <a:spcPct val="0"/>
              </a:spcBef>
            </a:pPr>
            <a:r>
              <a:rPr lang="en-US" sz="6000" spc="-343" dirty="0">
                <a:solidFill>
                  <a:srgbClr val="000000"/>
                </a:solidFill>
                <a:latin typeface="DM Sans"/>
              </a:rPr>
              <a:t>8.	Data prediction</a:t>
            </a:r>
          </a:p>
          <a:p>
            <a:pPr algn="ctr">
              <a:lnSpc>
                <a:spcPts val="5871"/>
              </a:lnSpc>
              <a:spcBef>
                <a:spcPct val="0"/>
              </a:spcBef>
            </a:pPr>
            <a:endParaRPr lang="en-US" sz="6000" spc="-343" dirty="0">
              <a:solidFill>
                <a:srgbClr val="000000"/>
              </a:solidFill>
              <a:latin typeface="DM Sans"/>
            </a:endParaRPr>
          </a:p>
          <a:p>
            <a:pPr algn="ctr">
              <a:lnSpc>
                <a:spcPts val="5871"/>
              </a:lnSpc>
              <a:spcBef>
                <a:spcPct val="0"/>
              </a:spcBef>
            </a:pPr>
            <a:r>
              <a:rPr lang="en-US" sz="6000" spc="-343" dirty="0">
                <a:solidFill>
                  <a:srgbClr val="000000"/>
                </a:solidFill>
                <a:latin typeface="DM Sans"/>
              </a:rPr>
              <a:t> </a:t>
            </a:r>
          </a:p>
        </p:txBody>
      </p:sp>
      <p:sp>
        <p:nvSpPr>
          <p:cNvPr id="25" name="Freeform 10">
            <a:extLst>
              <a:ext uri="{FF2B5EF4-FFF2-40B4-BE49-F238E27FC236}">
                <a16:creationId xmlns:a16="http://schemas.microsoft.com/office/drawing/2014/main" id="{2E8CBEA2-87F7-94E5-19AF-7AB9DD1840BD}"/>
              </a:ext>
            </a:extLst>
          </p:cNvPr>
          <p:cNvSpPr/>
          <p:nvPr/>
        </p:nvSpPr>
        <p:spPr>
          <a:xfrm rot="4747568">
            <a:off x="14749457" y="-572613"/>
            <a:ext cx="4896097" cy="2735694"/>
          </a:xfrm>
          <a:custGeom>
            <a:avLst/>
            <a:gdLst/>
            <a:ahLst/>
            <a:cxnLst/>
            <a:rect l="l" t="t" r="r" b="b"/>
            <a:pathLst>
              <a:path w="4896097" h="2735694">
                <a:moveTo>
                  <a:pt x="0" y="0"/>
                </a:moveTo>
                <a:lnTo>
                  <a:pt x="4896097" y="0"/>
                </a:lnTo>
                <a:lnTo>
                  <a:pt x="4896097" y="2735694"/>
                </a:lnTo>
                <a:lnTo>
                  <a:pt x="0" y="2735694"/>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pic>
        <p:nvPicPr>
          <p:cNvPr id="3" name="صورة 2">
            <a:extLst>
              <a:ext uri="{FF2B5EF4-FFF2-40B4-BE49-F238E27FC236}">
                <a16:creationId xmlns:a16="http://schemas.microsoft.com/office/drawing/2014/main" id="{8641360E-5592-74BF-928A-6A6971EB4D4E}"/>
              </a:ext>
            </a:extLst>
          </p:cNvPr>
          <p:cNvPicPr>
            <a:picLocks noChangeAspect="1"/>
          </p:cNvPicPr>
          <p:nvPr/>
        </p:nvPicPr>
        <p:blipFill>
          <a:blip r:embed="rId5"/>
          <a:stretch>
            <a:fillRect/>
          </a:stretch>
        </p:blipFill>
        <p:spPr>
          <a:xfrm>
            <a:off x="584042" y="1127221"/>
            <a:ext cx="8255157" cy="8906880"/>
          </a:xfrm>
          <a:prstGeom prst="rect">
            <a:avLst/>
          </a:prstGeom>
          <a:ln>
            <a:solidFill>
              <a:schemeClr val="tx1"/>
            </a:solid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2329398" y="9017983"/>
            <a:ext cx="4899948" cy="3344214"/>
          </a:xfrm>
          <a:custGeom>
            <a:avLst/>
            <a:gdLst/>
            <a:ahLst/>
            <a:cxnLst/>
            <a:rect l="l" t="t" r="r" b="b"/>
            <a:pathLst>
              <a:path w="4899948" h="3344214">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3513319" y="8828904"/>
            <a:ext cx="4427843" cy="3481392"/>
          </a:xfrm>
          <a:custGeom>
            <a:avLst/>
            <a:gdLst/>
            <a:ahLst/>
            <a:cxnLst/>
            <a:rect l="l" t="t" r="r" b="b"/>
            <a:pathLst>
              <a:path w="4427843" h="3481392">
                <a:moveTo>
                  <a:pt x="0" y="0"/>
                </a:moveTo>
                <a:lnTo>
                  <a:pt x="4427843" y="0"/>
                </a:lnTo>
                <a:lnTo>
                  <a:pt x="4427843" y="3481391"/>
                </a:lnTo>
                <a:lnTo>
                  <a:pt x="0" y="3481391"/>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8" name="Freeform 8"/>
          <p:cNvSpPr/>
          <p:nvPr/>
        </p:nvSpPr>
        <p:spPr>
          <a:xfrm>
            <a:off x="5791200" y="9573348"/>
            <a:ext cx="4076270" cy="2863579"/>
          </a:xfrm>
          <a:custGeom>
            <a:avLst/>
            <a:gdLst/>
            <a:ahLst/>
            <a:cxnLst/>
            <a:rect l="l" t="t" r="r" b="b"/>
            <a:pathLst>
              <a:path w="4076270" h="2863579">
                <a:moveTo>
                  <a:pt x="0" y="0"/>
                </a:moveTo>
                <a:lnTo>
                  <a:pt x="4076270" y="0"/>
                </a:lnTo>
                <a:lnTo>
                  <a:pt x="4076270" y="2863579"/>
                </a:lnTo>
                <a:lnTo>
                  <a:pt x="0" y="2863579"/>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US" dirty="0"/>
          </a:p>
        </p:txBody>
      </p:sp>
      <p:sp>
        <p:nvSpPr>
          <p:cNvPr id="10" name="Freeform 10"/>
          <p:cNvSpPr/>
          <p:nvPr/>
        </p:nvSpPr>
        <p:spPr>
          <a:xfrm rot="4747568">
            <a:off x="-2972342" y="3665317"/>
            <a:ext cx="4896097" cy="2735694"/>
          </a:xfrm>
          <a:custGeom>
            <a:avLst/>
            <a:gdLst/>
            <a:ahLst/>
            <a:cxnLst/>
            <a:rect l="l" t="t" r="r" b="b"/>
            <a:pathLst>
              <a:path w="4896097" h="2735694">
                <a:moveTo>
                  <a:pt x="0" y="0"/>
                </a:moveTo>
                <a:lnTo>
                  <a:pt x="4896097" y="0"/>
                </a:lnTo>
                <a:lnTo>
                  <a:pt x="4896097" y="2735694"/>
                </a:lnTo>
                <a:lnTo>
                  <a:pt x="0" y="2735694"/>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n-US"/>
          </a:p>
        </p:txBody>
      </p:sp>
      <p:sp>
        <p:nvSpPr>
          <p:cNvPr id="12" name="Freeform 12"/>
          <p:cNvSpPr/>
          <p:nvPr/>
        </p:nvSpPr>
        <p:spPr>
          <a:xfrm>
            <a:off x="17104171" y="5616037"/>
            <a:ext cx="3575541" cy="3575541"/>
          </a:xfrm>
          <a:custGeom>
            <a:avLst/>
            <a:gdLst/>
            <a:ahLst/>
            <a:cxnLst/>
            <a:rect l="l" t="t" r="r" b="b"/>
            <a:pathLst>
              <a:path w="3575541" h="3575541">
                <a:moveTo>
                  <a:pt x="0" y="0"/>
                </a:moveTo>
                <a:lnTo>
                  <a:pt x="3575541" y="0"/>
                </a:lnTo>
                <a:lnTo>
                  <a:pt x="3575541" y="3575541"/>
                </a:lnTo>
                <a:lnTo>
                  <a:pt x="0" y="3575541"/>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US"/>
          </a:p>
        </p:txBody>
      </p:sp>
      <p:sp>
        <p:nvSpPr>
          <p:cNvPr id="15" name="Freeform 15"/>
          <p:cNvSpPr/>
          <p:nvPr/>
        </p:nvSpPr>
        <p:spPr>
          <a:xfrm>
            <a:off x="17259300" y="-971659"/>
            <a:ext cx="3104522" cy="3342688"/>
          </a:xfrm>
          <a:custGeom>
            <a:avLst/>
            <a:gdLst/>
            <a:ahLst/>
            <a:cxnLst/>
            <a:rect l="l" t="t" r="r" b="b"/>
            <a:pathLst>
              <a:path w="3104522" h="3342688">
                <a:moveTo>
                  <a:pt x="0" y="0"/>
                </a:moveTo>
                <a:lnTo>
                  <a:pt x="3104522" y="0"/>
                </a:lnTo>
                <a:lnTo>
                  <a:pt x="3104522" y="3342689"/>
                </a:lnTo>
                <a:lnTo>
                  <a:pt x="0" y="3342689"/>
                </a:lnTo>
                <a:lnTo>
                  <a:pt x="0" y="0"/>
                </a:lnTo>
                <a:close/>
              </a:path>
            </a:pathLst>
          </a:custGeom>
          <a:blipFill>
            <a:blip r:embed="rId12">
              <a:extLst>
                <a:ext uri="{96DAC541-7B7A-43D3-8B79-37D633B846F1}">
                  <asvg:svgBlip xmlns:asvg="http://schemas.microsoft.com/office/drawing/2016/SVG/main" r:embed="rId13"/>
                </a:ext>
              </a:extLst>
            </a:blip>
            <a:stretch>
              <a:fillRect/>
            </a:stretch>
          </a:blipFill>
          <a:ln cap="sq">
            <a:noFill/>
            <a:prstDash val="solid"/>
            <a:miter/>
          </a:ln>
        </p:spPr>
        <p:txBody>
          <a:bodyPr/>
          <a:lstStyle/>
          <a:p>
            <a:endParaRPr lang="en-US"/>
          </a:p>
        </p:txBody>
      </p:sp>
      <p:sp>
        <p:nvSpPr>
          <p:cNvPr id="16" name="TextBox 16"/>
          <p:cNvSpPr txBox="1"/>
          <p:nvPr/>
        </p:nvSpPr>
        <p:spPr>
          <a:xfrm>
            <a:off x="-524294" y="107782"/>
            <a:ext cx="6854239" cy="1377944"/>
          </a:xfrm>
          <a:prstGeom prst="rect">
            <a:avLst/>
          </a:prstGeom>
        </p:spPr>
        <p:txBody>
          <a:bodyPr wrap="square" lIns="0" tIns="0" rIns="0" bIns="0" rtlCol="0" anchor="t">
            <a:spAutoFit/>
          </a:bodyPr>
          <a:lstStyle/>
          <a:p>
            <a:pPr algn="ctr">
              <a:lnSpc>
                <a:spcPts val="11200"/>
              </a:lnSpc>
              <a:spcBef>
                <a:spcPct val="0"/>
              </a:spcBef>
            </a:pPr>
            <a:r>
              <a:rPr lang="en-US" sz="8000" spc="-656" dirty="0">
                <a:solidFill>
                  <a:srgbClr val="000000"/>
                </a:solidFill>
                <a:latin typeface="DM Sans"/>
              </a:rPr>
              <a:t>Conclusion</a:t>
            </a:r>
          </a:p>
        </p:txBody>
      </p:sp>
      <p:sp>
        <p:nvSpPr>
          <p:cNvPr id="22" name="مربع نص 21">
            <a:extLst>
              <a:ext uri="{FF2B5EF4-FFF2-40B4-BE49-F238E27FC236}">
                <a16:creationId xmlns:a16="http://schemas.microsoft.com/office/drawing/2014/main" id="{D2251A4F-BEC5-0296-053E-1F7D9477ED2A}"/>
              </a:ext>
            </a:extLst>
          </p:cNvPr>
          <p:cNvSpPr txBox="1"/>
          <p:nvPr/>
        </p:nvSpPr>
        <p:spPr>
          <a:xfrm>
            <a:off x="1280812" y="1653453"/>
            <a:ext cx="16399042" cy="7759175"/>
          </a:xfrm>
          <a:prstGeom prst="rect">
            <a:avLst/>
          </a:prstGeom>
          <a:noFill/>
        </p:spPr>
        <p:txBody>
          <a:bodyPr wrap="square">
            <a:spAutoFit/>
          </a:bodyPr>
          <a:lstStyle/>
          <a:p>
            <a:pPr algn="l" rtl="0">
              <a:lnSpc>
                <a:spcPct val="115000"/>
              </a:lnSpc>
              <a:spcAft>
                <a:spcPts val="1200"/>
              </a:spcAft>
            </a:pPr>
            <a:r>
              <a:rPr lang="en-US" sz="3200" dirty="0">
                <a:solidFill>
                  <a:srgbClr val="000000"/>
                </a:solidFill>
                <a:effectLst/>
                <a:highlight>
                  <a:srgbClr val="FFFFFF"/>
                </a:highlight>
                <a:latin typeface="var(--jp-content-font-family)"/>
                <a:ea typeface="Times New Roman" panose="02020603050405020304" pitchFamily="18" charset="0"/>
                <a:cs typeface="Segoe UI" panose="020B0502040204020203" pitchFamily="34" charset="0"/>
              </a:rPr>
              <a:t>The project aimed to predict student performance using machine learning models. Initially, the model faced challenges with imbalanced data and suboptimal hyperparameters, leading to lower accuracy and unbalanced predictions. By addressing class imbalance with SMOTE and optimizing hyperparameters, significant improvements were achieved.</a:t>
            </a:r>
            <a:endParaRPr lang="en-US" sz="4400" dirty="0">
              <a:effectLst/>
              <a:highlight>
                <a:srgbClr val="FFFFFF"/>
              </a:highlight>
              <a:latin typeface="Aptos" panose="020B0004020202020204" pitchFamily="34" charset="0"/>
              <a:ea typeface="Aptos" panose="020B0004020202020204" pitchFamily="34" charset="0"/>
              <a:cs typeface="Arial" panose="020B0604020202020204" pitchFamily="34" charset="0"/>
            </a:endParaRPr>
          </a:p>
          <a:p>
            <a:pPr algn="l" rtl="0">
              <a:lnSpc>
                <a:spcPct val="115000"/>
              </a:lnSpc>
              <a:spcAft>
                <a:spcPts val="1200"/>
              </a:spcAft>
            </a:pPr>
            <a:r>
              <a:rPr lang="en-US" sz="3200" b="1" dirty="0">
                <a:solidFill>
                  <a:srgbClr val="000000"/>
                </a:solidFill>
                <a:effectLst/>
                <a:highlight>
                  <a:srgbClr val="FFFFFF"/>
                </a:highlight>
                <a:latin typeface="var(--jp-content-font-family)"/>
                <a:ea typeface="Times New Roman" panose="02020603050405020304" pitchFamily="18" charset="0"/>
                <a:cs typeface="Segoe UI" panose="020B0502040204020203" pitchFamily="34" charset="0"/>
              </a:rPr>
              <a:t>Final results with the Logistic Regression model showed:</a:t>
            </a:r>
          </a:p>
          <a:p>
            <a:pPr algn="l" rtl="0">
              <a:lnSpc>
                <a:spcPct val="115000"/>
              </a:lnSpc>
              <a:spcAft>
                <a:spcPts val="1200"/>
              </a:spcAft>
            </a:pPr>
            <a:endParaRPr lang="en-US" sz="1100" dirty="0">
              <a:effectLst/>
              <a:highlight>
                <a:srgbClr val="FFFFFF"/>
              </a:highlight>
              <a:latin typeface="Aptos" panose="020B0004020202020204" pitchFamily="34" charset="0"/>
              <a:ea typeface="Aptos" panose="020B0004020202020204" pitchFamily="34" charset="0"/>
              <a:cs typeface="Arial" panose="020B0604020202020204" pitchFamily="34" charset="0"/>
            </a:endParaRPr>
          </a:p>
          <a:p>
            <a:pPr marL="342900" lvl="0" indent="-342900" algn="l" rtl="0">
              <a:lnSpc>
                <a:spcPct val="115000"/>
              </a:lnSpc>
              <a:spcAft>
                <a:spcPts val="1200"/>
              </a:spcAft>
              <a:buSzPts val="1000"/>
              <a:buFont typeface="Symbol" panose="05050102010706020507" pitchFamily="18" charset="2"/>
              <a:buChar char=""/>
              <a:tabLst>
                <a:tab pos="457200" algn="l"/>
              </a:tabLst>
            </a:pPr>
            <a:r>
              <a:rPr lang="en-US" sz="3200" b="1" dirty="0">
                <a:solidFill>
                  <a:srgbClr val="000000"/>
                </a:solidFill>
                <a:effectLst/>
                <a:highlight>
                  <a:srgbClr val="FFFFFF"/>
                </a:highlight>
                <a:latin typeface="var(--jp-content-font-family)"/>
                <a:ea typeface="Times New Roman" panose="02020603050405020304" pitchFamily="18" charset="0"/>
                <a:cs typeface="Segoe UI" panose="020B0502040204020203" pitchFamily="34" charset="0"/>
              </a:rPr>
              <a:t>Accuracy</a:t>
            </a:r>
            <a:r>
              <a:rPr lang="en-US" sz="3200" dirty="0">
                <a:solidFill>
                  <a:srgbClr val="000000"/>
                </a:solidFill>
                <a:effectLst/>
                <a:highlight>
                  <a:srgbClr val="FFFFFF"/>
                </a:highlight>
                <a:latin typeface="var(--jp-content-font-family)"/>
                <a:ea typeface="Times New Roman" panose="02020603050405020304" pitchFamily="18" charset="0"/>
                <a:cs typeface="Segoe UI" panose="020B0502040204020203" pitchFamily="34" charset="0"/>
              </a:rPr>
              <a:t>: Improved from </a:t>
            </a:r>
            <a:r>
              <a:rPr lang="en-US" sz="3200" dirty="0">
                <a:effectLst/>
                <a:latin typeface="Aptos" panose="020B0004020202020204" pitchFamily="34" charset="0"/>
                <a:ea typeface="Aptos" panose="020B0004020202020204" pitchFamily="34" charset="0"/>
                <a:cs typeface="Arial" panose="020B0604020202020204" pitchFamily="34" charset="0"/>
              </a:rPr>
              <a:t>65</a:t>
            </a:r>
            <a:r>
              <a:rPr lang="en-US" sz="3200" dirty="0">
                <a:solidFill>
                  <a:srgbClr val="000000"/>
                </a:solidFill>
                <a:effectLst/>
                <a:highlight>
                  <a:srgbClr val="FFFFFF"/>
                </a:highlight>
                <a:latin typeface="var(--jp-content-font-family)"/>
                <a:ea typeface="Times New Roman" panose="02020603050405020304" pitchFamily="18" charset="0"/>
                <a:cs typeface="Segoe UI" panose="020B0502040204020203" pitchFamily="34" charset="0"/>
              </a:rPr>
              <a:t>% to </a:t>
            </a:r>
            <a:r>
              <a:rPr lang="en-US" sz="3200" dirty="0">
                <a:solidFill>
                  <a:srgbClr val="000000"/>
                </a:solidFill>
                <a:effectLst/>
                <a:highlight>
                  <a:srgbClr val="FFFFFF"/>
                </a:highlight>
                <a:latin typeface="var(--jp-code-font-family)"/>
                <a:ea typeface="Times New Roman" panose="02020603050405020304" pitchFamily="18" charset="0"/>
                <a:cs typeface="Courier New" panose="02070309020205020404" pitchFamily="49" charset="0"/>
              </a:rPr>
              <a:t>79.75</a:t>
            </a:r>
            <a:r>
              <a:rPr lang="en-US" sz="3200" dirty="0">
                <a:solidFill>
                  <a:srgbClr val="000000"/>
                </a:solidFill>
                <a:effectLst/>
                <a:highlight>
                  <a:srgbClr val="FFFFFF"/>
                </a:highlight>
                <a:latin typeface="var(--jp-content-font-family)"/>
                <a:ea typeface="Times New Roman" panose="02020603050405020304" pitchFamily="18" charset="0"/>
                <a:cs typeface="Segoe UI" panose="020B0502040204020203" pitchFamily="34" charset="0"/>
              </a:rPr>
              <a:t>%</a:t>
            </a:r>
            <a:endParaRPr lang="en-US" sz="4400" dirty="0">
              <a:effectLst/>
              <a:highlight>
                <a:srgbClr val="FFFFFF"/>
              </a:highlight>
              <a:latin typeface="Aptos" panose="020B0004020202020204" pitchFamily="34" charset="0"/>
              <a:ea typeface="Aptos" panose="020B0004020202020204" pitchFamily="34" charset="0"/>
              <a:cs typeface="Arial" panose="020B0604020202020204" pitchFamily="34" charset="0"/>
            </a:endParaRPr>
          </a:p>
          <a:p>
            <a:pPr marL="342900" lvl="0" indent="-342900" algn="l" rtl="0">
              <a:lnSpc>
                <a:spcPct val="115000"/>
              </a:lnSpc>
              <a:spcAft>
                <a:spcPts val="1200"/>
              </a:spcAft>
              <a:buSzPts val="1000"/>
              <a:buFont typeface="Symbol" panose="05050102010706020507" pitchFamily="18" charset="2"/>
              <a:buChar char=""/>
              <a:tabLst>
                <a:tab pos="457200" algn="l"/>
              </a:tabLst>
            </a:pPr>
            <a:r>
              <a:rPr lang="en-US" sz="3200" b="1" dirty="0">
                <a:solidFill>
                  <a:srgbClr val="000000"/>
                </a:solidFill>
                <a:effectLst/>
                <a:highlight>
                  <a:srgbClr val="FFFFFF"/>
                </a:highlight>
                <a:latin typeface="var(--jp-content-font-family)"/>
                <a:ea typeface="Times New Roman" panose="02020603050405020304" pitchFamily="18" charset="0"/>
                <a:cs typeface="Segoe UI" panose="020B0502040204020203" pitchFamily="34" charset="0"/>
              </a:rPr>
              <a:t>F1 Score</a:t>
            </a:r>
            <a:r>
              <a:rPr lang="en-US" sz="3200" dirty="0">
                <a:solidFill>
                  <a:srgbClr val="000000"/>
                </a:solidFill>
                <a:effectLst/>
                <a:highlight>
                  <a:srgbClr val="FFFFFF"/>
                </a:highlight>
                <a:latin typeface="var(--jp-content-font-family)"/>
                <a:ea typeface="Times New Roman" panose="02020603050405020304" pitchFamily="18" charset="0"/>
                <a:cs typeface="Segoe UI" panose="020B0502040204020203" pitchFamily="34" charset="0"/>
              </a:rPr>
              <a:t>: Improved from </a:t>
            </a:r>
            <a:r>
              <a:rPr lang="en-US" sz="3200" dirty="0">
                <a:effectLst/>
                <a:latin typeface="Aptos" panose="020B0004020202020204" pitchFamily="34" charset="0"/>
                <a:ea typeface="Aptos" panose="020B0004020202020204" pitchFamily="34" charset="0"/>
                <a:cs typeface="Arial" panose="020B0604020202020204" pitchFamily="34" charset="0"/>
              </a:rPr>
              <a:t>0.63</a:t>
            </a:r>
            <a:r>
              <a:rPr lang="en-US" sz="3200" dirty="0">
                <a:solidFill>
                  <a:srgbClr val="000000"/>
                </a:solidFill>
                <a:effectLst/>
                <a:highlight>
                  <a:srgbClr val="FFFFFF"/>
                </a:highlight>
                <a:latin typeface="var(--jp-content-font-family)"/>
                <a:ea typeface="Times New Roman" panose="02020603050405020304" pitchFamily="18" charset="0"/>
                <a:cs typeface="Segoe UI" panose="020B0502040204020203" pitchFamily="34" charset="0"/>
              </a:rPr>
              <a:t> to 0.82 </a:t>
            </a:r>
          </a:p>
          <a:p>
            <a:pPr marL="342900" lvl="0" indent="-342900" algn="l" rtl="0">
              <a:lnSpc>
                <a:spcPct val="115000"/>
              </a:lnSpc>
              <a:spcAft>
                <a:spcPts val="1200"/>
              </a:spcAft>
              <a:buSzPts val="1000"/>
              <a:buFont typeface="Symbol" panose="05050102010706020507" pitchFamily="18" charset="2"/>
              <a:buChar char=""/>
              <a:tabLst>
                <a:tab pos="457200" algn="l"/>
              </a:tabLst>
            </a:pPr>
            <a:r>
              <a:rPr lang="en-US" sz="3200" b="1" dirty="0">
                <a:solidFill>
                  <a:srgbClr val="000000"/>
                </a:solidFill>
                <a:effectLst/>
                <a:highlight>
                  <a:srgbClr val="FFFFFF"/>
                </a:highlight>
                <a:latin typeface="var(--jp-content-font-family)"/>
                <a:ea typeface="Times New Roman" panose="02020603050405020304" pitchFamily="18" charset="0"/>
                <a:cs typeface="Segoe UI" panose="020B0502040204020203" pitchFamily="34" charset="0"/>
              </a:rPr>
              <a:t>ROC AUC</a:t>
            </a:r>
            <a:r>
              <a:rPr lang="en-US" sz="3200" dirty="0">
                <a:solidFill>
                  <a:srgbClr val="000000"/>
                </a:solidFill>
                <a:effectLst/>
                <a:highlight>
                  <a:srgbClr val="FFFFFF"/>
                </a:highlight>
                <a:latin typeface="var(--jp-content-font-family)"/>
                <a:ea typeface="Times New Roman" panose="02020603050405020304" pitchFamily="18" charset="0"/>
                <a:cs typeface="Segoe UI" panose="020B0502040204020203" pitchFamily="34" charset="0"/>
              </a:rPr>
              <a:t>: Improved from 0.74 to 0.87</a:t>
            </a:r>
          </a:p>
          <a:p>
            <a:pPr marL="342900" lvl="0" indent="-342900" algn="l" rtl="0">
              <a:lnSpc>
                <a:spcPct val="115000"/>
              </a:lnSpc>
              <a:spcAft>
                <a:spcPts val="1200"/>
              </a:spcAft>
              <a:buSzPts val="1000"/>
              <a:buFont typeface="Symbol" panose="05050102010706020507" pitchFamily="18" charset="2"/>
              <a:buChar char=""/>
              <a:tabLst>
                <a:tab pos="457200" algn="l"/>
              </a:tabLst>
            </a:pPr>
            <a:endParaRPr lang="en-US" sz="1100" dirty="0">
              <a:effectLst/>
              <a:highlight>
                <a:srgbClr val="FFFFFF"/>
              </a:highlight>
              <a:latin typeface="Aptos" panose="020B0004020202020204" pitchFamily="34" charset="0"/>
              <a:ea typeface="Aptos" panose="020B0004020202020204" pitchFamily="34" charset="0"/>
              <a:cs typeface="Arial" panose="020B0604020202020204" pitchFamily="34" charset="0"/>
            </a:endParaRPr>
          </a:p>
          <a:p>
            <a:pPr algn="l" rtl="0">
              <a:lnSpc>
                <a:spcPct val="115000"/>
              </a:lnSpc>
              <a:spcAft>
                <a:spcPts val="1200"/>
              </a:spcAft>
            </a:pPr>
            <a:r>
              <a:rPr lang="en-US" sz="3200" dirty="0">
                <a:solidFill>
                  <a:srgbClr val="000000"/>
                </a:solidFill>
                <a:effectLst/>
                <a:highlight>
                  <a:srgbClr val="FFFFFF"/>
                </a:highlight>
                <a:latin typeface="var(--jp-content-font-family)"/>
                <a:ea typeface="Times New Roman" panose="02020603050405020304" pitchFamily="18" charset="0"/>
                <a:cs typeface="Segoe UI" panose="020B0502040204020203" pitchFamily="34" charset="0"/>
              </a:rPr>
              <a:t>These improvements highlight the effectiveness of data preprocessing and hyperparameter tuning. The project successfully created a robust predictive model for student performance, offering valuable insights for educational analytics.</a:t>
            </a:r>
            <a:endParaRPr lang="en-US" sz="4400" dirty="0">
              <a:effectLst/>
              <a:highlight>
                <a:srgbClr val="FFFFFF"/>
              </a:highlight>
              <a:latin typeface="Aptos" panose="020B0004020202020204" pitchFamily="34" charset="0"/>
              <a:ea typeface="Aptos" panose="020B0004020202020204" pitchFamily="34" charset="0"/>
              <a:cs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905000" y="7806398"/>
            <a:ext cx="4899948" cy="3344214"/>
          </a:xfrm>
          <a:custGeom>
            <a:avLst/>
            <a:gdLst/>
            <a:ahLst/>
            <a:cxnLst/>
            <a:rect l="l" t="t" r="r" b="b"/>
            <a:pathLst>
              <a:path w="4899948" h="3344214">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9748429" y="-2247900"/>
            <a:ext cx="4292424" cy="3870986"/>
          </a:xfrm>
          <a:custGeom>
            <a:avLst/>
            <a:gdLst/>
            <a:ahLst/>
            <a:cxnLst/>
            <a:rect l="l" t="t" r="r" b="b"/>
            <a:pathLst>
              <a:path w="4292424" h="3870986">
                <a:moveTo>
                  <a:pt x="0" y="0"/>
                </a:moveTo>
                <a:lnTo>
                  <a:pt x="4292424" y="0"/>
                </a:lnTo>
                <a:lnTo>
                  <a:pt x="4292424" y="3870986"/>
                </a:lnTo>
                <a:lnTo>
                  <a:pt x="0" y="3870986"/>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8" name="Freeform 8"/>
          <p:cNvSpPr/>
          <p:nvPr/>
        </p:nvSpPr>
        <p:spPr>
          <a:xfrm>
            <a:off x="14020800" y="8046716"/>
            <a:ext cx="4076270" cy="2863579"/>
          </a:xfrm>
          <a:custGeom>
            <a:avLst/>
            <a:gdLst/>
            <a:ahLst/>
            <a:cxnLst/>
            <a:rect l="l" t="t" r="r" b="b"/>
            <a:pathLst>
              <a:path w="4076270" h="2863579">
                <a:moveTo>
                  <a:pt x="0" y="0"/>
                </a:moveTo>
                <a:lnTo>
                  <a:pt x="4076270" y="0"/>
                </a:lnTo>
                <a:lnTo>
                  <a:pt x="4076270" y="2863579"/>
                </a:lnTo>
                <a:lnTo>
                  <a:pt x="0" y="2863579"/>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US"/>
          </a:p>
        </p:txBody>
      </p:sp>
      <p:sp>
        <p:nvSpPr>
          <p:cNvPr id="15" name="Freeform 15"/>
          <p:cNvSpPr/>
          <p:nvPr/>
        </p:nvSpPr>
        <p:spPr>
          <a:xfrm>
            <a:off x="15392400" y="-543497"/>
            <a:ext cx="3104522" cy="3342688"/>
          </a:xfrm>
          <a:custGeom>
            <a:avLst/>
            <a:gdLst/>
            <a:ahLst/>
            <a:cxnLst/>
            <a:rect l="l" t="t" r="r" b="b"/>
            <a:pathLst>
              <a:path w="3104522" h="3342688">
                <a:moveTo>
                  <a:pt x="0" y="0"/>
                </a:moveTo>
                <a:lnTo>
                  <a:pt x="3104522" y="0"/>
                </a:lnTo>
                <a:lnTo>
                  <a:pt x="3104522" y="3342688"/>
                </a:lnTo>
                <a:lnTo>
                  <a:pt x="0" y="3342688"/>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n-US"/>
          </a:p>
        </p:txBody>
      </p:sp>
      <p:sp>
        <p:nvSpPr>
          <p:cNvPr id="16" name="TextBox 16"/>
          <p:cNvSpPr txBox="1"/>
          <p:nvPr/>
        </p:nvSpPr>
        <p:spPr>
          <a:xfrm>
            <a:off x="3688802" y="3388714"/>
            <a:ext cx="10910396" cy="1754786"/>
          </a:xfrm>
          <a:prstGeom prst="rect">
            <a:avLst/>
          </a:prstGeom>
        </p:spPr>
        <p:txBody>
          <a:bodyPr lIns="0" tIns="0" rIns="0" bIns="0" rtlCol="0" anchor="t">
            <a:spAutoFit/>
          </a:bodyPr>
          <a:lstStyle/>
          <a:p>
            <a:pPr algn="ctr">
              <a:lnSpc>
                <a:spcPts val="12699"/>
              </a:lnSpc>
            </a:pPr>
            <a:r>
              <a:rPr lang="en-US" sz="14597">
                <a:solidFill>
                  <a:srgbClr val="000000"/>
                </a:solidFill>
                <a:latin typeface="DM Sans Bold"/>
              </a:rPr>
              <a:t>Thank you !</a:t>
            </a:r>
          </a:p>
        </p:txBody>
      </p:sp>
      <p:sp>
        <p:nvSpPr>
          <p:cNvPr id="17" name="TextBox 17"/>
          <p:cNvSpPr txBox="1"/>
          <p:nvPr/>
        </p:nvSpPr>
        <p:spPr>
          <a:xfrm>
            <a:off x="6119940" y="5967641"/>
            <a:ext cx="6753481" cy="1319079"/>
          </a:xfrm>
          <a:prstGeom prst="rect">
            <a:avLst/>
          </a:prstGeom>
        </p:spPr>
        <p:txBody>
          <a:bodyPr wrap="square" lIns="0" tIns="0" rIns="0" bIns="0" rtlCol="0" anchor="t">
            <a:spAutoFit/>
          </a:bodyPr>
          <a:lstStyle/>
          <a:p>
            <a:pPr algn="ctr">
              <a:lnSpc>
                <a:spcPts val="11200"/>
              </a:lnSpc>
              <a:spcBef>
                <a:spcPct val="0"/>
              </a:spcBef>
            </a:pPr>
            <a:r>
              <a:rPr lang="en-US" sz="5400" spc="-656" dirty="0">
                <a:solidFill>
                  <a:srgbClr val="000000"/>
                </a:solidFill>
                <a:latin typeface="DM Sans"/>
              </a:rPr>
              <a:t>Prepared by :</a:t>
            </a:r>
          </a:p>
        </p:txBody>
      </p:sp>
      <p:sp>
        <p:nvSpPr>
          <p:cNvPr id="18" name="TextBox 18"/>
          <p:cNvSpPr txBox="1"/>
          <p:nvPr/>
        </p:nvSpPr>
        <p:spPr>
          <a:xfrm>
            <a:off x="5166902" y="7469429"/>
            <a:ext cx="8659558" cy="649730"/>
          </a:xfrm>
          <a:prstGeom prst="rect">
            <a:avLst/>
          </a:prstGeom>
        </p:spPr>
        <p:txBody>
          <a:bodyPr wrap="square" lIns="0" tIns="0" rIns="0" bIns="0" rtlCol="0" anchor="t">
            <a:spAutoFit/>
          </a:bodyPr>
          <a:lstStyle/>
          <a:p>
            <a:pPr algn="ctr">
              <a:lnSpc>
                <a:spcPts val="5348"/>
              </a:lnSpc>
            </a:pPr>
            <a:r>
              <a:rPr lang="en-US" sz="3820" dirty="0">
                <a:ln w="0"/>
                <a:effectLst>
                  <a:outerShdw blurRad="38100" dist="19050" dir="2700000" algn="tl" rotWithShape="0">
                    <a:schemeClr val="dk1">
                      <a:alpha val="40000"/>
                    </a:schemeClr>
                  </a:outerShdw>
                </a:effectLst>
                <a:latin typeface="DM Sans"/>
              </a:rPr>
              <a:t>Meaad Faraj</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338</TotalTime>
  <Words>2597</Words>
  <Application>Microsoft Office PowerPoint</Application>
  <PresentationFormat>مخصص</PresentationFormat>
  <Paragraphs>223</Paragraphs>
  <Slides>28</Slides>
  <Notes>1</Notes>
  <HiddenSlides>0</HiddenSlides>
  <MMClips>0</MMClips>
  <ScaleCrop>false</ScaleCrop>
  <HeadingPairs>
    <vt:vector size="6" baseType="variant">
      <vt:variant>
        <vt:lpstr>الخطوط المستخدمة</vt:lpstr>
      </vt:variant>
      <vt:variant>
        <vt:i4>12</vt:i4>
      </vt:variant>
      <vt:variant>
        <vt:lpstr>نسق</vt:lpstr>
      </vt:variant>
      <vt:variant>
        <vt:i4>1</vt:i4>
      </vt:variant>
      <vt:variant>
        <vt:lpstr>عناوين الشرائح</vt:lpstr>
      </vt:variant>
      <vt:variant>
        <vt:i4>28</vt:i4>
      </vt:variant>
    </vt:vector>
  </HeadingPairs>
  <TitlesOfParts>
    <vt:vector size="41" baseType="lpstr">
      <vt:lpstr>DM Sans Bold</vt:lpstr>
      <vt:lpstr>var(--jp-code-font-family)</vt:lpstr>
      <vt:lpstr>Symbol</vt:lpstr>
      <vt:lpstr>ui-sans-serif</vt:lpstr>
      <vt:lpstr>Arial</vt:lpstr>
      <vt:lpstr>Cambria Math</vt:lpstr>
      <vt:lpstr>Calibri</vt:lpstr>
      <vt:lpstr>DM Sans</vt:lpstr>
      <vt:lpstr>var(--jp-content-font-family)</vt:lpstr>
      <vt:lpstr>Segoe UI</vt:lpstr>
      <vt:lpstr>Aptos</vt:lpstr>
      <vt:lpstr>system-ui</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Performance Predictor Project</dc:title>
  <dc:creator>ميعاد فرج</dc:creator>
  <cp:lastModifiedBy>Meaad Farag Awadh BA YOUSEF</cp:lastModifiedBy>
  <cp:revision>11</cp:revision>
  <dcterms:created xsi:type="dcterms:W3CDTF">2006-08-16T00:00:00Z</dcterms:created>
  <dcterms:modified xsi:type="dcterms:W3CDTF">2025-11-18T20:56:58Z</dcterms:modified>
  <dc:identifier>DAGGf6TK_uI</dc:identifier>
</cp:coreProperties>
</file>